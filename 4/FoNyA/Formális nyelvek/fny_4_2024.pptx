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2" r:id="rId3"/>
    <p:sldId id="273" r:id="rId4"/>
    <p:sldId id="337" r:id="rId5"/>
    <p:sldId id="338" r:id="rId6"/>
    <p:sldId id="339" r:id="rId7"/>
    <p:sldId id="340" r:id="rId8"/>
    <p:sldId id="282" r:id="rId9"/>
    <p:sldId id="293" r:id="rId10"/>
    <p:sldId id="294" r:id="rId11"/>
    <p:sldId id="283" r:id="rId12"/>
    <p:sldId id="284" r:id="rId13"/>
    <p:sldId id="286" r:id="rId14"/>
    <p:sldId id="285" r:id="rId15"/>
    <p:sldId id="258" r:id="rId16"/>
    <p:sldId id="295" r:id="rId17"/>
    <p:sldId id="296" r:id="rId18"/>
    <p:sldId id="297" r:id="rId19"/>
    <p:sldId id="298" r:id="rId20"/>
    <p:sldId id="304" r:id="rId21"/>
    <p:sldId id="303" r:id="rId22"/>
    <p:sldId id="299" r:id="rId23"/>
    <p:sldId id="300" r:id="rId24"/>
    <p:sldId id="305" r:id="rId25"/>
    <p:sldId id="301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14" r:id="rId34"/>
    <p:sldId id="315" r:id="rId35"/>
    <p:sldId id="316" r:id="rId36"/>
    <p:sldId id="317" r:id="rId37"/>
    <p:sldId id="318" r:id="rId38"/>
    <p:sldId id="319" r:id="rId39"/>
    <p:sldId id="320" r:id="rId40"/>
    <p:sldId id="321" r:id="rId41"/>
    <p:sldId id="322" r:id="rId42"/>
    <p:sldId id="323" r:id="rId43"/>
    <p:sldId id="324" r:id="rId44"/>
    <p:sldId id="325" r:id="rId45"/>
    <p:sldId id="326" r:id="rId46"/>
    <p:sldId id="327" r:id="rId47"/>
    <p:sldId id="328" r:id="rId48"/>
    <p:sldId id="329" r:id="rId49"/>
    <p:sldId id="330" r:id="rId50"/>
    <p:sldId id="331" r:id="rId51"/>
    <p:sldId id="332" r:id="rId52"/>
    <p:sldId id="333" r:id="rId53"/>
    <p:sldId id="334" r:id="rId54"/>
    <p:sldId id="335" r:id="rId55"/>
    <p:sldId id="336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Közepesen sötét stílus 2 – 2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incs stílus, csak rács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9" autoAdjust="0"/>
    <p:restoredTop sz="94660" autoAdjust="0"/>
  </p:normalViewPr>
  <p:slideViewPr>
    <p:cSldViewPr snapToGrid="0">
      <p:cViewPr varScale="1">
        <p:scale>
          <a:sx n="88" d="100"/>
          <a:sy n="88" d="100"/>
        </p:scale>
        <p:origin x="61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59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07067" y="2023534"/>
            <a:ext cx="7766936" cy="1646302"/>
          </a:xfrm>
        </p:spPr>
        <p:txBody>
          <a:bodyPr/>
          <a:lstStyle/>
          <a:p>
            <a:pPr algn="ctr"/>
            <a:r>
              <a:rPr lang="hu-HU" b="1" dirty="0">
                <a:solidFill>
                  <a:schemeClr val="accent1">
                    <a:lumMod val="75000"/>
                  </a:schemeClr>
                </a:solidFill>
              </a:rPr>
              <a:t>Formális nyelvek és </a:t>
            </a:r>
            <a:br>
              <a:rPr lang="hu-HU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hu-HU" b="1" dirty="0">
                <a:solidFill>
                  <a:schemeClr val="accent1">
                    <a:lumMod val="75000"/>
                  </a:schemeClr>
                </a:solidFill>
              </a:rPr>
              <a:t>a fordítóprogramok alapjai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537167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hu-HU" sz="3500" dirty="0" smtClean="0">
                <a:solidFill>
                  <a:schemeClr val="accent1">
                    <a:lumMod val="75000"/>
                  </a:schemeClr>
                </a:solidFill>
              </a:rPr>
              <a:t>4. előadás</a:t>
            </a:r>
          </a:p>
          <a:p>
            <a:pPr algn="ctr">
              <a:spcBef>
                <a:spcPts val="1800"/>
              </a:spcBef>
            </a:pPr>
            <a:r>
              <a:rPr lang="hu-HU" sz="3200" dirty="0" smtClean="0">
                <a:solidFill>
                  <a:schemeClr val="accent1">
                    <a:lumMod val="75000"/>
                  </a:schemeClr>
                </a:solidFill>
              </a:rPr>
              <a:t>Előadó: Nagy Sára,mesteroktató</a:t>
            </a:r>
            <a:br>
              <a:rPr lang="hu-HU" sz="3200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hu-HU" sz="3200" dirty="0" smtClean="0">
                <a:solidFill>
                  <a:schemeClr val="accent1">
                    <a:lumMod val="75000"/>
                  </a:schemeClr>
                </a:solidFill>
              </a:rPr>
              <a:t> Algoritmusok és Alkalmazásaik Tanszék</a:t>
            </a:r>
          </a:p>
          <a:p>
            <a:pPr algn="ctr"/>
            <a:endParaRPr lang="hu-HU" sz="32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hu-HU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209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Véges determinisztikus automata (VDA)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7334" y="1524001"/>
            <a:ext cx="8596668" cy="4517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800" b="1" u="sng" dirty="0" smtClean="0"/>
              <a:t>Definíció:</a:t>
            </a:r>
          </a:p>
          <a:p>
            <a:pPr marL="0" indent="0">
              <a:buNone/>
            </a:pPr>
            <a:r>
              <a:rPr lang="hu-HU" sz="2800" dirty="0" smtClean="0"/>
              <a:t>A = (Q, T, </a:t>
            </a:r>
            <a:r>
              <a:rPr lang="el-GR" sz="2800" dirty="0" smtClean="0"/>
              <a:t>δ</a:t>
            </a:r>
            <a:r>
              <a:rPr lang="hu-HU" sz="2800" dirty="0" smtClean="0"/>
              <a:t>, q</a:t>
            </a:r>
            <a:r>
              <a:rPr lang="hu-HU" sz="2800" baseline="-25000" dirty="0" smtClean="0"/>
              <a:t>0</a:t>
            </a:r>
            <a:r>
              <a:rPr lang="hu-HU" sz="2800" dirty="0" smtClean="0"/>
              <a:t>, F) rendezett ötöst véges determinisztikus automatának nevezzük, ahol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sz="2800" dirty="0" smtClean="0"/>
              <a:t>Q az állapotok nem üres véges halmaza,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sz="2800" dirty="0" smtClean="0"/>
              <a:t>T az input szimbólumok ábécéje,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l-GR" sz="2800" dirty="0" smtClean="0"/>
              <a:t>δ</a:t>
            </a:r>
            <a:r>
              <a:rPr lang="hu-HU" sz="2800" dirty="0" smtClean="0"/>
              <a:t>: Q x T </a:t>
            </a:r>
            <a:r>
              <a:rPr lang="hu-H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Q leképezés az állapot-átmeneti függvény,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sz="2800" dirty="0"/>
              <a:t>q</a:t>
            </a:r>
            <a:r>
              <a:rPr lang="hu-HU" sz="2800" baseline="-25000" dirty="0" smtClean="0"/>
              <a:t>0 </a:t>
            </a:r>
            <a:r>
              <a:rPr lang="es-ES" sz="2800" dirty="0" smtClean="0"/>
              <a:t>∈</a:t>
            </a:r>
            <a:r>
              <a:rPr lang="hu-HU" sz="2800" dirty="0" smtClean="0"/>
              <a:t> Q a kezdőállapot,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sz="2800" dirty="0" smtClean="0"/>
              <a:t>F </a:t>
            </a:r>
            <a:r>
              <a:rPr lang="hu-HU" sz="2800" dirty="0" smtClean="0">
                <a:sym typeface="Symbol" panose="05050102010706020507" pitchFamily="18" charset="2"/>
              </a:rPr>
              <a:t> Q elfogadóállapotok halmaza.</a:t>
            </a:r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347406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Véges determinisztikus automata (VDA)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7334" y="1524001"/>
            <a:ext cx="8596668" cy="451736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u-HU" sz="3200" dirty="0" smtClean="0"/>
              <a:t>Véges determinisztikus automata estén a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l-GR" sz="3200" dirty="0" smtClean="0"/>
              <a:t>δ</a:t>
            </a:r>
            <a:r>
              <a:rPr lang="hu-HU" sz="3200" dirty="0" smtClean="0"/>
              <a:t>: Q x T </a:t>
            </a:r>
            <a:r>
              <a:rPr lang="hu-HU" sz="3200" dirty="0" smtClean="0">
                <a:cs typeface="Times New Roman" panose="02020603050405020304" pitchFamily="18" charset="0"/>
              </a:rPr>
              <a:t>→ Q állapot-átmeneti függvény minden (q,a) párra értelmezett, ahol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hu-HU" sz="3200" dirty="0" smtClean="0">
                <a:cs typeface="Times New Roman" panose="02020603050405020304" pitchFamily="18" charset="0"/>
              </a:rPr>
              <a:t>(q,a) </a:t>
            </a:r>
            <a:r>
              <a:rPr lang="es-ES" sz="3200" dirty="0" smtClean="0"/>
              <a:t>∈</a:t>
            </a:r>
            <a:r>
              <a:rPr lang="hu-HU" sz="3200" dirty="0" smtClean="0"/>
              <a:t> Q x T és </a:t>
            </a:r>
            <a:r>
              <a:rPr lang="hu-HU" sz="3200" dirty="0" smtClean="0">
                <a:cs typeface="Times New Roman" panose="02020603050405020304" pitchFamily="18" charset="0"/>
              </a:rPr>
              <a:t>egyetlen olyan p </a:t>
            </a:r>
            <a:r>
              <a:rPr lang="es-ES" sz="3200" dirty="0" smtClean="0"/>
              <a:t>∈</a:t>
            </a:r>
            <a:r>
              <a:rPr lang="hu-HU" sz="3200" dirty="0" smtClean="0"/>
              <a:t> Q állapot van, amelyre </a:t>
            </a:r>
            <a:r>
              <a:rPr lang="el-GR" sz="3200" dirty="0" smtClean="0"/>
              <a:t>δ</a:t>
            </a:r>
            <a:r>
              <a:rPr lang="hu-HU" sz="3200" dirty="0" smtClean="0"/>
              <a:t>(q,a) = p.</a:t>
            </a:r>
            <a:endParaRPr lang="hu-HU" sz="3200" dirty="0" smtClean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470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Alternatív jelölés az állapot-átmenetre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7334" y="1776549"/>
            <a:ext cx="8596668" cy="42648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sz="3600" dirty="0" smtClean="0"/>
              <a:t>δ</a:t>
            </a:r>
            <a:r>
              <a:rPr lang="hu-HU" sz="3600" dirty="0" smtClean="0"/>
              <a:t>(q, </a:t>
            </a:r>
            <a:r>
              <a:rPr lang="hu-HU" sz="3600" dirty="0"/>
              <a:t>a) = p</a:t>
            </a:r>
            <a:r>
              <a:rPr lang="hu-HU" sz="3600" dirty="0" smtClean="0"/>
              <a:t>  </a:t>
            </a:r>
            <a:r>
              <a:rPr lang="hu-HU" sz="2800" dirty="0" smtClean="0"/>
              <a:t>állapot átmenetet jelölhetjük egy</a:t>
            </a:r>
          </a:p>
          <a:p>
            <a:pPr marL="0" indent="0">
              <a:buNone/>
            </a:pPr>
            <a:r>
              <a:rPr lang="hu-HU" sz="3600" dirty="0" smtClean="0"/>
              <a:t>	</a:t>
            </a:r>
            <a:r>
              <a:rPr lang="hu-HU" sz="3600" dirty="0" err="1" smtClean="0">
                <a:solidFill>
                  <a:srgbClr val="0070C0"/>
                </a:solidFill>
              </a:rPr>
              <a:t>qa</a:t>
            </a:r>
            <a:r>
              <a:rPr lang="hu-HU" sz="3600" dirty="0" smtClean="0">
                <a:solidFill>
                  <a:srgbClr val="0070C0"/>
                </a:solidFill>
              </a:rPr>
              <a:t> </a:t>
            </a:r>
            <a:r>
              <a:rPr lang="hu-HU" sz="36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hu-HU" sz="3600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p </a:t>
            </a:r>
            <a:r>
              <a:rPr lang="hu-HU" sz="3600" dirty="0" smtClean="0">
                <a:cs typeface="Times New Roman" panose="02020603050405020304" pitchFamily="18" charset="0"/>
              </a:rPr>
              <a:t>	  </a:t>
            </a:r>
            <a:r>
              <a:rPr lang="hu-HU" sz="2800" dirty="0" smtClean="0">
                <a:cs typeface="Times New Roman" panose="02020603050405020304" pitchFamily="18" charset="0"/>
              </a:rPr>
              <a:t>szabállyal.</a:t>
            </a:r>
          </a:p>
          <a:p>
            <a:pPr marL="0" indent="0">
              <a:buNone/>
            </a:pPr>
            <a:r>
              <a:rPr lang="hu-HU" sz="2800" dirty="0" smtClean="0"/>
              <a:t>Ha </a:t>
            </a:r>
            <a:r>
              <a:rPr lang="hu-HU" sz="2800" dirty="0"/>
              <a:t>minden egyes (q, a) </a:t>
            </a:r>
            <a:r>
              <a:rPr lang="hu-HU" sz="2800" dirty="0" smtClean="0"/>
              <a:t>párra </a:t>
            </a:r>
            <a:r>
              <a:rPr lang="hu-HU" sz="2800" u="sng" dirty="0"/>
              <a:t>egyetlen</a:t>
            </a:r>
            <a:r>
              <a:rPr lang="hu-HU" sz="2800" dirty="0"/>
              <a:t> qa → p </a:t>
            </a:r>
            <a:r>
              <a:rPr lang="hu-HU" sz="2800" dirty="0" smtClean="0"/>
              <a:t>szabály van, </a:t>
            </a:r>
            <a:r>
              <a:rPr lang="nb-NO" sz="2800" dirty="0" smtClean="0"/>
              <a:t>akkor </a:t>
            </a:r>
            <a:r>
              <a:rPr lang="nb-NO" sz="2800" dirty="0"/>
              <a:t>a </a:t>
            </a:r>
            <a:r>
              <a:rPr lang="nb-NO" sz="2800" dirty="0" smtClean="0"/>
              <a:t>v</a:t>
            </a:r>
            <a:r>
              <a:rPr lang="hu-HU" sz="2800" dirty="0" smtClean="0"/>
              <a:t>é</a:t>
            </a:r>
            <a:r>
              <a:rPr lang="nb-NO" sz="2800" dirty="0" smtClean="0"/>
              <a:t>ges </a:t>
            </a:r>
            <a:r>
              <a:rPr lang="nb-NO" sz="2800" dirty="0"/>
              <a:t>automata </a:t>
            </a:r>
            <a:r>
              <a:rPr lang="nb-NO" sz="2800" dirty="0" smtClean="0"/>
              <a:t>determini</a:t>
            </a:r>
            <a:r>
              <a:rPr lang="hu-HU" sz="2800" dirty="0" smtClean="0"/>
              <a:t>-</a:t>
            </a:r>
            <a:br>
              <a:rPr lang="hu-HU" sz="2800" dirty="0" smtClean="0"/>
            </a:br>
            <a:r>
              <a:rPr lang="nb-NO" sz="2800" dirty="0" smtClean="0"/>
              <a:t>sztikus, egy</a:t>
            </a:r>
            <a:r>
              <a:rPr lang="hu-HU" sz="2800" dirty="0" smtClean="0"/>
              <a:t>é</a:t>
            </a:r>
            <a:r>
              <a:rPr lang="nb-NO" sz="2800" dirty="0" smtClean="0"/>
              <a:t>bk</a:t>
            </a:r>
            <a:r>
              <a:rPr lang="hu-HU" sz="2800" dirty="0" smtClean="0"/>
              <a:t>é</a:t>
            </a:r>
            <a:r>
              <a:rPr lang="nb-NO" sz="2800" dirty="0" smtClean="0"/>
              <a:t>nt nemdeterminisztikus.</a:t>
            </a:r>
            <a:endParaRPr lang="hu-HU" sz="2800" dirty="0" smtClean="0"/>
          </a:p>
          <a:p>
            <a:pPr marL="0" indent="0">
              <a:buNone/>
            </a:pPr>
            <a:r>
              <a:rPr lang="hu-HU" sz="2800" u="sng" dirty="0" smtClean="0"/>
              <a:t>Konfiguráció</a:t>
            </a:r>
            <a:r>
              <a:rPr lang="hu-HU" sz="2800" u="sng" dirty="0"/>
              <a:t>:</a:t>
            </a:r>
            <a:r>
              <a:rPr lang="hu-HU" sz="2800" dirty="0"/>
              <a:t> </a:t>
            </a:r>
            <a:r>
              <a:rPr lang="hu-HU" sz="2800" dirty="0" smtClean="0"/>
              <a:t>A </a:t>
            </a:r>
            <a:r>
              <a:rPr lang="hu-HU" sz="2800" b="1" dirty="0"/>
              <a:t>v ∈ QT</a:t>
            </a:r>
            <a:r>
              <a:rPr lang="hu-HU" sz="2800" b="1" dirty="0" smtClean="0"/>
              <a:t>* </a:t>
            </a:r>
            <a:r>
              <a:rPr lang="hu-HU" sz="2800" dirty="0" smtClean="0"/>
              <a:t>egy konfigurációja egy VDA-</a:t>
            </a:r>
            <a:r>
              <a:rPr lang="hu-HU" sz="2800" dirty="0" err="1" smtClean="0"/>
              <a:t>nak</a:t>
            </a:r>
            <a:r>
              <a:rPr lang="hu-HU" sz="2800" dirty="0" smtClean="0"/>
              <a:t>, ha az aktuális állapotot és az </a:t>
            </a:r>
            <a:r>
              <a:rPr lang="hu-HU" sz="2800" dirty="0"/>
              <a:t>input hátralévő </a:t>
            </a:r>
            <a:r>
              <a:rPr lang="hu-HU" sz="2800" dirty="0" smtClean="0"/>
              <a:t>részét tartalmazza, azaz v=</a:t>
            </a:r>
            <a:r>
              <a:rPr lang="hu-HU" sz="2800" dirty="0" err="1" smtClean="0"/>
              <a:t>qu</a:t>
            </a:r>
            <a:r>
              <a:rPr lang="hu-HU" sz="2800" dirty="0" smtClean="0"/>
              <a:t>.</a:t>
            </a:r>
            <a:endParaRPr lang="hu-HU" sz="2800" dirty="0"/>
          </a:p>
          <a:p>
            <a:pPr marL="0" indent="0">
              <a:buNone/>
            </a:pPr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2274313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Közvetlen redukció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7334" y="1721224"/>
            <a:ext cx="9753598" cy="4531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800" dirty="0"/>
              <a:t>Legyen A = (Q, T</a:t>
            </a:r>
            <a:r>
              <a:rPr lang="hu-HU" sz="2800" dirty="0" smtClean="0"/>
              <a:t>,</a:t>
            </a:r>
            <a:r>
              <a:rPr lang="el-GR" sz="2800" dirty="0"/>
              <a:t> δ</a:t>
            </a:r>
            <a:r>
              <a:rPr lang="hu-HU" sz="2800" dirty="0" smtClean="0"/>
              <a:t>, </a:t>
            </a:r>
            <a:r>
              <a:rPr lang="hu-HU" sz="2800" dirty="0"/>
              <a:t>q</a:t>
            </a:r>
            <a:r>
              <a:rPr lang="hu-HU" sz="2800" baseline="-25000" dirty="0"/>
              <a:t>0</a:t>
            </a:r>
            <a:r>
              <a:rPr lang="hu-HU" sz="2800" dirty="0" smtClean="0"/>
              <a:t>, </a:t>
            </a:r>
            <a:r>
              <a:rPr lang="hu-HU" sz="2800" dirty="0"/>
              <a:t>F) egy </a:t>
            </a:r>
            <a:r>
              <a:rPr lang="hu-HU" sz="2800" dirty="0" smtClean="0"/>
              <a:t>véges determinisztikus automata </a:t>
            </a:r>
            <a:r>
              <a:rPr lang="hu-HU" sz="2800" dirty="0"/>
              <a:t>é</a:t>
            </a:r>
            <a:r>
              <a:rPr lang="hu-HU" sz="2800" dirty="0" smtClean="0"/>
              <a:t>s legyenek </a:t>
            </a:r>
            <a:r>
              <a:rPr lang="hu-HU" sz="2800" b="1" dirty="0" smtClean="0"/>
              <a:t>u</a:t>
            </a:r>
            <a:r>
              <a:rPr lang="hu-HU" sz="2800" b="1" dirty="0"/>
              <a:t>, v ∈ </a:t>
            </a:r>
            <a:r>
              <a:rPr lang="hu-HU" sz="2800" b="1" dirty="0" smtClean="0"/>
              <a:t>QT* </a:t>
            </a:r>
            <a:r>
              <a:rPr lang="hu-HU" sz="2800" dirty="0" smtClean="0"/>
              <a:t>.  </a:t>
            </a:r>
            <a:endParaRPr lang="hu-HU" sz="2800" dirty="0" smtClean="0"/>
          </a:p>
          <a:p>
            <a:pPr marL="0" indent="0">
              <a:buNone/>
            </a:pPr>
            <a:r>
              <a:rPr lang="hu-HU" sz="2800" dirty="0" smtClean="0"/>
              <a:t>Azt </a:t>
            </a:r>
            <a:r>
              <a:rPr lang="hu-HU" sz="2800" dirty="0"/>
              <a:t>mondjuk, hogy az A automata az u </a:t>
            </a:r>
            <a:r>
              <a:rPr lang="hu-HU" sz="2800" dirty="0" smtClean="0"/>
              <a:t>konfigurációt </a:t>
            </a:r>
            <a:r>
              <a:rPr lang="hu-HU" sz="2800" dirty="0"/>
              <a:t>a v </a:t>
            </a:r>
            <a:r>
              <a:rPr lang="hu-HU" sz="2800" dirty="0" smtClean="0"/>
              <a:t>konfigurációra reduk</a:t>
            </a:r>
            <a:r>
              <a:rPr lang="hu-HU" sz="2800" dirty="0"/>
              <a:t>á</a:t>
            </a:r>
            <a:r>
              <a:rPr lang="hu-HU" sz="2800" dirty="0" smtClean="0"/>
              <a:t>lja közvetlenül (jelölés: u ⇒</a:t>
            </a:r>
            <a:r>
              <a:rPr lang="hu-HU" sz="2800" baseline="-25000" dirty="0"/>
              <a:t>A</a:t>
            </a:r>
            <a:r>
              <a:rPr lang="hu-HU" sz="2800" dirty="0"/>
              <a:t> v), </a:t>
            </a:r>
            <a:r>
              <a:rPr lang="hu-HU" sz="2800" dirty="0" smtClean="0"/>
              <a:t/>
            </a:r>
            <a:br>
              <a:rPr lang="hu-HU" sz="2800" dirty="0" smtClean="0"/>
            </a:br>
            <a:r>
              <a:rPr lang="hu-HU" sz="2800" dirty="0" smtClean="0"/>
              <a:t>ha </a:t>
            </a:r>
            <a:r>
              <a:rPr lang="hu-HU" sz="2800" dirty="0"/>
              <a:t>van olyan </a:t>
            </a:r>
            <a:endParaRPr lang="hu-HU" sz="2800" dirty="0" smtClean="0"/>
          </a:p>
          <a:p>
            <a:pPr marL="0" indent="0">
              <a:buNone/>
            </a:pPr>
            <a:r>
              <a:rPr lang="hu-HU" sz="2800" dirty="0" err="1" smtClean="0"/>
              <a:t>qa</a:t>
            </a:r>
            <a:r>
              <a:rPr lang="hu-HU" sz="2800" dirty="0" smtClean="0"/>
              <a:t> </a:t>
            </a:r>
            <a:r>
              <a:rPr lang="hu-HU" sz="2800" dirty="0"/>
              <a:t>→ p </a:t>
            </a:r>
            <a:r>
              <a:rPr lang="hu-HU" sz="2800" dirty="0" smtClean="0"/>
              <a:t>szabály  </a:t>
            </a:r>
            <a:r>
              <a:rPr lang="hu-HU" sz="2800" dirty="0"/>
              <a:t>(</a:t>
            </a:r>
            <a:r>
              <a:rPr lang="hu-HU" sz="2800" dirty="0" smtClean="0"/>
              <a:t>azaz </a:t>
            </a:r>
            <a:r>
              <a:rPr lang="el-GR" sz="2800" dirty="0" smtClean="0"/>
              <a:t>δ</a:t>
            </a:r>
            <a:r>
              <a:rPr lang="hu-HU" sz="2800" dirty="0" smtClean="0"/>
              <a:t>(q</a:t>
            </a:r>
            <a:r>
              <a:rPr lang="hu-HU" sz="2800" dirty="0"/>
              <a:t>, a) = p) </a:t>
            </a:r>
            <a:r>
              <a:rPr lang="hu-HU" sz="2800" dirty="0" smtClean="0"/>
              <a:t>és </a:t>
            </a:r>
            <a:r>
              <a:rPr lang="hu-HU" sz="2800" dirty="0"/>
              <a:t>van olyan </a:t>
            </a:r>
            <a:r>
              <a:rPr lang="hu-HU" sz="2800" dirty="0" smtClean="0"/>
              <a:t>w </a:t>
            </a:r>
            <a:r>
              <a:rPr lang="hu-HU" sz="2800" dirty="0"/>
              <a:t>∈ </a:t>
            </a:r>
            <a:r>
              <a:rPr lang="hu-HU" sz="2800" dirty="0" smtClean="0"/>
              <a:t>T* sz</a:t>
            </a:r>
            <a:r>
              <a:rPr lang="hu-HU" sz="2800" dirty="0"/>
              <a:t>ó</a:t>
            </a:r>
            <a:r>
              <a:rPr lang="hu-HU" sz="2800" dirty="0" smtClean="0"/>
              <a:t>, </a:t>
            </a:r>
            <a:r>
              <a:rPr lang="hu-HU" sz="2800" dirty="0"/>
              <a:t>amelyre </a:t>
            </a:r>
            <a:endParaRPr lang="hu-HU" sz="2800" dirty="0" smtClean="0"/>
          </a:p>
          <a:p>
            <a:pPr marL="0" indent="0">
              <a:buNone/>
            </a:pPr>
            <a:r>
              <a:rPr lang="hu-HU" sz="2800" dirty="0" smtClean="0"/>
              <a:t>u </a:t>
            </a:r>
            <a:r>
              <a:rPr lang="hu-HU" sz="2800" dirty="0"/>
              <a:t>= </a:t>
            </a:r>
            <a:r>
              <a:rPr lang="hu-HU" sz="2800" dirty="0" err="1" smtClean="0">
                <a:solidFill>
                  <a:srgbClr val="0070C0"/>
                </a:solidFill>
              </a:rPr>
              <a:t>qa</a:t>
            </a:r>
            <a:r>
              <a:rPr lang="hu-HU" sz="2800" dirty="0" err="1" smtClean="0"/>
              <a:t>w</a:t>
            </a:r>
            <a:r>
              <a:rPr lang="hu-HU" sz="2800" dirty="0" smtClean="0"/>
              <a:t> és  </a:t>
            </a:r>
            <a:r>
              <a:rPr lang="hu-HU" sz="2800" dirty="0"/>
              <a:t>v = </a:t>
            </a:r>
            <a:r>
              <a:rPr lang="hu-HU" sz="2800" dirty="0" err="1">
                <a:solidFill>
                  <a:srgbClr val="0070C0"/>
                </a:solidFill>
              </a:rPr>
              <a:t>p</a:t>
            </a:r>
            <a:r>
              <a:rPr lang="hu-HU" sz="2800" dirty="0" err="1"/>
              <a:t>w</a:t>
            </a:r>
            <a:r>
              <a:rPr lang="hu-HU" sz="2800" dirty="0"/>
              <a:t> </a:t>
            </a:r>
            <a:r>
              <a:rPr lang="hu-HU" sz="2800" dirty="0" smtClean="0"/>
              <a:t>teljesül</a:t>
            </a:r>
            <a:r>
              <a:rPr lang="hu-HU" sz="2800" dirty="0"/>
              <a:t>.</a:t>
            </a: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20116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Redukció</a:t>
            </a:r>
            <a:endParaRPr lang="hu-H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742577"/>
                <a:ext cx="10329333" cy="388077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hu-HU" sz="3200" b="1" u="sng" dirty="0" smtClean="0"/>
                  <a:t>Definíció:</a:t>
                </a:r>
                <a:endParaRPr lang="hu-HU" sz="3200" b="1" u="sng" dirty="0"/>
              </a:p>
              <a:p>
                <a:pPr marL="0" indent="0">
                  <a:buNone/>
                </a:pPr>
                <a:r>
                  <a:rPr lang="hu-HU" sz="3200" dirty="0"/>
                  <a:t>Az A = (Q, T, </a:t>
                </a:r>
                <a:r>
                  <a:rPr lang="el-GR" sz="3200" dirty="0" smtClean="0"/>
                  <a:t>δ</a:t>
                </a:r>
                <a:r>
                  <a:rPr lang="hu-HU" sz="3200" dirty="0"/>
                  <a:t>, q</a:t>
                </a:r>
                <a:r>
                  <a:rPr lang="hu-HU" sz="3200" baseline="-25000" dirty="0"/>
                  <a:t>0</a:t>
                </a:r>
                <a:r>
                  <a:rPr lang="hu-HU" sz="3200" dirty="0" smtClean="0"/>
                  <a:t>, </a:t>
                </a:r>
                <a:r>
                  <a:rPr lang="hu-HU" sz="3200" dirty="0"/>
                  <a:t>F) </a:t>
                </a:r>
                <a:r>
                  <a:rPr lang="hu-HU" sz="3200" dirty="0" smtClean="0"/>
                  <a:t>véges </a:t>
                </a:r>
                <a:r>
                  <a:rPr lang="hu-HU" sz="3200" dirty="0"/>
                  <a:t>automata az </a:t>
                </a:r>
                <a:endParaRPr lang="hu-HU" sz="3200" dirty="0" smtClean="0"/>
              </a:p>
              <a:p>
                <a:pPr marL="0" indent="0">
                  <a:buNone/>
                </a:pPr>
                <a:r>
                  <a:rPr lang="hu-HU" sz="3200" dirty="0" smtClean="0"/>
                  <a:t>u </a:t>
                </a:r>
                <a:r>
                  <a:rPr lang="hu-HU" sz="3200" dirty="0"/>
                  <a:t>∈ </a:t>
                </a:r>
                <a:r>
                  <a:rPr lang="hu-HU" sz="3200" dirty="0" smtClean="0"/>
                  <a:t>QT* konfigurációt </a:t>
                </a:r>
                <a:r>
                  <a:rPr lang="hu-HU" sz="3200" dirty="0"/>
                  <a:t>a </a:t>
                </a:r>
                <a:r>
                  <a:rPr lang="hu-HU" sz="3200" dirty="0" smtClean="0"/>
                  <a:t>v </a:t>
                </a:r>
                <a:r>
                  <a:rPr lang="hu-HU" sz="3200" dirty="0"/>
                  <a:t>∈ </a:t>
                </a:r>
                <a:r>
                  <a:rPr lang="hu-HU" sz="3200" dirty="0" smtClean="0"/>
                  <a:t>QT* konfigurációra reduk</a:t>
                </a:r>
                <a:r>
                  <a:rPr lang="hu-HU" sz="3200" dirty="0"/>
                  <a:t>á</a:t>
                </a:r>
                <a:r>
                  <a:rPr lang="hu-HU" sz="3200" dirty="0" smtClean="0"/>
                  <a:t>lja (jelölés: u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3200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1"/>
                          </m:rPr>
                          <a:rPr lang="hu-HU" sz="3200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groupChr>
                  </m:oMath>
                </a14:m>
                <a:r>
                  <a:rPr lang="hu-HU" sz="3200" dirty="0" smtClean="0"/>
                  <a:t>*</a:t>
                </a:r>
                <a:r>
                  <a:rPr lang="hu-HU" sz="3200" baseline="-25000" dirty="0" smtClean="0"/>
                  <a:t> </a:t>
                </a:r>
                <a:r>
                  <a:rPr lang="es-ES" sz="3200" dirty="0" smtClean="0"/>
                  <a:t>v</a:t>
                </a:r>
                <a:r>
                  <a:rPr lang="es-ES" sz="3200" dirty="0"/>
                  <a:t>), </a:t>
                </a:r>
                <a:r>
                  <a:rPr lang="hu-HU" sz="3200" dirty="0" smtClean="0"/>
                  <a:t/>
                </a:r>
                <a:br>
                  <a:rPr lang="hu-HU" sz="3200" dirty="0" smtClean="0"/>
                </a:br>
                <a:r>
                  <a:rPr lang="es-ES" sz="3200" dirty="0" smtClean="0"/>
                  <a:t>ha </a:t>
                </a:r>
                <a:r>
                  <a:rPr lang="es-ES" sz="3200" dirty="0"/>
                  <a:t>vagy u = v, vagy van olyan </a:t>
                </a:r>
                <a:endParaRPr lang="hu-HU" sz="3200" dirty="0" smtClean="0"/>
              </a:p>
              <a:p>
                <a:pPr marL="0" indent="0">
                  <a:buNone/>
                </a:pPr>
                <a:r>
                  <a:rPr lang="es-ES" sz="3200" dirty="0" smtClean="0"/>
                  <a:t>z </a:t>
                </a:r>
                <a:r>
                  <a:rPr lang="es-ES" sz="3200" dirty="0"/>
                  <a:t>∈ </a:t>
                </a:r>
                <a:r>
                  <a:rPr lang="es-ES" sz="3200" dirty="0" smtClean="0"/>
                  <a:t>QT</a:t>
                </a:r>
                <a:r>
                  <a:rPr lang="hu-HU" sz="3200" dirty="0" smtClean="0"/>
                  <a:t>*</a:t>
                </a:r>
                <a:r>
                  <a:rPr lang="es-ES" sz="3200" dirty="0" smtClean="0"/>
                  <a:t>,</a:t>
                </a:r>
                <a:r>
                  <a:rPr lang="hu-HU" sz="3200" dirty="0"/>
                  <a:t> </a:t>
                </a:r>
                <a:r>
                  <a:rPr lang="hu-HU" sz="3200" dirty="0" smtClean="0"/>
                  <a:t>amelyre </a:t>
                </a:r>
                <a:r>
                  <a:rPr lang="hu-HU" sz="3200" dirty="0"/>
                  <a:t>u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32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1"/>
                          </m:rPr>
                          <a:rPr lang="hu-HU" sz="3200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groupChr>
                  </m:oMath>
                </a14:m>
                <a:r>
                  <a:rPr lang="hu-HU" sz="3200" dirty="0"/>
                  <a:t>*</a:t>
                </a:r>
                <a:r>
                  <a:rPr lang="hu-HU" sz="3200" baseline="-25000" dirty="0"/>
                  <a:t> </a:t>
                </a:r>
                <a:r>
                  <a:rPr lang="pl-PL" sz="3200" dirty="0" smtClean="0"/>
                  <a:t>z  és </a:t>
                </a:r>
                <a:r>
                  <a:rPr lang="pl-PL" sz="3200" dirty="0"/>
                  <a:t>z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32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1"/>
                          </m:rPr>
                          <a:rPr lang="hu-HU" sz="3200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groupChr>
                  </m:oMath>
                </a14:m>
                <a:r>
                  <a:rPr lang="pl-PL" sz="3200" dirty="0"/>
                  <a:t> v </a:t>
                </a:r>
                <a:r>
                  <a:rPr lang="pl-PL" sz="3200" dirty="0" smtClean="0"/>
                  <a:t>teljesül.</a:t>
                </a:r>
                <a:endParaRPr lang="pl-PL" sz="3200" dirty="0"/>
              </a:p>
            </p:txBody>
          </p:sp>
        </mc:Choice>
        <mc:Fallback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742577"/>
                <a:ext cx="10329333" cy="3880773"/>
              </a:xfrm>
              <a:blipFill>
                <a:blip r:embed="rId2"/>
                <a:stretch>
                  <a:fillRect l="-1475" t="-2044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1282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Automata által elfogadott nyelv</a:t>
            </a:r>
            <a:endParaRPr lang="hu-H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794829"/>
                <a:ext cx="8893386" cy="46974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hu-HU" sz="3200" b="1" u="sng" dirty="0" smtClean="0"/>
                  <a:t>Definíció:</a:t>
                </a:r>
              </a:p>
              <a:p>
                <a:pPr marL="0" indent="0">
                  <a:buNone/>
                </a:pPr>
                <a:r>
                  <a:rPr lang="hu-HU" sz="3200" dirty="0" smtClean="0"/>
                  <a:t>Az </a:t>
                </a:r>
                <a:r>
                  <a:rPr lang="hu-HU" sz="3200" dirty="0"/>
                  <a:t>A = (Q, </a:t>
                </a:r>
                <a:r>
                  <a:rPr lang="hu-HU" sz="3200" dirty="0" smtClean="0"/>
                  <a:t>T, </a:t>
                </a:r>
                <a:r>
                  <a:rPr lang="el-GR" sz="3200" dirty="0" smtClean="0"/>
                  <a:t>δ</a:t>
                </a:r>
                <a:r>
                  <a:rPr lang="hu-HU" sz="3200" dirty="0"/>
                  <a:t>, q</a:t>
                </a:r>
                <a:r>
                  <a:rPr lang="hu-HU" sz="3200" baseline="-25000" dirty="0"/>
                  <a:t>0</a:t>
                </a:r>
                <a:r>
                  <a:rPr lang="hu-HU" sz="3200" dirty="0" smtClean="0"/>
                  <a:t>, </a:t>
                </a:r>
                <a:r>
                  <a:rPr lang="hu-HU" sz="3200" dirty="0"/>
                  <a:t>F) </a:t>
                </a:r>
                <a:r>
                  <a:rPr lang="hu-HU" sz="3200" dirty="0" smtClean="0"/>
                  <a:t>véges </a:t>
                </a:r>
                <a:r>
                  <a:rPr lang="hu-HU" sz="3200" dirty="0"/>
                  <a:t>automata á</a:t>
                </a:r>
                <a:r>
                  <a:rPr lang="hu-HU" sz="3200" dirty="0" smtClean="0"/>
                  <a:t>ltal </a:t>
                </a:r>
                <a:r>
                  <a:rPr lang="hu-HU" sz="3200" dirty="0"/>
                  <a:t>elfogadott nyelv alatt az</a:t>
                </a:r>
              </a:p>
              <a:p>
                <a:pPr marL="0" indent="0">
                  <a:buNone/>
                </a:pPr>
                <a:r>
                  <a:rPr lang="hu-HU" sz="3200" dirty="0"/>
                  <a:t>L(A) </a:t>
                </a:r>
                <a:r>
                  <a:rPr lang="hu-HU" sz="3200" dirty="0" smtClean="0"/>
                  <a:t>:= </a:t>
                </a:r>
                <a:r>
                  <a:rPr lang="hu-HU" sz="3200" dirty="0"/>
                  <a:t>{u ∈ </a:t>
                </a:r>
                <a:r>
                  <a:rPr lang="hu-HU" sz="3200" dirty="0" smtClean="0"/>
                  <a:t>T</a:t>
                </a:r>
                <a:r>
                  <a:rPr lang="hu-HU" sz="3200" dirty="0" smtClean="0"/>
                  <a:t>*|q</a:t>
                </a:r>
                <a:r>
                  <a:rPr lang="hu-HU" sz="3200" baseline="-25000" dirty="0" smtClean="0"/>
                  <a:t>0</a:t>
                </a:r>
                <a:r>
                  <a:rPr lang="hu-HU" sz="3200" dirty="0" smtClean="0"/>
                  <a:t>u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32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1"/>
                          </m:rPr>
                          <a:rPr lang="hu-HU" sz="3200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groupChr>
                  </m:oMath>
                </a14:m>
                <a:r>
                  <a:rPr lang="hu-HU" sz="3200" dirty="0"/>
                  <a:t>*</a:t>
                </a:r>
                <a:r>
                  <a:rPr lang="hu-HU" sz="3200" baseline="-25000" dirty="0" smtClean="0"/>
                  <a:t> </a:t>
                </a:r>
                <a:r>
                  <a:rPr lang="hu-HU" sz="3200" dirty="0" smtClean="0"/>
                  <a:t>p és</a:t>
                </a:r>
                <a:r>
                  <a:rPr lang="es-ES" sz="3200" dirty="0" smtClean="0"/>
                  <a:t> </a:t>
                </a:r>
                <a:r>
                  <a:rPr lang="es-ES" sz="3200" dirty="0"/>
                  <a:t>p ∈ F}</a:t>
                </a:r>
              </a:p>
              <a:p>
                <a:pPr marL="0" indent="0">
                  <a:buNone/>
                </a:pPr>
                <a:r>
                  <a:rPr lang="hu-HU" sz="3200" dirty="0"/>
                  <a:t>szavak </a:t>
                </a:r>
                <a:r>
                  <a:rPr lang="hu-HU" sz="3200" dirty="0" smtClean="0"/>
                  <a:t>halmazát értjük.</a:t>
                </a:r>
              </a:p>
              <a:p>
                <a:pPr marL="0" indent="0">
                  <a:spcBef>
                    <a:spcPts val="1800"/>
                  </a:spcBef>
                  <a:buNone/>
                </a:pPr>
                <a:r>
                  <a:rPr lang="hu-HU" sz="2600" dirty="0" smtClean="0"/>
                  <a:t>Megjegyzés</a:t>
                </a:r>
                <a:r>
                  <a:rPr lang="hu-HU" sz="2600" dirty="0" smtClean="0"/>
                  <a:t>: Ez azt jelenti, hogy </a:t>
                </a:r>
                <a:r>
                  <a:rPr lang="hu-HU" sz="2600" dirty="0" smtClean="0"/>
                  <a:t>az automata a </a:t>
                </a:r>
                <a:r>
                  <a:rPr lang="hu-HU" sz="2600" dirty="0" smtClean="0"/>
                  <a:t>kezdőállapotból indulva végig olvasva az inputot </a:t>
                </a:r>
                <a:r>
                  <a:rPr lang="hu-HU" sz="2600" dirty="0" smtClean="0"/>
                  <a:t>elfogadóállapotba </a:t>
                </a:r>
                <a:r>
                  <a:rPr lang="hu-HU" sz="2600" dirty="0" smtClean="0"/>
                  <a:t>jut.</a:t>
                </a:r>
                <a:endParaRPr lang="hu-HU" sz="2600" dirty="0"/>
              </a:p>
            </p:txBody>
          </p:sp>
        </mc:Choice>
        <mc:Fallback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794829"/>
                <a:ext cx="8893386" cy="4697411"/>
              </a:xfrm>
              <a:blipFill>
                <a:blip r:embed="rId2"/>
                <a:stretch>
                  <a:fillRect l="-1714" t="-1686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1821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9437510" cy="846667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Véges nemdeterminisztikus automata (VNDA)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778934" y="1456267"/>
            <a:ext cx="8596668" cy="49558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sz="2800" b="1" u="sng" dirty="0" smtClean="0"/>
              <a:t>Definíció:</a:t>
            </a:r>
          </a:p>
          <a:p>
            <a:pPr marL="0" indent="0">
              <a:buNone/>
            </a:pPr>
            <a:r>
              <a:rPr lang="hu-HU" sz="2800" dirty="0" smtClean="0"/>
              <a:t>A = (Q, T, </a:t>
            </a:r>
            <a:r>
              <a:rPr lang="el-GR" sz="2800" dirty="0" smtClean="0"/>
              <a:t>δ</a:t>
            </a:r>
            <a:r>
              <a:rPr lang="hu-HU" sz="2800" dirty="0" smtClean="0"/>
              <a:t>, </a:t>
            </a:r>
            <a:r>
              <a:rPr lang="hu-HU" sz="2800" dirty="0" smtClean="0">
                <a:solidFill>
                  <a:srgbClr val="FF0000"/>
                </a:solidFill>
              </a:rPr>
              <a:t>Q</a:t>
            </a:r>
            <a:r>
              <a:rPr lang="hu-HU" sz="2800" baseline="-25000" dirty="0" smtClean="0">
                <a:solidFill>
                  <a:srgbClr val="FF0000"/>
                </a:solidFill>
              </a:rPr>
              <a:t>0</a:t>
            </a:r>
            <a:r>
              <a:rPr lang="hu-HU" sz="2800" dirty="0" smtClean="0"/>
              <a:t>, F) rendezett ötöst véges </a:t>
            </a:r>
            <a:r>
              <a:rPr lang="hu-HU" sz="2800" dirty="0" err="1" smtClean="0">
                <a:solidFill>
                  <a:srgbClr val="FF0000"/>
                </a:solidFill>
              </a:rPr>
              <a:t>nemdeterminisztikus</a:t>
            </a:r>
            <a:r>
              <a:rPr lang="hu-HU" sz="2800" dirty="0" smtClean="0"/>
              <a:t> automatának nevezzük, ahol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sz="2800" dirty="0" smtClean="0"/>
              <a:t>Q az állapotok nem üres véges halmaza,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sz="2800" dirty="0" smtClean="0"/>
              <a:t>T az input szimbólumok ábécéje,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l-GR" sz="2800" dirty="0" smtClean="0"/>
              <a:t>δ</a:t>
            </a:r>
            <a:r>
              <a:rPr lang="hu-HU" sz="2800" dirty="0" smtClean="0"/>
              <a:t>: Q x T </a:t>
            </a:r>
            <a:r>
              <a:rPr lang="hu-H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hu-HU" sz="2800" dirty="0" smtClean="0">
                <a:solidFill>
                  <a:srgbClr val="FF0000"/>
                </a:solidFill>
                <a:latin typeface="Brush Script MT" panose="03060802040406070304" pitchFamily="66" charset="0"/>
                <a:cs typeface="Times New Roman" panose="02020603050405020304" pitchFamily="18" charset="0"/>
              </a:rPr>
              <a:t>P(</a:t>
            </a:r>
            <a:r>
              <a:rPr lang="hu-HU" sz="2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Q</a:t>
            </a:r>
            <a:r>
              <a:rPr lang="hu-HU" sz="2800" dirty="0" smtClean="0">
                <a:solidFill>
                  <a:srgbClr val="FF0000"/>
                </a:solidFill>
                <a:latin typeface="Brush Script MT" panose="03060802040406070304" pitchFamily="66" charset="0"/>
                <a:cs typeface="Times New Roman" panose="02020603050405020304" pitchFamily="18" charset="0"/>
              </a:rPr>
              <a:t>)</a:t>
            </a:r>
            <a:r>
              <a:rPr lang="hu-H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	</a:t>
            </a:r>
            <a:r>
              <a:rPr lang="hu-H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 Q részhalmazaiba képez)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sz="2800" dirty="0" smtClean="0"/>
              <a:t>Q</a:t>
            </a:r>
            <a:r>
              <a:rPr lang="hu-HU" sz="2800" baseline="-25000" dirty="0" smtClean="0"/>
              <a:t>0</a:t>
            </a:r>
            <a:r>
              <a:rPr lang="hu-HU" sz="2800" dirty="0" smtClean="0"/>
              <a:t> </a:t>
            </a:r>
            <a:r>
              <a:rPr lang="hu-HU" sz="2800" dirty="0">
                <a:sym typeface="Symbol" panose="05050102010706020507" pitchFamily="18" charset="2"/>
              </a:rPr>
              <a:t> </a:t>
            </a:r>
            <a:r>
              <a:rPr lang="hu-HU" sz="2800" dirty="0" smtClean="0"/>
              <a:t>Q a kezdőállapotok halmaza,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sz="2800" dirty="0" smtClean="0"/>
              <a:t>F </a:t>
            </a:r>
            <a:r>
              <a:rPr lang="hu-HU" sz="2800" dirty="0" smtClean="0">
                <a:sym typeface="Symbol" panose="05050102010706020507" pitchFamily="18" charset="2"/>
              </a:rPr>
              <a:t> Q elfogadó állapotok halmaza.</a:t>
            </a:r>
          </a:p>
          <a:p>
            <a:pPr marL="0" indent="0">
              <a:lnSpc>
                <a:spcPct val="210000"/>
              </a:lnSpc>
              <a:buNone/>
            </a:pPr>
            <a:r>
              <a:rPr lang="hu-HU" sz="2400" dirty="0" smtClean="0">
                <a:sym typeface="Symbol" panose="05050102010706020507" pitchFamily="18" charset="2"/>
              </a:rPr>
              <a:t>Megjegyzés: VNDA a VDA általánosítása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320609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Példa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7334" y="1423989"/>
            <a:ext cx="8596668" cy="51574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2800" dirty="0" smtClean="0"/>
              <a:t>Legyen </a:t>
            </a:r>
            <a:r>
              <a:rPr lang="fr-FR" sz="2800" dirty="0" smtClean="0"/>
              <a:t>A </a:t>
            </a:r>
            <a:r>
              <a:rPr lang="fr-FR" sz="2800" dirty="0"/>
              <a:t>= (Q, T, </a:t>
            </a:r>
            <a:r>
              <a:rPr lang="el-GR" sz="2800" dirty="0"/>
              <a:t>δ</a:t>
            </a:r>
            <a:r>
              <a:rPr lang="fr-FR" sz="2800" dirty="0" smtClean="0"/>
              <a:t>, </a:t>
            </a:r>
            <a:r>
              <a:rPr lang="hu-HU" sz="2800" dirty="0" smtClean="0"/>
              <a:t>Q</a:t>
            </a:r>
            <a:r>
              <a:rPr lang="fr-FR" sz="2800" baseline="-25000" dirty="0" smtClean="0"/>
              <a:t>0</a:t>
            </a:r>
            <a:r>
              <a:rPr lang="fr-FR" sz="2800" dirty="0"/>
              <a:t>, F</a:t>
            </a:r>
            <a:r>
              <a:rPr lang="fr-FR" sz="2800" dirty="0" smtClean="0"/>
              <a:t>)</a:t>
            </a:r>
            <a:r>
              <a:rPr lang="hu-HU" sz="2800" dirty="0" smtClean="0"/>
              <a:t> a következő, </a:t>
            </a:r>
            <a:r>
              <a:rPr lang="hu-HU" sz="2800" dirty="0"/>
              <a:t>ahol</a:t>
            </a:r>
          </a:p>
          <a:p>
            <a:pPr marL="0" indent="0">
              <a:buNone/>
            </a:pPr>
            <a:r>
              <a:rPr lang="hu-HU" sz="2800" dirty="0" smtClean="0"/>
              <a:t>	Q </a:t>
            </a:r>
            <a:r>
              <a:rPr lang="hu-HU" sz="2800" dirty="0"/>
              <a:t>= {q0, q1, </a:t>
            </a:r>
            <a:r>
              <a:rPr lang="hu-HU" sz="2800" dirty="0" smtClean="0"/>
              <a:t>q2}, </a:t>
            </a:r>
            <a:r>
              <a:rPr lang="hu-HU" sz="2800" dirty="0"/>
              <a:t>T = {a, b}, Q</a:t>
            </a:r>
            <a:r>
              <a:rPr lang="fr-FR" sz="2800" baseline="-25000" dirty="0"/>
              <a:t>0 </a:t>
            </a:r>
            <a:r>
              <a:rPr lang="hu-HU" sz="2800" dirty="0"/>
              <a:t>= {</a:t>
            </a:r>
            <a:r>
              <a:rPr lang="hu-HU" sz="2800" dirty="0" smtClean="0"/>
              <a:t>q0}, F </a:t>
            </a:r>
            <a:r>
              <a:rPr lang="hu-HU" sz="2800" dirty="0"/>
              <a:t>= {</a:t>
            </a:r>
            <a:r>
              <a:rPr lang="hu-HU" sz="2800" dirty="0" smtClean="0"/>
              <a:t>q2}  és </a:t>
            </a:r>
          </a:p>
          <a:p>
            <a:pPr marL="0" indent="0">
              <a:buNone/>
            </a:pPr>
            <a:r>
              <a:rPr lang="hu-HU" sz="2800" dirty="0"/>
              <a:t>	</a:t>
            </a:r>
            <a:r>
              <a:rPr lang="hu-HU" sz="2800" dirty="0" smtClean="0"/>
              <a:t>   </a:t>
            </a:r>
            <a:r>
              <a:rPr lang="el-GR" sz="2800" dirty="0" smtClean="0"/>
              <a:t>δ</a:t>
            </a:r>
            <a:r>
              <a:rPr lang="hu-HU" sz="2800" dirty="0" smtClean="0"/>
              <a:t>(q0</a:t>
            </a:r>
            <a:r>
              <a:rPr lang="hu-HU" sz="2800" dirty="0"/>
              <a:t>, a) = </a:t>
            </a:r>
            <a:r>
              <a:rPr lang="hu-HU" sz="2800" dirty="0" smtClean="0"/>
              <a:t>{q1}, </a:t>
            </a:r>
            <a:r>
              <a:rPr lang="el-GR" sz="2800" dirty="0"/>
              <a:t>δ</a:t>
            </a:r>
            <a:r>
              <a:rPr lang="hu-HU" sz="2800" dirty="0"/>
              <a:t>(q0, </a:t>
            </a:r>
            <a:r>
              <a:rPr lang="hu-HU" sz="2800" dirty="0" smtClean="0"/>
              <a:t>b) </a:t>
            </a:r>
            <a:r>
              <a:rPr lang="hu-HU" sz="2800" dirty="0"/>
              <a:t>= </a:t>
            </a:r>
            <a:r>
              <a:rPr lang="hu-HU" sz="2800" b="1" dirty="0" smtClean="0">
                <a:solidFill>
                  <a:srgbClr val="C00000"/>
                </a:solidFill>
                <a:sym typeface="Symbol" panose="05050102010706020507" pitchFamily="18" charset="2"/>
              </a:rPr>
              <a:t></a:t>
            </a:r>
          </a:p>
          <a:p>
            <a:pPr marL="0" indent="0">
              <a:buNone/>
            </a:pPr>
            <a:r>
              <a:rPr lang="hu-HU" sz="2800" dirty="0"/>
              <a:t>	 </a:t>
            </a:r>
            <a:r>
              <a:rPr lang="hu-HU" sz="2800" dirty="0" smtClean="0"/>
              <a:t>  </a:t>
            </a:r>
            <a:r>
              <a:rPr lang="el-GR" sz="2800" dirty="0" smtClean="0"/>
              <a:t>δ</a:t>
            </a:r>
            <a:r>
              <a:rPr lang="hu-HU" sz="2800" dirty="0" smtClean="0"/>
              <a:t>(q1</a:t>
            </a:r>
            <a:r>
              <a:rPr lang="hu-HU" sz="2800" dirty="0"/>
              <a:t>, a) = </a:t>
            </a:r>
            <a:r>
              <a:rPr lang="hu-HU" sz="2800" dirty="0" smtClean="0"/>
              <a:t>{q1}, </a:t>
            </a:r>
            <a:r>
              <a:rPr lang="el-GR" sz="2800" dirty="0"/>
              <a:t>δ</a:t>
            </a:r>
            <a:r>
              <a:rPr lang="hu-HU" sz="2800" dirty="0" smtClean="0"/>
              <a:t>(q1</a:t>
            </a:r>
            <a:r>
              <a:rPr lang="hu-HU" sz="2800" dirty="0"/>
              <a:t>, b) = </a:t>
            </a:r>
            <a:r>
              <a:rPr lang="hu-HU" sz="2800" dirty="0" smtClean="0">
                <a:solidFill>
                  <a:srgbClr val="C00000"/>
                </a:solidFill>
              </a:rPr>
              <a:t>{q1, q2}</a:t>
            </a:r>
          </a:p>
          <a:p>
            <a:pPr marL="0" indent="0">
              <a:buNone/>
            </a:pPr>
            <a:r>
              <a:rPr lang="hu-HU" sz="2800" dirty="0" smtClean="0"/>
              <a:t>	   </a:t>
            </a:r>
            <a:r>
              <a:rPr lang="el-GR" sz="2800" dirty="0" smtClean="0"/>
              <a:t>δ</a:t>
            </a:r>
            <a:r>
              <a:rPr lang="hu-HU" sz="2800" dirty="0" smtClean="0"/>
              <a:t>(q2, a) </a:t>
            </a:r>
            <a:r>
              <a:rPr lang="hu-HU" sz="2800" dirty="0"/>
              <a:t>= </a:t>
            </a:r>
            <a:r>
              <a:rPr lang="hu-HU" sz="2800" b="1" dirty="0" smtClean="0">
                <a:solidFill>
                  <a:srgbClr val="C00000"/>
                </a:solidFill>
                <a:sym typeface="Symbol" panose="05050102010706020507" pitchFamily="18" charset="2"/>
              </a:rPr>
              <a:t></a:t>
            </a:r>
            <a:r>
              <a:rPr lang="hu-HU" sz="2800" b="1" dirty="0" smtClean="0">
                <a:sym typeface="Symbol" panose="05050102010706020507" pitchFamily="18" charset="2"/>
              </a:rPr>
              <a:t>, </a:t>
            </a:r>
            <a:r>
              <a:rPr lang="el-GR" sz="2800" dirty="0" smtClean="0"/>
              <a:t>δ</a:t>
            </a:r>
            <a:r>
              <a:rPr lang="hu-HU" sz="2800" dirty="0" smtClean="0"/>
              <a:t>(q2, </a:t>
            </a:r>
            <a:r>
              <a:rPr lang="hu-HU" sz="2800" dirty="0"/>
              <a:t>b) = </a:t>
            </a:r>
            <a:r>
              <a:rPr lang="hu-HU" sz="2800" b="1" dirty="0">
                <a:solidFill>
                  <a:srgbClr val="C00000"/>
                </a:solidFill>
                <a:sym typeface="Symbol" panose="05050102010706020507" pitchFamily="18" charset="2"/>
              </a:rPr>
              <a:t></a:t>
            </a:r>
          </a:p>
          <a:p>
            <a:pPr marL="0" indent="0">
              <a:buNone/>
            </a:pPr>
            <a:endParaRPr lang="hu-HU" sz="2800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hu-HU" sz="2800" dirty="0" smtClean="0"/>
              <a:t>	L(A)={u</a:t>
            </a:r>
            <a:r>
              <a:rPr lang="es-ES" sz="2800" dirty="0"/>
              <a:t> </a:t>
            </a:r>
            <a:r>
              <a:rPr lang="es-ES" sz="2800" dirty="0" smtClean="0"/>
              <a:t>∈</a:t>
            </a:r>
            <a:r>
              <a:rPr lang="hu-HU" sz="2800" dirty="0" smtClean="0"/>
              <a:t> T* | az u szó ’a’ betűvel kezdődik és 							’b’ betűre végződik}</a:t>
            </a:r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210793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Példa – nemdeterminisztikus automata megadása táblázattal és gráffal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7334" y="1423989"/>
            <a:ext cx="8596668" cy="522516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hu-HU" sz="2800" dirty="0" smtClean="0"/>
          </a:p>
          <a:p>
            <a:pPr marL="0" indent="0">
              <a:buNone/>
            </a:pPr>
            <a:endParaRPr lang="hu-HU" sz="2800" dirty="0"/>
          </a:p>
          <a:p>
            <a:pPr marL="0" indent="0">
              <a:buNone/>
            </a:pPr>
            <a:r>
              <a:rPr lang="hu-HU" sz="2800" dirty="0"/>
              <a:t>	</a:t>
            </a:r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187874"/>
              </p:ext>
            </p:extLst>
          </p:nvPr>
        </p:nvGraphicFramePr>
        <p:xfrm>
          <a:off x="1286318" y="1930400"/>
          <a:ext cx="6320982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4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8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2400" dirty="0" smtClean="0"/>
                        <a:t>δ</a:t>
                      </a:r>
                      <a:endParaRPr lang="hu-HU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hu-HU" sz="2400" dirty="0" smtClean="0"/>
                        <a:t>a</a:t>
                      </a:r>
                      <a:endParaRPr lang="hu-HU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hu-HU" sz="2400" dirty="0" smtClean="0"/>
                        <a:t>b</a:t>
                      </a:r>
                      <a:endParaRPr lang="hu-HU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hu-HU" sz="2400" dirty="0" smtClean="0"/>
                        <a:t>q0</a:t>
                      </a:r>
                      <a:endParaRPr lang="hu-HU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hu-HU" sz="2400" dirty="0" smtClean="0"/>
                        <a:t>q1</a:t>
                      </a:r>
                      <a:endParaRPr lang="hu-H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hu-H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hu-HU" sz="2400" dirty="0" smtClean="0"/>
                        <a:t>q1</a:t>
                      </a:r>
                      <a:endParaRPr lang="hu-HU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hu-HU" sz="2400" dirty="0" smtClean="0"/>
                        <a:t>q1</a:t>
                      </a:r>
                      <a:endParaRPr lang="hu-H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hu-HU" sz="2400" dirty="0" smtClean="0"/>
                        <a:t>q1, q2</a:t>
                      </a:r>
                      <a:endParaRPr lang="hu-H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hu-HU" sz="2400" dirty="0" smtClean="0"/>
                        <a:t>q2</a:t>
                      </a:r>
                      <a:endParaRPr lang="hu-HU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hu-H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hu-H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6" name="Egyenes összekötő nyíllal 5"/>
          <p:cNvCxnSpPr/>
          <p:nvPr/>
        </p:nvCxnSpPr>
        <p:spPr>
          <a:xfrm>
            <a:off x="1498600" y="2768600"/>
            <a:ext cx="3937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nyíllal 7"/>
          <p:cNvCxnSpPr/>
          <p:nvPr/>
        </p:nvCxnSpPr>
        <p:spPr>
          <a:xfrm flipH="1">
            <a:off x="1498600" y="4171244"/>
            <a:ext cx="4064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gyenes összekötő nyíllal 22"/>
          <p:cNvCxnSpPr/>
          <p:nvPr/>
        </p:nvCxnSpPr>
        <p:spPr>
          <a:xfrm flipH="1" flipV="1">
            <a:off x="4853227" y="5817060"/>
            <a:ext cx="122441" cy="12300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Csoportba foglalás 6"/>
          <p:cNvGrpSpPr/>
          <p:nvPr/>
        </p:nvGrpSpPr>
        <p:grpSpPr>
          <a:xfrm>
            <a:off x="1016000" y="4997131"/>
            <a:ext cx="6622704" cy="1410232"/>
            <a:chOff x="1016000" y="4997131"/>
            <a:chExt cx="6622704" cy="1410232"/>
          </a:xfrm>
        </p:grpSpPr>
        <p:sp>
          <p:nvSpPr>
            <p:cNvPr id="9" name="Ellipszis 8"/>
            <p:cNvSpPr/>
            <p:nvPr/>
          </p:nvSpPr>
          <p:spPr>
            <a:xfrm>
              <a:off x="4111452" y="4997308"/>
              <a:ext cx="914400" cy="9144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" name="Ellipszis 9"/>
            <p:cNvSpPr/>
            <p:nvPr/>
          </p:nvSpPr>
          <p:spPr>
            <a:xfrm>
              <a:off x="6724304" y="4997131"/>
              <a:ext cx="914400" cy="9144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" name="Ellipszis 10"/>
            <p:cNvSpPr/>
            <p:nvPr/>
          </p:nvSpPr>
          <p:spPr>
            <a:xfrm>
              <a:off x="1498600" y="4997131"/>
              <a:ext cx="914400" cy="9144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2" name="Egyenes összekötő nyíllal 11"/>
            <p:cNvCxnSpPr/>
            <p:nvPr/>
          </p:nvCxnSpPr>
          <p:spPr>
            <a:xfrm>
              <a:off x="1016000" y="5454331"/>
              <a:ext cx="27031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Szövegdoboz 12"/>
            <p:cNvSpPr txBox="1"/>
            <p:nvPr/>
          </p:nvSpPr>
          <p:spPr>
            <a:xfrm>
              <a:off x="1736372" y="5233005"/>
              <a:ext cx="4854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000" dirty="0"/>
                <a:t>q0</a:t>
              </a:r>
            </a:p>
          </p:txBody>
        </p:sp>
        <p:sp>
          <p:nvSpPr>
            <p:cNvPr id="14" name="Szövegdoboz 13"/>
            <p:cNvSpPr txBox="1"/>
            <p:nvPr/>
          </p:nvSpPr>
          <p:spPr>
            <a:xfrm flipH="1">
              <a:off x="4335113" y="5232336"/>
              <a:ext cx="6105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000" dirty="0" smtClean="0"/>
                <a:t>q1</a:t>
              </a:r>
              <a:endParaRPr lang="hu-HU" sz="2000" dirty="0"/>
            </a:p>
          </p:txBody>
        </p:sp>
        <p:sp>
          <p:nvSpPr>
            <p:cNvPr id="15" name="Szövegdoboz 14"/>
            <p:cNvSpPr txBox="1"/>
            <p:nvPr/>
          </p:nvSpPr>
          <p:spPr>
            <a:xfrm>
              <a:off x="6938793" y="5234771"/>
              <a:ext cx="4854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000" dirty="0" smtClean="0"/>
                <a:t>q2</a:t>
              </a:r>
              <a:endParaRPr lang="hu-HU" sz="2000" dirty="0"/>
            </a:p>
          </p:txBody>
        </p:sp>
        <p:sp>
          <p:nvSpPr>
            <p:cNvPr id="16" name="Ellipszis 15"/>
            <p:cNvSpPr/>
            <p:nvPr/>
          </p:nvSpPr>
          <p:spPr>
            <a:xfrm>
              <a:off x="6830184" y="5135702"/>
              <a:ext cx="702640" cy="6660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8" name="Egyenes összekötő nyíllal 17"/>
            <p:cNvCxnSpPr>
              <a:stCxn id="11" idx="6"/>
            </p:cNvCxnSpPr>
            <p:nvPr/>
          </p:nvCxnSpPr>
          <p:spPr>
            <a:xfrm>
              <a:off x="2413000" y="5454331"/>
              <a:ext cx="15832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gyenes összekötő nyíllal 18"/>
            <p:cNvCxnSpPr/>
            <p:nvPr/>
          </p:nvCxnSpPr>
          <p:spPr>
            <a:xfrm>
              <a:off x="5141037" y="5454331"/>
              <a:ext cx="15832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Ív 20"/>
            <p:cNvSpPr/>
            <p:nvPr/>
          </p:nvSpPr>
          <p:spPr>
            <a:xfrm rot="12455027">
              <a:off x="4123077" y="5792918"/>
              <a:ext cx="1127435" cy="514290"/>
            </a:xfrm>
            <a:prstGeom prst="arc">
              <a:avLst>
                <a:gd name="adj1" fmla="val 8058026"/>
                <a:gd name="adj2" fmla="val 0"/>
              </a:avLst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5" name="Szövegdoboz 24"/>
            <p:cNvSpPr txBox="1"/>
            <p:nvPr/>
          </p:nvSpPr>
          <p:spPr>
            <a:xfrm>
              <a:off x="2879552" y="4997131"/>
              <a:ext cx="2935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 smtClean="0"/>
                <a:t>a</a:t>
              </a:r>
              <a:endParaRPr lang="hu-HU" dirty="0"/>
            </a:p>
          </p:txBody>
        </p:sp>
        <p:sp>
          <p:nvSpPr>
            <p:cNvPr id="26" name="Szövegdoboz 25"/>
            <p:cNvSpPr txBox="1"/>
            <p:nvPr/>
          </p:nvSpPr>
          <p:spPr>
            <a:xfrm>
              <a:off x="3908931" y="6038031"/>
              <a:ext cx="6597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 smtClean="0"/>
                <a:t>a, b</a:t>
              </a:r>
              <a:endParaRPr lang="hu-HU" dirty="0"/>
            </a:p>
          </p:txBody>
        </p:sp>
        <p:sp>
          <p:nvSpPr>
            <p:cNvPr id="27" name="Szövegdoboz 26"/>
            <p:cNvSpPr txBox="1"/>
            <p:nvPr/>
          </p:nvSpPr>
          <p:spPr>
            <a:xfrm>
              <a:off x="5696745" y="4997131"/>
              <a:ext cx="2935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3566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Közvetlen redukció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7333" y="1721224"/>
            <a:ext cx="9753599" cy="4531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800" dirty="0"/>
              <a:t>Legyen A = (Q, T</a:t>
            </a:r>
            <a:r>
              <a:rPr lang="hu-HU" sz="2800" dirty="0" smtClean="0"/>
              <a:t>,</a:t>
            </a:r>
            <a:r>
              <a:rPr lang="el-GR" sz="2800" dirty="0"/>
              <a:t> δ</a:t>
            </a:r>
            <a:r>
              <a:rPr lang="hu-HU" sz="2800" dirty="0" smtClean="0"/>
              <a:t>, Q</a:t>
            </a:r>
            <a:r>
              <a:rPr lang="hu-HU" sz="2800" baseline="-25000" dirty="0" smtClean="0"/>
              <a:t>0</a:t>
            </a:r>
            <a:r>
              <a:rPr lang="hu-HU" sz="2800" dirty="0"/>
              <a:t>, F) egy </a:t>
            </a:r>
            <a:r>
              <a:rPr lang="hu-HU" sz="2800" dirty="0" smtClean="0"/>
              <a:t>véges nemdeterminisztikus automata </a:t>
            </a:r>
            <a:r>
              <a:rPr lang="hu-HU" sz="2800" dirty="0"/>
              <a:t>é</a:t>
            </a:r>
            <a:r>
              <a:rPr lang="hu-HU" sz="2800" dirty="0" smtClean="0"/>
              <a:t>s legyenek </a:t>
            </a:r>
            <a:r>
              <a:rPr lang="hu-HU" sz="2800" b="1" dirty="0" smtClean="0"/>
              <a:t>u</a:t>
            </a:r>
            <a:r>
              <a:rPr lang="hu-HU" sz="2800" b="1" dirty="0"/>
              <a:t>, v ∈ </a:t>
            </a:r>
            <a:r>
              <a:rPr lang="hu-HU" sz="2800" b="1" dirty="0" smtClean="0"/>
              <a:t>QT* </a:t>
            </a:r>
            <a:r>
              <a:rPr lang="hu-HU" sz="2800" dirty="0" smtClean="0"/>
              <a:t>.  </a:t>
            </a:r>
            <a:br>
              <a:rPr lang="hu-HU" sz="2800" dirty="0" smtClean="0"/>
            </a:br>
            <a:r>
              <a:rPr lang="hu-HU" sz="2400" dirty="0" smtClean="0"/>
              <a:t>(Konfiguráció: aktuális állapot, input hátralévő része.)</a:t>
            </a:r>
            <a:endParaRPr lang="hu-HU" sz="2400" dirty="0"/>
          </a:p>
          <a:p>
            <a:pPr marL="0" indent="0">
              <a:buNone/>
            </a:pPr>
            <a:r>
              <a:rPr lang="hu-HU" sz="2800" dirty="0" smtClean="0"/>
              <a:t>Azt </a:t>
            </a:r>
            <a:r>
              <a:rPr lang="hu-HU" sz="2800" dirty="0"/>
              <a:t>mondjuk, hogy az A automata az u </a:t>
            </a:r>
            <a:r>
              <a:rPr lang="hu-HU" sz="2800" dirty="0" smtClean="0"/>
              <a:t>konfigurációt </a:t>
            </a:r>
            <a:r>
              <a:rPr lang="hu-HU" sz="2800" dirty="0"/>
              <a:t>a v </a:t>
            </a:r>
            <a:r>
              <a:rPr lang="hu-HU" sz="2800" dirty="0" smtClean="0"/>
              <a:t>konfigurációra reduk</a:t>
            </a:r>
            <a:r>
              <a:rPr lang="hu-HU" sz="2800" dirty="0"/>
              <a:t>á</a:t>
            </a:r>
            <a:r>
              <a:rPr lang="hu-HU" sz="2800" dirty="0" smtClean="0"/>
              <a:t>lja közvetlenül (jelölés: u ⇒</a:t>
            </a:r>
            <a:r>
              <a:rPr lang="hu-HU" sz="2800" baseline="-25000" dirty="0"/>
              <a:t>A</a:t>
            </a:r>
            <a:r>
              <a:rPr lang="hu-HU" sz="2800" dirty="0"/>
              <a:t> v), </a:t>
            </a:r>
            <a:r>
              <a:rPr lang="hu-HU" sz="2800" dirty="0" smtClean="0"/>
              <a:t/>
            </a:r>
            <a:br>
              <a:rPr lang="hu-HU" sz="2800" dirty="0" smtClean="0"/>
            </a:br>
            <a:r>
              <a:rPr lang="hu-HU" sz="2800" dirty="0" smtClean="0"/>
              <a:t>ha </a:t>
            </a:r>
            <a:r>
              <a:rPr lang="hu-HU" sz="2800" dirty="0"/>
              <a:t>van olyan </a:t>
            </a:r>
            <a:endParaRPr lang="hu-HU" sz="2800" dirty="0" smtClean="0"/>
          </a:p>
          <a:p>
            <a:pPr marL="0" indent="0">
              <a:buNone/>
            </a:pPr>
            <a:r>
              <a:rPr lang="hu-HU" sz="2800" dirty="0" err="1" smtClean="0"/>
              <a:t>qa</a:t>
            </a:r>
            <a:r>
              <a:rPr lang="hu-HU" sz="2800" dirty="0" smtClean="0"/>
              <a:t> </a:t>
            </a:r>
            <a:r>
              <a:rPr lang="hu-HU" sz="2800" dirty="0"/>
              <a:t>→ p </a:t>
            </a:r>
            <a:r>
              <a:rPr lang="hu-HU" sz="2800" dirty="0" smtClean="0"/>
              <a:t>szabály  </a:t>
            </a:r>
            <a:r>
              <a:rPr lang="hu-HU" sz="2800" dirty="0"/>
              <a:t>(</a:t>
            </a:r>
            <a:r>
              <a:rPr lang="hu-HU" sz="2800" dirty="0" smtClean="0"/>
              <a:t>azaz </a:t>
            </a:r>
            <a:r>
              <a:rPr lang="el-GR" sz="2800" dirty="0" smtClean="0"/>
              <a:t>δ</a:t>
            </a:r>
            <a:r>
              <a:rPr lang="hu-HU" sz="2800" dirty="0" smtClean="0"/>
              <a:t>(q</a:t>
            </a:r>
            <a:r>
              <a:rPr lang="hu-HU" sz="2800" dirty="0"/>
              <a:t>, a) = p) </a:t>
            </a:r>
            <a:r>
              <a:rPr lang="hu-HU" sz="2800" dirty="0" smtClean="0"/>
              <a:t>és </a:t>
            </a:r>
            <a:r>
              <a:rPr lang="hu-HU" sz="2800" dirty="0"/>
              <a:t>van olyan </a:t>
            </a:r>
            <a:r>
              <a:rPr lang="hu-HU" sz="2800" dirty="0" smtClean="0"/>
              <a:t>w </a:t>
            </a:r>
            <a:r>
              <a:rPr lang="hu-HU" sz="2800" dirty="0"/>
              <a:t>∈ </a:t>
            </a:r>
            <a:r>
              <a:rPr lang="hu-HU" sz="2800" dirty="0" smtClean="0"/>
              <a:t>T* sz</a:t>
            </a:r>
            <a:r>
              <a:rPr lang="hu-HU" sz="2800" dirty="0"/>
              <a:t>ó</a:t>
            </a:r>
            <a:r>
              <a:rPr lang="hu-HU" sz="2800" dirty="0" smtClean="0"/>
              <a:t>, </a:t>
            </a:r>
            <a:r>
              <a:rPr lang="hu-HU" sz="2800" dirty="0"/>
              <a:t>amelyre </a:t>
            </a:r>
            <a:endParaRPr lang="hu-HU" sz="2800" dirty="0" smtClean="0"/>
          </a:p>
          <a:p>
            <a:pPr marL="0" indent="0">
              <a:buNone/>
            </a:pPr>
            <a:r>
              <a:rPr lang="hu-HU" sz="2800" dirty="0" smtClean="0"/>
              <a:t>u </a:t>
            </a:r>
            <a:r>
              <a:rPr lang="hu-HU" sz="2800" dirty="0"/>
              <a:t>= </a:t>
            </a:r>
            <a:r>
              <a:rPr lang="hu-HU" sz="2800" dirty="0" err="1" smtClean="0"/>
              <a:t>qaw</a:t>
            </a:r>
            <a:r>
              <a:rPr lang="hu-HU" sz="2800" dirty="0" smtClean="0"/>
              <a:t> és  </a:t>
            </a:r>
            <a:r>
              <a:rPr lang="hu-HU" sz="2800" dirty="0"/>
              <a:t>v = </a:t>
            </a:r>
            <a:r>
              <a:rPr lang="hu-HU" sz="2800" dirty="0" err="1"/>
              <a:t>pw</a:t>
            </a:r>
            <a:r>
              <a:rPr lang="hu-HU" sz="2800" dirty="0"/>
              <a:t> </a:t>
            </a:r>
            <a:r>
              <a:rPr lang="hu-HU" sz="2800" dirty="0" smtClean="0"/>
              <a:t>teljesül</a:t>
            </a:r>
            <a:r>
              <a:rPr lang="hu-HU" sz="2800" dirty="0"/>
              <a:t>.</a:t>
            </a: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793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Redukció</a:t>
            </a: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677333" y="2160589"/>
                <a:ext cx="10329333" cy="388077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hu-HU" sz="3200" b="1" u="sng" dirty="0" smtClean="0"/>
                  <a:t>Definíció:</a:t>
                </a:r>
                <a:endParaRPr lang="hu-HU" sz="3200" b="1" u="sng" dirty="0"/>
              </a:p>
              <a:p>
                <a:pPr marL="0" indent="0">
                  <a:buNone/>
                </a:pPr>
                <a:r>
                  <a:rPr lang="hu-HU" sz="3200" dirty="0"/>
                  <a:t>Az A = (Q, T, </a:t>
                </a:r>
                <a:r>
                  <a:rPr lang="el-GR" sz="3200" dirty="0" smtClean="0"/>
                  <a:t>δ</a:t>
                </a:r>
                <a:r>
                  <a:rPr lang="hu-HU" sz="3200" dirty="0" smtClean="0"/>
                  <a:t>,Q</a:t>
                </a:r>
                <a:r>
                  <a:rPr lang="hu-HU" sz="3200" baseline="-25000" dirty="0" smtClean="0"/>
                  <a:t>0</a:t>
                </a:r>
                <a:r>
                  <a:rPr lang="hu-HU" sz="3200" dirty="0" smtClean="0"/>
                  <a:t>, </a:t>
                </a:r>
                <a:r>
                  <a:rPr lang="hu-HU" sz="3200" dirty="0"/>
                  <a:t>F) </a:t>
                </a:r>
                <a:r>
                  <a:rPr lang="hu-HU" sz="3200" dirty="0" smtClean="0"/>
                  <a:t>véges </a:t>
                </a:r>
                <a:r>
                  <a:rPr lang="hu-HU" sz="3200" dirty="0"/>
                  <a:t>automata az </a:t>
                </a:r>
                <a:endParaRPr lang="hu-HU" sz="3200" dirty="0" smtClean="0"/>
              </a:p>
              <a:p>
                <a:pPr marL="0" indent="0">
                  <a:buNone/>
                </a:pPr>
                <a:r>
                  <a:rPr lang="hu-HU" sz="3200" dirty="0" smtClean="0"/>
                  <a:t>u </a:t>
                </a:r>
                <a:r>
                  <a:rPr lang="hu-HU" sz="3200" dirty="0"/>
                  <a:t>∈ </a:t>
                </a:r>
                <a:r>
                  <a:rPr lang="hu-HU" sz="3200" dirty="0" smtClean="0"/>
                  <a:t>QT* konfigurációt </a:t>
                </a:r>
                <a:r>
                  <a:rPr lang="hu-HU" sz="3200" dirty="0"/>
                  <a:t>a </a:t>
                </a:r>
                <a:r>
                  <a:rPr lang="hu-HU" sz="3200" dirty="0" smtClean="0"/>
                  <a:t>v </a:t>
                </a:r>
                <a:r>
                  <a:rPr lang="hu-HU" sz="3200" dirty="0"/>
                  <a:t>∈ </a:t>
                </a:r>
                <a:r>
                  <a:rPr lang="hu-HU" sz="3200" dirty="0" smtClean="0"/>
                  <a:t>QT* konfigurációra reduk</a:t>
                </a:r>
                <a:r>
                  <a:rPr lang="hu-HU" sz="3200" dirty="0"/>
                  <a:t>á</a:t>
                </a:r>
                <a:r>
                  <a:rPr lang="hu-HU" sz="3200" dirty="0" smtClean="0"/>
                  <a:t>lja (jelölés: u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3200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1"/>
                          </m:rPr>
                          <a:rPr lang="hu-HU" sz="3200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groupChr>
                  </m:oMath>
                </a14:m>
                <a:r>
                  <a:rPr lang="hu-HU" sz="3200" dirty="0" smtClean="0"/>
                  <a:t>*</a:t>
                </a:r>
                <a:r>
                  <a:rPr lang="hu-HU" sz="3200" baseline="-25000" dirty="0" smtClean="0"/>
                  <a:t> </a:t>
                </a:r>
                <a:r>
                  <a:rPr lang="es-ES" sz="3200" dirty="0" smtClean="0"/>
                  <a:t>v</a:t>
                </a:r>
                <a:r>
                  <a:rPr lang="es-ES" sz="3200" dirty="0"/>
                  <a:t>), </a:t>
                </a:r>
                <a:r>
                  <a:rPr lang="hu-HU" sz="3200" dirty="0" smtClean="0"/>
                  <a:t/>
                </a:r>
                <a:br>
                  <a:rPr lang="hu-HU" sz="3200" dirty="0" smtClean="0"/>
                </a:br>
                <a:r>
                  <a:rPr lang="es-ES" sz="3200" dirty="0" smtClean="0"/>
                  <a:t>ha </a:t>
                </a:r>
                <a:r>
                  <a:rPr lang="es-ES" sz="3200" dirty="0"/>
                  <a:t>vagy u = v, vagy van olyan </a:t>
                </a:r>
                <a:endParaRPr lang="hu-HU" sz="3200" dirty="0" smtClean="0"/>
              </a:p>
              <a:p>
                <a:pPr marL="0" indent="0">
                  <a:buNone/>
                </a:pPr>
                <a:r>
                  <a:rPr lang="es-ES" sz="3200" dirty="0" smtClean="0"/>
                  <a:t>z </a:t>
                </a:r>
                <a:r>
                  <a:rPr lang="es-ES" sz="3200" dirty="0"/>
                  <a:t>∈ </a:t>
                </a:r>
                <a:r>
                  <a:rPr lang="es-ES" sz="3200" dirty="0" smtClean="0"/>
                  <a:t>QT</a:t>
                </a:r>
                <a:r>
                  <a:rPr lang="hu-HU" sz="3200" dirty="0" smtClean="0"/>
                  <a:t>*</a:t>
                </a:r>
                <a:r>
                  <a:rPr lang="es-ES" sz="3200" dirty="0" smtClean="0"/>
                  <a:t>,</a:t>
                </a:r>
                <a:r>
                  <a:rPr lang="hu-HU" sz="3200" dirty="0"/>
                  <a:t> </a:t>
                </a:r>
                <a:r>
                  <a:rPr lang="hu-HU" sz="3200" dirty="0" smtClean="0"/>
                  <a:t>amelyre </a:t>
                </a:r>
                <a:r>
                  <a:rPr lang="hu-HU" sz="3200" dirty="0"/>
                  <a:t>u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32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1"/>
                          </m:rPr>
                          <a:rPr lang="hu-HU" sz="3200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groupChr>
                  </m:oMath>
                </a14:m>
                <a:r>
                  <a:rPr lang="hu-HU" sz="3200" dirty="0"/>
                  <a:t>*</a:t>
                </a:r>
                <a:r>
                  <a:rPr lang="hu-HU" sz="3200" baseline="-25000" dirty="0"/>
                  <a:t> </a:t>
                </a:r>
                <a:r>
                  <a:rPr lang="pl-PL" sz="3200" dirty="0" smtClean="0"/>
                  <a:t>z  és </a:t>
                </a:r>
                <a:r>
                  <a:rPr lang="pl-PL" sz="3200" dirty="0"/>
                  <a:t>z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32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1"/>
                          </m:rPr>
                          <a:rPr lang="hu-HU" sz="3200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groupChr>
                  </m:oMath>
                </a14:m>
                <a:r>
                  <a:rPr lang="pl-PL" sz="3200" dirty="0"/>
                  <a:t> v </a:t>
                </a:r>
                <a:r>
                  <a:rPr lang="pl-PL" sz="3200" dirty="0" smtClean="0"/>
                  <a:t>teljesül.</a:t>
                </a:r>
                <a:endParaRPr lang="pl-PL" sz="3200" dirty="0"/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3" y="2160589"/>
                <a:ext cx="10329333" cy="3880773"/>
              </a:xfrm>
              <a:blipFill rotWithShape="1">
                <a:blip r:embed="rId2"/>
                <a:stretch>
                  <a:fillRect l="-1475" t="-2041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568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Automata által elfogadott nyelv</a:t>
            </a: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2160589"/>
                <a:ext cx="8596668" cy="469741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hu-HU" sz="3200" b="1" u="sng" dirty="0" smtClean="0"/>
                  <a:t>Definíció:</a:t>
                </a:r>
              </a:p>
              <a:p>
                <a:pPr marL="0" indent="0">
                  <a:buNone/>
                </a:pPr>
                <a:r>
                  <a:rPr lang="hu-HU" sz="3200" dirty="0" smtClean="0"/>
                  <a:t>Az </a:t>
                </a:r>
                <a:r>
                  <a:rPr lang="hu-HU" sz="3200" dirty="0"/>
                  <a:t>A = (Q, </a:t>
                </a:r>
                <a:r>
                  <a:rPr lang="hu-HU" sz="3200" dirty="0" smtClean="0"/>
                  <a:t>T, </a:t>
                </a:r>
                <a:r>
                  <a:rPr lang="el-GR" sz="3200" dirty="0" smtClean="0"/>
                  <a:t>δ</a:t>
                </a:r>
                <a:r>
                  <a:rPr lang="hu-HU" sz="3200" dirty="0" smtClean="0"/>
                  <a:t>,Q</a:t>
                </a:r>
                <a:r>
                  <a:rPr lang="hu-HU" sz="3200" baseline="-25000" dirty="0" smtClean="0"/>
                  <a:t>0</a:t>
                </a:r>
                <a:r>
                  <a:rPr lang="hu-HU" sz="3200" dirty="0"/>
                  <a:t>, F) </a:t>
                </a:r>
                <a:r>
                  <a:rPr lang="hu-HU" sz="3200" dirty="0" smtClean="0"/>
                  <a:t>véges </a:t>
                </a:r>
                <a:r>
                  <a:rPr lang="hu-HU" sz="3200" dirty="0"/>
                  <a:t>automata á</a:t>
                </a:r>
                <a:r>
                  <a:rPr lang="hu-HU" sz="3200" dirty="0" smtClean="0"/>
                  <a:t>ltal </a:t>
                </a:r>
                <a:r>
                  <a:rPr lang="hu-HU" sz="3200" dirty="0"/>
                  <a:t>elfogadott nyelv alatt az</a:t>
                </a:r>
              </a:p>
              <a:p>
                <a:pPr marL="0" indent="0">
                  <a:buNone/>
                </a:pPr>
                <a:r>
                  <a:rPr lang="hu-HU" sz="3200" dirty="0"/>
                  <a:t>L(A) </a:t>
                </a:r>
                <a:r>
                  <a:rPr lang="hu-HU" sz="3200" dirty="0" smtClean="0"/>
                  <a:t>:= </a:t>
                </a:r>
                <a:r>
                  <a:rPr lang="hu-HU" sz="3200" dirty="0"/>
                  <a:t>{u ∈ </a:t>
                </a:r>
                <a:r>
                  <a:rPr lang="hu-HU" sz="3200" dirty="0" smtClean="0"/>
                  <a:t>T*|</a:t>
                </a:r>
                <a:r>
                  <a:rPr lang="hu-HU" sz="3200" dirty="0" smtClean="0">
                    <a:sym typeface="Symbol" panose="05050102010706020507" pitchFamily="18" charset="2"/>
                  </a:rPr>
                  <a:t></a:t>
                </a:r>
                <a:r>
                  <a:rPr lang="hu-HU" sz="3200" dirty="0" smtClean="0"/>
                  <a:t>q</a:t>
                </a:r>
                <a:r>
                  <a:rPr lang="hu-HU" sz="3200" baseline="-25000" dirty="0" smtClean="0"/>
                  <a:t>0</a:t>
                </a:r>
                <a:r>
                  <a:rPr lang="hu-HU" sz="3200" dirty="0" smtClean="0"/>
                  <a:t>u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32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1"/>
                          </m:rPr>
                          <a:rPr lang="hu-HU" sz="3200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groupChr>
                  </m:oMath>
                </a14:m>
                <a:r>
                  <a:rPr lang="hu-HU" sz="3200" dirty="0"/>
                  <a:t>*</a:t>
                </a:r>
                <a:r>
                  <a:rPr lang="hu-HU" sz="3200" baseline="-25000" dirty="0" smtClean="0"/>
                  <a:t> </a:t>
                </a:r>
                <a:r>
                  <a:rPr lang="hu-HU" sz="3200" dirty="0" smtClean="0"/>
                  <a:t>p, </a:t>
                </a:r>
                <a:r>
                  <a:rPr lang="es-ES" sz="3200" dirty="0" smtClean="0"/>
                  <a:t> </a:t>
                </a:r>
                <a:r>
                  <a:rPr lang="es-ES" sz="3200" dirty="0"/>
                  <a:t>q</a:t>
                </a:r>
                <a:r>
                  <a:rPr lang="es-ES" sz="3200" baseline="-25000" dirty="0"/>
                  <a:t>0</a:t>
                </a:r>
                <a:r>
                  <a:rPr lang="es-ES" sz="3200" dirty="0"/>
                  <a:t> ∈ </a:t>
                </a:r>
                <a:r>
                  <a:rPr lang="es-ES" sz="3200" dirty="0" smtClean="0"/>
                  <a:t>Q</a:t>
                </a:r>
                <a:r>
                  <a:rPr lang="hu-HU" sz="3200" baseline="-25000" dirty="0" smtClean="0"/>
                  <a:t>0</a:t>
                </a:r>
                <a:r>
                  <a:rPr lang="hu-HU" sz="3200" dirty="0"/>
                  <a:t> </a:t>
                </a:r>
                <a:r>
                  <a:rPr lang="hu-HU" sz="3200" dirty="0" smtClean="0"/>
                  <a:t>és</a:t>
                </a:r>
                <a:r>
                  <a:rPr lang="es-ES" sz="3200" dirty="0" smtClean="0"/>
                  <a:t> </a:t>
                </a:r>
                <a:r>
                  <a:rPr lang="es-ES" sz="3200" dirty="0"/>
                  <a:t>p ∈ F}</a:t>
                </a:r>
              </a:p>
              <a:p>
                <a:pPr marL="0" indent="0">
                  <a:buNone/>
                </a:pPr>
                <a:r>
                  <a:rPr lang="hu-HU" sz="3200" dirty="0"/>
                  <a:t>szavak </a:t>
                </a:r>
                <a:r>
                  <a:rPr lang="hu-HU" sz="3200" dirty="0" smtClean="0"/>
                  <a:t>halmazát értjük.</a:t>
                </a:r>
              </a:p>
              <a:p>
                <a:pPr marL="0" indent="0">
                  <a:buNone/>
                </a:pPr>
                <a:endParaRPr lang="hu-HU" sz="3200" dirty="0"/>
              </a:p>
              <a:p>
                <a:pPr marL="0" indent="0">
                  <a:buNone/>
                </a:pPr>
                <a:r>
                  <a:rPr lang="hu-HU" sz="2600" dirty="0" smtClean="0"/>
                  <a:t>Megjegyzés: Ez azt jelenti, hogy van olyan működése az automatának, hogy egy kezdőállapotból indulva és végig olvasva az inputot elfogadóállapotba jut.</a:t>
                </a:r>
                <a:endParaRPr lang="hu-HU" sz="2600" dirty="0"/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2160589"/>
                <a:ext cx="8596668" cy="4697411"/>
              </a:xfrm>
              <a:blipFill rotWithShape="1">
                <a:blip r:embed="rId2"/>
                <a:stretch>
                  <a:fillRect l="-1773" t="-2724" r="-1844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911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Példa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7334" y="1388533"/>
            <a:ext cx="8596668" cy="518982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sz="3600" dirty="0"/>
              <a:t>A = </a:t>
            </a:r>
            <a:r>
              <a:rPr lang="fr-FR" sz="3600" dirty="0" smtClean="0"/>
              <a:t>(</a:t>
            </a:r>
            <a:r>
              <a:rPr lang="hu-HU" sz="3600" dirty="0"/>
              <a:t>{q</a:t>
            </a:r>
            <a:r>
              <a:rPr lang="hu-HU" sz="3600" baseline="-25000" dirty="0"/>
              <a:t>0</a:t>
            </a:r>
            <a:r>
              <a:rPr lang="hu-HU" sz="3600" dirty="0"/>
              <a:t>, q</a:t>
            </a:r>
            <a:r>
              <a:rPr lang="hu-HU" sz="3600" baseline="-25000" dirty="0"/>
              <a:t>1</a:t>
            </a:r>
            <a:r>
              <a:rPr lang="hu-HU" sz="3600" dirty="0"/>
              <a:t>, q</a:t>
            </a:r>
            <a:r>
              <a:rPr lang="hu-HU" sz="3600" baseline="-25000" dirty="0"/>
              <a:t>2</a:t>
            </a:r>
            <a:r>
              <a:rPr lang="hu-HU" sz="3600" dirty="0"/>
              <a:t>}, </a:t>
            </a:r>
            <a:r>
              <a:rPr lang="hu-HU" sz="3600" dirty="0" smtClean="0"/>
              <a:t>{</a:t>
            </a:r>
            <a:r>
              <a:rPr lang="hu-HU" sz="3600" dirty="0"/>
              <a:t>a, b}, </a:t>
            </a:r>
            <a:r>
              <a:rPr lang="el-GR" sz="3600" dirty="0" smtClean="0"/>
              <a:t>δ</a:t>
            </a:r>
            <a:r>
              <a:rPr lang="fr-FR" sz="3600" dirty="0"/>
              <a:t>, </a:t>
            </a:r>
            <a:r>
              <a:rPr lang="hu-HU" sz="3600" dirty="0"/>
              <a:t>{q</a:t>
            </a:r>
            <a:r>
              <a:rPr lang="hu-HU" sz="3600" baseline="-25000" dirty="0"/>
              <a:t>0</a:t>
            </a:r>
            <a:r>
              <a:rPr lang="hu-HU" sz="3600" dirty="0"/>
              <a:t>}</a:t>
            </a:r>
            <a:r>
              <a:rPr lang="fr-FR" sz="3600" dirty="0" smtClean="0"/>
              <a:t>, </a:t>
            </a:r>
            <a:r>
              <a:rPr lang="hu-HU" sz="3600" dirty="0"/>
              <a:t>{q</a:t>
            </a:r>
            <a:r>
              <a:rPr lang="hu-HU" sz="3600" baseline="-25000" dirty="0"/>
              <a:t>2</a:t>
            </a:r>
            <a:r>
              <a:rPr lang="hu-HU" sz="3600" dirty="0"/>
              <a:t>} </a:t>
            </a:r>
            <a:r>
              <a:rPr lang="fr-FR" sz="3600" dirty="0" smtClean="0"/>
              <a:t>)</a:t>
            </a:r>
            <a:endParaRPr lang="hu-HU" sz="3600" dirty="0" smtClean="0"/>
          </a:p>
          <a:p>
            <a:pPr marL="0" indent="0">
              <a:buNone/>
            </a:pPr>
            <a:r>
              <a:rPr lang="el-GR" sz="3600" dirty="0" smtClean="0"/>
              <a:t>δ</a:t>
            </a:r>
            <a:r>
              <a:rPr lang="hu-HU" sz="3600" dirty="0" smtClean="0"/>
              <a:t>: q</a:t>
            </a:r>
            <a:r>
              <a:rPr lang="hu-HU" sz="3600" baseline="-25000" dirty="0" smtClean="0"/>
              <a:t>0</a:t>
            </a:r>
            <a:r>
              <a:rPr lang="hu-HU" sz="3600" dirty="0" smtClean="0"/>
              <a:t>a</a:t>
            </a:r>
            <a:r>
              <a:rPr lang="hu-H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hu-HU" sz="3600" dirty="0" smtClean="0"/>
              <a:t>q</a:t>
            </a:r>
            <a:r>
              <a:rPr lang="hu-HU" sz="3600" baseline="-25000" dirty="0" smtClean="0"/>
              <a:t>1,</a:t>
            </a:r>
            <a:r>
              <a:rPr lang="hu-HU" sz="3600" dirty="0"/>
              <a:t> </a:t>
            </a:r>
            <a:r>
              <a:rPr lang="hu-HU" sz="3600" dirty="0" smtClean="0"/>
              <a:t>q</a:t>
            </a:r>
            <a:r>
              <a:rPr lang="hu-HU" sz="3600" baseline="-25000" dirty="0" smtClean="0"/>
              <a:t>1</a:t>
            </a:r>
            <a:r>
              <a:rPr lang="hu-HU" sz="3600" dirty="0" smtClean="0"/>
              <a:t>a</a:t>
            </a:r>
            <a:r>
              <a:rPr lang="hu-H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hu-HU" sz="3600" dirty="0" smtClean="0"/>
              <a:t>q</a:t>
            </a:r>
            <a:r>
              <a:rPr lang="hu-HU" sz="3600" baseline="-25000" dirty="0" smtClean="0"/>
              <a:t>1, </a:t>
            </a:r>
            <a:r>
              <a:rPr lang="hu-HU" sz="3600" dirty="0" smtClean="0">
                <a:solidFill>
                  <a:srgbClr val="FF0000"/>
                </a:solidFill>
              </a:rPr>
              <a:t>q</a:t>
            </a:r>
            <a:r>
              <a:rPr lang="hu-HU" sz="3600" baseline="-25000" dirty="0" smtClean="0">
                <a:solidFill>
                  <a:srgbClr val="FF0000"/>
                </a:solidFill>
              </a:rPr>
              <a:t>1</a:t>
            </a:r>
            <a:r>
              <a:rPr lang="hu-HU" sz="3600" dirty="0" smtClean="0">
                <a:solidFill>
                  <a:srgbClr val="FF0000"/>
                </a:solidFill>
              </a:rPr>
              <a:t>b</a:t>
            </a:r>
            <a:r>
              <a:rPr lang="hu-HU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hu-HU" sz="3600" dirty="0">
                <a:solidFill>
                  <a:srgbClr val="FF0000"/>
                </a:solidFill>
              </a:rPr>
              <a:t>q</a:t>
            </a:r>
            <a:r>
              <a:rPr lang="hu-HU" sz="3600" baseline="-25000" dirty="0">
                <a:solidFill>
                  <a:srgbClr val="FF0000"/>
                </a:solidFill>
              </a:rPr>
              <a:t>1</a:t>
            </a:r>
            <a:r>
              <a:rPr lang="hu-HU" sz="3600" baseline="-25000" dirty="0" smtClean="0">
                <a:solidFill>
                  <a:srgbClr val="FF0000"/>
                </a:solidFill>
              </a:rPr>
              <a:t>,</a:t>
            </a:r>
            <a:r>
              <a:rPr lang="hu-HU" sz="3600" dirty="0">
                <a:solidFill>
                  <a:srgbClr val="FF0000"/>
                </a:solidFill>
              </a:rPr>
              <a:t> q</a:t>
            </a:r>
            <a:r>
              <a:rPr lang="hu-HU" sz="3600" baseline="-25000" dirty="0">
                <a:solidFill>
                  <a:srgbClr val="FF0000"/>
                </a:solidFill>
              </a:rPr>
              <a:t>1</a:t>
            </a:r>
            <a:r>
              <a:rPr lang="hu-HU" sz="3600" dirty="0">
                <a:solidFill>
                  <a:srgbClr val="FF0000"/>
                </a:solidFill>
              </a:rPr>
              <a:t>b</a:t>
            </a:r>
            <a:r>
              <a:rPr lang="hu-HU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hu-HU" sz="3600" dirty="0" smtClean="0">
                <a:solidFill>
                  <a:srgbClr val="FF0000"/>
                </a:solidFill>
              </a:rPr>
              <a:t>q</a:t>
            </a:r>
            <a:r>
              <a:rPr lang="hu-HU" sz="3600" baseline="-25000" dirty="0" smtClean="0">
                <a:solidFill>
                  <a:srgbClr val="FF0000"/>
                </a:solidFill>
              </a:rPr>
              <a:t>2</a:t>
            </a:r>
            <a:endParaRPr lang="hu-HU" sz="36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hu-HU" sz="3600" dirty="0" smtClean="0"/>
          </a:p>
          <a:p>
            <a:pPr marL="0" indent="0">
              <a:buNone/>
            </a:pPr>
            <a:r>
              <a:rPr lang="hu-HU" sz="3600" b="1" dirty="0" smtClean="0"/>
              <a:t>Redukálás:   </a:t>
            </a:r>
          </a:p>
          <a:p>
            <a:pPr marL="0" indent="0">
              <a:buNone/>
            </a:pPr>
            <a:r>
              <a:rPr lang="hu-HU" sz="2600" dirty="0" smtClean="0"/>
              <a:t>Kérdés: </a:t>
            </a:r>
            <a:r>
              <a:rPr lang="hu-HU" sz="3600" dirty="0" err="1" smtClean="0"/>
              <a:t>aabb</a:t>
            </a:r>
            <a:r>
              <a:rPr lang="hu-HU" sz="3600" dirty="0" smtClean="0"/>
              <a:t> </a:t>
            </a:r>
            <a:r>
              <a:rPr lang="es-ES" sz="3600" dirty="0" smtClean="0"/>
              <a:t>∈</a:t>
            </a:r>
            <a:r>
              <a:rPr lang="hu-HU" sz="3600" dirty="0" smtClean="0"/>
              <a:t> L(A)?</a:t>
            </a:r>
          </a:p>
          <a:p>
            <a:pPr marL="0" indent="0">
              <a:buNone/>
            </a:pPr>
            <a:r>
              <a:rPr lang="hu-HU" sz="2600" dirty="0" smtClean="0"/>
              <a:t>Első próbálkozás:</a:t>
            </a:r>
          </a:p>
          <a:p>
            <a:pPr marL="0" indent="0">
              <a:buNone/>
            </a:pPr>
            <a:r>
              <a:rPr lang="hu-HU" sz="3600" dirty="0" smtClean="0"/>
              <a:t>q</a:t>
            </a:r>
            <a:r>
              <a:rPr lang="hu-HU" sz="3600" baseline="-25000" dirty="0" smtClean="0"/>
              <a:t>0</a:t>
            </a:r>
            <a:r>
              <a:rPr lang="hu-HU" sz="3600" dirty="0" smtClean="0"/>
              <a:t>aabb ⇒ q</a:t>
            </a:r>
            <a:r>
              <a:rPr lang="hu-HU" sz="3600" baseline="-25000" dirty="0" smtClean="0"/>
              <a:t>1</a:t>
            </a:r>
            <a:r>
              <a:rPr lang="hu-HU" sz="3600" dirty="0" smtClean="0"/>
              <a:t>abb </a:t>
            </a:r>
            <a:r>
              <a:rPr lang="hu-HU" sz="3600" dirty="0"/>
              <a:t>⇒ </a:t>
            </a:r>
            <a:r>
              <a:rPr lang="hu-HU" sz="3600" dirty="0" smtClean="0"/>
              <a:t>q</a:t>
            </a:r>
            <a:r>
              <a:rPr lang="hu-HU" sz="3600" baseline="-25000" dirty="0" smtClean="0"/>
              <a:t>1</a:t>
            </a:r>
            <a:r>
              <a:rPr lang="hu-HU" sz="3600" dirty="0" smtClean="0"/>
              <a:t>bb </a:t>
            </a:r>
            <a:r>
              <a:rPr lang="hu-HU" sz="3600" dirty="0"/>
              <a:t>⇒ </a:t>
            </a:r>
            <a:r>
              <a:rPr lang="hu-HU" sz="3600" dirty="0" smtClean="0"/>
              <a:t>q</a:t>
            </a:r>
            <a:r>
              <a:rPr lang="hu-HU" sz="3600" baseline="-25000" dirty="0" smtClean="0"/>
              <a:t>1</a:t>
            </a:r>
            <a:r>
              <a:rPr lang="hu-HU" sz="3600" dirty="0" smtClean="0"/>
              <a:t>b </a:t>
            </a:r>
            <a:r>
              <a:rPr lang="hu-HU" sz="3600" dirty="0"/>
              <a:t>⇒ </a:t>
            </a:r>
            <a:r>
              <a:rPr lang="hu-HU" sz="3600" dirty="0" smtClean="0"/>
              <a:t>q</a:t>
            </a:r>
            <a:r>
              <a:rPr lang="hu-HU" sz="3600" baseline="-25000" dirty="0" smtClean="0"/>
              <a:t>1    		</a:t>
            </a:r>
            <a:r>
              <a:rPr lang="hu-HU" sz="3600" dirty="0" smtClean="0"/>
              <a:t>q</a:t>
            </a:r>
            <a:r>
              <a:rPr lang="hu-HU" sz="3600" baseline="-25000" dirty="0" smtClean="0"/>
              <a:t>1</a:t>
            </a:r>
            <a:r>
              <a:rPr lang="hu-HU" sz="3600" dirty="0" smtClean="0">
                <a:sym typeface="Symbol" panose="05050102010706020507" pitchFamily="18" charset="2"/>
              </a:rPr>
              <a:t>F</a:t>
            </a:r>
            <a:endParaRPr lang="hu-HU" sz="3600" dirty="0" smtClean="0"/>
          </a:p>
          <a:p>
            <a:pPr marL="0" indent="0">
              <a:buNone/>
            </a:pPr>
            <a:endParaRPr lang="hu-HU" sz="3600" baseline="-25000" dirty="0" smtClean="0"/>
          </a:p>
          <a:p>
            <a:pPr marL="0" indent="0">
              <a:buNone/>
            </a:pPr>
            <a:r>
              <a:rPr lang="hu-HU" sz="2600" dirty="0" smtClean="0"/>
              <a:t>Második </a:t>
            </a:r>
            <a:r>
              <a:rPr lang="hu-HU" sz="2600" dirty="0"/>
              <a:t>próbálkozás:</a:t>
            </a:r>
          </a:p>
          <a:p>
            <a:pPr marL="0" indent="0">
              <a:buNone/>
            </a:pPr>
            <a:r>
              <a:rPr lang="hu-HU" sz="3600" dirty="0" smtClean="0"/>
              <a:t>q</a:t>
            </a:r>
            <a:r>
              <a:rPr lang="hu-HU" sz="3600" baseline="-25000" dirty="0" smtClean="0"/>
              <a:t>0</a:t>
            </a:r>
            <a:r>
              <a:rPr lang="hu-HU" sz="3600" dirty="0" smtClean="0"/>
              <a:t>aabb </a:t>
            </a:r>
            <a:r>
              <a:rPr lang="hu-HU" sz="3600" dirty="0"/>
              <a:t>⇒ q</a:t>
            </a:r>
            <a:r>
              <a:rPr lang="hu-HU" sz="3600" baseline="-25000" dirty="0"/>
              <a:t>1</a:t>
            </a:r>
            <a:r>
              <a:rPr lang="hu-HU" sz="3600" dirty="0"/>
              <a:t>abb ⇒ q</a:t>
            </a:r>
            <a:r>
              <a:rPr lang="hu-HU" sz="3600" baseline="-25000" dirty="0"/>
              <a:t>1</a:t>
            </a:r>
            <a:r>
              <a:rPr lang="hu-HU" sz="3600" dirty="0"/>
              <a:t>bb ⇒ q</a:t>
            </a:r>
            <a:r>
              <a:rPr lang="hu-HU" sz="3600" baseline="-25000" dirty="0"/>
              <a:t>1</a:t>
            </a:r>
            <a:r>
              <a:rPr lang="hu-HU" sz="3600" dirty="0"/>
              <a:t>b ⇒ </a:t>
            </a:r>
            <a:r>
              <a:rPr lang="hu-HU" sz="3600" dirty="0" smtClean="0"/>
              <a:t>q</a:t>
            </a:r>
            <a:r>
              <a:rPr lang="hu-HU" sz="3600" baseline="-25000" dirty="0" smtClean="0"/>
              <a:t>2   		</a:t>
            </a:r>
            <a:r>
              <a:rPr lang="hu-HU" sz="3600" dirty="0" smtClean="0"/>
              <a:t>q</a:t>
            </a:r>
            <a:r>
              <a:rPr lang="hu-HU" sz="3600" baseline="-25000" dirty="0" smtClean="0"/>
              <a:t>2</a:t>
            </a:r>
            <a:r>
              <a:rPr lang="hu-HU" sz="3600" dirty="0" smtClean="0"/>
              <a:t> </a:t>
            </a:r>
            <a:r>
              <a:rPr lang="es-ES" sz="3600" dirty="0"/>
              <a:t>∈ </a:t>
            </a:r>
            <a:r>
              <a:rPr lang="es-ES" sz="3600" dirty="0" smtClean="0"/>
              <a:t>F</a:t>
            </a:r>
            <a:r>
              <a:rPr lang="hu-HU" sz="3600" dirty="0" smtClean="0"/>
              <a:t>, </a:t>
            </a:r>
            <a:br>
              <a:rPr lang="hu-HU" sz="3600" dirty="0" smtClean="0"/>
            </a:br>
            <a:r>
              <a:rPr lang="hu-HU" sz="3600" dirty="0" smtClean="0"/>
              <a:t>											azaz az </a:t>
            </a:r>
            <a:r>
              <a:rPr lang="hu-HU" sz="3600" b="1" dirty="0" err="1" smtClean="0"/>
              <a:t>aabb</a:t>
            </a:r>
            <a:r>
              <a:rPr lang="hu-HU" sz="3600" dirty="0" smtClean="0"/>
              <a:t> jó szó.</a:t>
            </a:r>
          </a:p>
          <a:p>
            <a:pPr marL="0" indent="0">
              <a:buNone/>
            </a:pPr>
            <a:r>
              <a:rPr lang="hu-HU" sz="2900" dirty="0" smtClean="0"/>
              <a:t>Harmadik </a:t>
            </a:r>
            <a:r>
              <a:rPr lang="hu-HU" sz="2900" dirty="0"/>
              <a:t>próbálkozás</a:t>
            </a:r>
            <a:r>
              <a:rPr lang="hu-HU" sz="2900" dirty="0" smtClean="0"/>
              <a:t>:</a:t>
            </a:r>
          </a:p>
          <a:p>
            <a:pPr marL="0" indent="0">
              <a:buNone/>
            </a:pPr>
            <a:r>
              <a:rPr lang="hu-HU" sz="3200" dirty="0"/>
              <a:t>q</a:t>
            </a:r>
            <a:r>
              <a:rPr lang="hu-HU" sz="3200" baseline="-25000" dirty="0"/>
              <a:t>0</a:t>
            </a:r>
            <a:r>
              <a:rPr lang="hu-HU" sz="3200" dirty="0"/>
              <a:t>aabb ⇒ q</a:t>
            </a:r>
            <a:r>
              <a:rPr lang="hu-HU" sz="3200" baseline="-25000" dirty="0"/>
              <a:t>1</a:t>
            </a:r>
            <a:r>
              <a:rPr lang="hu-HU" sz="3200" dirty="0"/>
              <a:t>abb ⇒ q</a:t>
            </a:r>
            <a:r>
              <a:rPr lang="hu-HU" sz="3200" baseline="-25000" dirty="0"/>
              <a:t>1</a:t>
            </a:r>
            <a:r>
              <a:rPr lang="hu-HU" sz="3200" dirty="0"/>
              <a:t>bb ⇒ </a:t>
            </a:r>
            <a:r>
              <a:rPr lang="hu-HU" sz="3200" dirty="0" smtClean="0"/>
              <a:t>q</a:t>
            </a:r>
            <a:r>
              <a:rPr lang="hu-HU" sz="3200" baseline="-25000" dirty="0" smtClean="0"/>
              <a:t>2</a:t>
            </a:r>
            <a:r>
              <a:rPr lang="hu-HU" sz="3200" dirty="0" smtClean="0"/>
              <a:t>b 	Nem tudtuk végig olvasni a szót.</a:t>
            </a:r>
            <a:endParaRPr lang="hu-HU" sz="2900" dirty="0"/>
          </a:p>
          <a:p>
            <a:pPr marL="0" indent="0">
              <a:buNone/>
            </a:pPr>
            <a:endParaRPr lang="hu-HU" sz="3600" dirty="0"/>
          </a:p>
        </p:txBody>
      </p:sp>
      <p:grpSp>
        <p:nvGrpSpPr>
          <p:cNvPr id="15" name="Csoportba foglalás 14"/>
          <p:cNvGrpSpPr/>
          <p:nvPr/>
        </p:nvGrpSpPr>
        <p:grpSpPr>
          <a:xfrm>
            <a:off x="6888480" y="609600"/>
            <a:ext cx="4310743" cy="952819"/>
            <a:chOff x="1016000" y="4997131"/>
            <a:chExt cx="6622704" cy="1579823"/>
          </a:xfrm>
        </p:grpSpPr>
        <p:sp>
          <p:nvSpPr>
            <p:cNvPr id="16" name="Ellipszis 15"/>
            <p:cNvSpPr/>
            <p:nvPr/>
          </p:nvSpPr>
          <p:spPr>
            <a:xfrm>
              <a:off x="4111452" y="4997308"/>
              <a:ext cx="914400" cy="9144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" name="Ellipszis 16"/>
            <p:cNvSpPr/>
            <p:nvPr/>
          </p:nvSpPr>
          <p:spPr>
            <a:xfrm>
              <a:off x="6724304" y="4997131"/>
              <a:ext cx="914400" cy="9144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" name="Ellipszis 17"/>
            <p:cNvSpPr/>
            <p:nvPr/>
          </p:nvSpPr>
          <p:spPr>
            <a:xfrm>
              <a:off x="1498600" y="4997131"/>
              <a:ext cx="914400" cy="9144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9" name="Egyenes összekötő nyíllal 18"/>
            <p:cNvCxnSpPr/>
            <p:nvPr/>
          </p:nvCxnSpPr>
          <p:spPr>
            <a:xfrm>
              <a:off x="1016000" y="5454331"/>
              <a:ext cx="27031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Szövegdoboz 19"/>
            <p:cNvSpPr txBox="1"/>
            <p:nvPr/>
          </p:nvSpPr>
          <p:spPr>
            <a:xfrm>
              <a:off x="1736372" y="5233005"/>
              <a:ext cx="711256" cy="510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/>
                <a:t>q0</a:t>
              </a:r>
            </a:p>
          </p:txBody>
        </p:sp>
        <p:sp>
          <p:nvSpPr>
            <p:cNvPr id="21" name="Szövegdoboz 20"/>
            <p:cNvSpPr txBox="1"/>
            <p:nvPr/>
          </p:nvSpPr>
          <p:spPr>
            <a:xfrm flipH="1">
              <a:off x="4335111" y="5232336"/>
              <a:ext cx="796617" cy="510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 smtClean="0"/>
                <a:t>q1</a:t>
              </a:r>
              <a:endParaRPr lang="hu-HU" sz="1400" dirty="0"/>
            </a:p>
          </p:txBody>
        </p:sp>
        <p:sp>
          <p:nvSpPr>
            <p:cNvPr id="22" name="Szövegdoboz 21"/>
            <p:cNvSpPr txBox="1"/>
            <p:nvPr/>
          </p:nvSpPr>
          <p:spPr>
            <a:xfrm>
              <a:off x="6938793" y="5234771"/>
              <a:ext cx="644040" cy="510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 smtClean="0"/>
                <a:t>q2</a:t>
              </a:r>
              <a:endParaRPr lang="hu-HU" sz="1400" dirty="0"/>
            </a:p>
          </p:txBody>
        </p:sp>
        <p:sp>
          <p:nvSpPr>
            <p:cNvPr id="23" name="Ellipszis 22"/>
            <p:cNvSpPr/>
            <p:nvPr/>
          </p:nvSpPr>
          <p:spPr>
            <a:xfrm>
              <a:off x="6830184" y="5135702"/>
              <a:ext cx="702640" cy="6660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4" name="Egyenes összekötő nyíllal 23"/>
            <p:cNvCxnSpPr>
              <a:stCxn id="18" idx="6"/>
            </p:cNvCxnSpPr>
            <p:nvPr/>
          </p:nvCxnSpPr>
          <p:spPr>
            <a:xfrm>
              <a:off x="2413000" y="5454331"/>
              <a:ext cx="15832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gyenes összekötő nyíllal 24"/>
            <p:cNvCxnSpPr/>
            <p:nvPr/>
          </p:nvCxnSpPr>
          <p:spPr>
            <a:xfrm>
              <a:off x="5141037" y="5454331"/>
              <a:ext cx="15832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Ív 25"/>
            <p:cNvSpPr/>
            <p:nvPr/>
          </p:nvSpPr>
          <p:spPr>
            <a:xfrm rot="12455027">
              <a:off x="4123077" y="5792918"/>
              <a:ext cx="1127435" cy="514290"/>
            </a:xfrm>
            <a:prstGeom prst="arc">
              <a:avLst>
                <a:gd name="adj1" fmla="val 8058026"/>
                <a:gd name="adj2" fmla="val 0"/>
              </a:avLst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7" name="Szövegdoboz 26"/>
            <p:cNvSpPr txBox="1"/>
            <p:nvPr/>
          </p:nvSpPr>
          <p:spPr>
            <a:xfrm>
              <a:off x="2879552" y="4997131"/>
              <a:ext cx="293510" cy="6765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 smtClean="0"/>
                <a:t>a</a:t>
              </a:r>
              <a:endParaRPr lang="hu-HU" sz="1400" dirty="0"/>
            </a:p>
          </p:txBody>
        </p:sp>
        <p:sp>
          <p:nvSpPr>
            <p:cNvPr id="28" name="Szövegdoboz 27"/>
            <p:cNvSpPr txBox="1"/>
            <p:nvPr/>
          </p:nvSpPr>
          <p:spPr>
            <a:xfrm>
              <a:off x="3725448" y="6066644"/>
              <a:ext cx="772007" cy="510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 smtClean="0"/>
                <a:t>a, b</a:t>
              </a:r>
              <a:endParaRPr lang="hu-HU" sz="1400" dirty="0"/>
            </a:p>
          </p:txBody>
        </p:sp>
        <p:sp>
          <p:nvSpPr>
            <p:cNvPr id="29" name="Szövegdoboz 28"/>
            <p:cNvSpPr txBox="1"/>
            <p:nvPr/>
          </p:nvSpPr>
          <p:spPr>
            <a:xfrm>
              <a:off x="5696746" y="4997131"/>
              <a:ext cx="293510" cy="510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/>
                <a:t>b</a:t>
              </a:r>
            </a:p>
          </p:txBody>
        </p:sp>
      </p:grpSp>
      <p:cxnSp>
        <p:nvCxnSpPr>
          <p:cNvPr id="30" name="Egyenes összekötő nyíllal 29"/>
          <p:cNvCxnSpPr>
            <a:stCxn id="26" idx="0"/>
          </p:cNvCxnSpPr>
          <p:nvPr/>
        </p:nvCxnSpPr>
        <p:spPr>
          <a:xfrm flipH="1" flipV="1">
            <a:off x="9369905" y="1099588"/>
            <a:ext cx="98305" cy="8276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584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Emlékeztető: </a:t>
            </a:r>
            <a:br>
              <a:rPr lang="hu-HU" dirty="0" smtClean="0"/>
            </a:br>
            <a:r>
              <a:rPr lang="hu-HU" dirty="0" smtClean="0"/>
              <a:t>3-típusú grammatik</a:t>
            </a:r>
            <a:r>
              <a:rPr lang="hu-HU" dirty="0"/>
              <a:t>á</a:t>
            </a:r>
            <a:r>
              <a:rPr lang="hu-HU" dirty="0" smtClean="0"/>
              <a:t>k normálform</a:t>
            </a:r>
            <a:r>
              <a:rPr lang="hu-HU" dirty="0"/>
              <a:t>á</a:t>
            </a:r>
            <a:r>
              <a:rPr lang="hu-HU" dirty="0" smtClean="0"/>
              <a:t>ja</a:t>
            </a:r>
            <a:r>
              <a:rPr lang="hu-HU" dirty="0"/>
              <a:t/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sz="3200" b="1" dirty="0" smtClean="0"/>
              <a:t>Tétel:</a:t>
            </a:r>
            <a:endParaRPr lang="hu-HU" sz="3200" b="1" dirty="0"/>
          </a:p>
          <a:p>
            <a:pPr marL="0" indent="0">
              <a:buNone/>
            </a:pPr>
            <a:r>
              <a:rPr lang="hu-HU" sz="3200" dirty="0"/>
              <a:t>Minden </a:t>
            </a:r>
            <a:r>
              <a:rPr lang="hu-HU" sz="3200" dirty="0" smtClean="0"/>
              <a:t>3-as típusú </a:t>
            </a:r>
            <a:r>
              <a:rPr lang="hu-HU" sz="3200" dirty="0"/>
              <a:t>nyelv </a:t>
            </a:r>
            <a:r>
              <a:rPr lang="hu-HU" sz="3200" dirty="0" smtClean="0"/>
              <a:t>generálható </a:t>
            </a:r>
            <a:r>
              <a:rPr lang="hu-HU" sz="3200" dirty="0"/>
              <a:t>egy olyan </a:t>
            </a:r>
            <a:r>
              <a:rPr lang="hu-HU" sz="3200" dirty="0" smtClean="0"/>
              <a:t>grammatikával, amelynek szabályai</a:t>
            </a:r>
            <a:endParaRPr lang="hu-HU" sz="3200" dirty="0"/>
          </a:p>
          <a:p>
            <a:pPr marL="0" indent="0">
              <a:buNone/>
            </a:pPr>
            <a:r>
              <a:rPr lang="hu-HU" sz="3200" b="1" dirty="0"/>
              <a:t>A</a:t>
            </a:r>
            <a:r>
              <a:rPr lang="es-ES" sz="3200" b="1" dirty="0" smtClean="0"/>
              <a:t> </a:t>
            </a:r>
            <a:r>
              <a:rPr lang="es-ES" sz="3200" b="1" dirty="0"/>
              <a:t>→ </a:t>
            </a:r>
            <a:r>
              <a:rPr lang="es-ES" sz="3200" b="1" dirty="0" smtClean="0"/>
              <a:t>a</a:t>
            </a:r>
            <a:r>
              <a:rPr lang="hu-HU" sz="3200" b="1" dirty="0" smtClean="0"/>
              <a:t>B</a:t>
            </a:r>
            <a:r>
              <a:rPr lang="es-ES" sz="3200" dirty="0" smtClean="0"/>
              <a:t>, </a:t>
            </a:r>
            <a:r>
              <a:rPr lang="es-ES" sz="3200" dirty="0"/>
              <a:t>ahol </a:t>
            </a:r>
            <a:r>
              <a:rPr lang="hu-HU" sz="3200" dirty="0" smtClean="0"/>
              <a:t>A</a:t>
            </a:r>
            <a:r>
              <a:rPr lang="es-ES" sz="3200" dirty="0" smtClean="0"/>
              <a:t>, </a:t>
            </a:r>
            <a:r>
              <a:rPr lang="hu-HU" sz="3200" dirty="0"/>
              <a:t>B</a:t>
            </a:r>
            <a:r>
              <a:rPr lang="es-ES" sz="3200" dirty="0" smtClean="0"/>
              <a:t> </a:t>
            </a:r>
            <a:r>
              <a:rPr lang="es-ES" sz="3200" dirty="0"/>
              <a:t>∈ N </a:t>
            </a:r>
            <a:r>
              <a:rPr lang="hu-HU" sz="3200" dirty="0"/>
              <a:t>é</a:t>
            </a:r>
            <a:r>
              <a:rPr lang="es-ES" sz="3200" dirty="0" smtClean="0"/>
              <a:t>s </a:t>
            </a:r>
            <a:r>
              <a:rPr lang="es-ES" sz="3200" dirty="0"/>
              <a:t>a ∈ T vagy</a:t>
            </a:r>
          </a:p>
          <a:p>
            <a:pPr marL="0" indent="0">
              <a:buNone/>
            </a:pPr>
            <a:r>
              <a:rPr lang="hu-HU" sz="3200" b="1" dirty="0"/>
              <a:t>A</a:t>
            </a:r>
            <a:r>
              <a:rPr lang="hu-HU" sz="3200" b="1" dirty="0" smtClean="0"/>
              <a:t> </a:t>
            </a:r>
            <a:r>
              <a:rPr lang="hu-HU" sz="3200" b="1" dirty="0"/>
              <a:t>→ </a:t>
            </a:r>
            <a:r>
              <a:rPr lang="el-GR" sz="3200" b="1" dirty="0" smtClean="0"/>
              <a:t>ε</a:t>
            </a:r>
            <a:r>
              <a:rPr lang="hu-HU" sz="3200" b="1" dirty="0" smtClean="0"/>
              <a:t> </a:t>
            </a:r>
            <a:r>
              <a:rPr lang="hu-HU" sz="3200" dirty="0" smtClean="0"/>
              <a:t>alakúak</a:t>
            </a:r>
            <a:r>
              <a:rPr lang="hu-HU" sz="3200" dirty="0"/>
              <a:t>, ahol </a:t>
            </a:r>
            <a:r>
              <a:rPr lang="hu-HU" sz="3200" dirty="0" smtClean="0"/>
              <a:t>A </a:t>
            </a:r>
            <a:r>
              <a:rPr lang="hu-HU" sz="3200" dirty="0"/>
              <a:t>∈ N.</a:t>
            </a: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4224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77333" y="278674"/>
            <a:ext cx="8596668" cy="1320800"/>
          </a:xfrm>
        </p:spPr>
        <p:txBody>
          <a:bodyPr/>
          <a:lstStyle/>
          <a:p>
            <a:r>
              <a:rPr lang="hu-HU" dirty="0" smtClean="0"/>
              <a:t>3-as típusú nyelvek kapcsolata a véges automatákkal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7333" y="1599473"/>
            <a:ext cx="9674577" cy="49929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600" b="1" dirty="0" smtClean="0"/>
              <a:t>Tétel:</a:t>
            </a:r>
            <a:r>
              <a:rPr lang="hu-HU" sz="3600" dirty="0" smtClean="0"/>
              <a:t> </a:t>
            </a:r>
          </a:p>
          <a:p>
            <a:pPr marL="0" indent="0">
              <a:buNone/>
            </a:pPr>
            <a:r>
              <a:rPr lang="hu-HU" sz="3600" dirty="0" smtClean="0"/>
              <a:t>Minden 3-as típusú L nyelvhez megadható egy véges nemdeterminisztikus automata, és fordítva, minden nemdeterminisztikus automata 3-as típusú nyelvet ismer fel.</a:t>
            </a:r>
          </a:p>
          <a:p>
            <a:pPr marL="0" indent="0">
              <a:buNone/>
            </a:pPr>
            <a:r>
              <a:rPr lang="hu-HU" sz="3600" dirty="0" smtClean="0"/>
              <a:t>(</a:t>
            </a:r>
            <a:r>
              <a:rPr lang="hu-HU" sz="3600" b="1" dirty="0" smtClean="0">
                <a:latin typeface="Brush Script MT" panose="03060802040406070304" pitchFamily="66" charset="0"/>
              </a:rPr>
              <a:t>L</a:t>
            </a:r>
            <a:r>
              <a:rPr lang="hu-HU" sz="3600" b="1" baseline="-25000" dirty="0" smtClean="0"/>
              <a:t>3 </a:t>
            </a:r>
            <a:r>
              <a:rPr lang="hu-HU" sz="3600" dirty="0" smtClean="0"/>
              <a:t>⊆</a:t>
            </a:r>
            <a:r>
              <a:rPr lang="hu-HU" sz="3600" b="1" dirty="0">
                <a:latin typeface="Brush Script MT" panose="03060802040406070304" pitchFamily="66" charset="0"/>
              </a:rPr>
              <a:t> </a:t>
            </a:r>
            <a:r>
              <a:rPr lang="hu-HU" sz="3600" b="1" dirty="0" smtClean="0">
                <a:latin typeface="Brush Script MT" panose="03060802040406070304" pitchFamily="66" charset="0"/>
              </a:rPr>
              <a:t>L</a:t>
            </a:r>
            <a:r>
              <a:rPr lang="hu-HU" sz="3600" b="1" baseline="-25000" dirty="0" smtClean="0"/>
              <a:t>VNDA </a:t>
            </a:r>
            <a:r>
              <a:rPr lang="hu-HU" sz="3600" b="1" dirty="0" smtClean="0"/>
              <a:t>,</a:t>
            </a:r>
            <a:r>
              <a:rPr lang="hu-HU" sz="3600" b="1" dirty="0" smtClean="0">
                <a:latin typeface="Brush Script MT" panose="03060802040406070304" pitchFamily="66" charset="0"/>
              </a:rPr>
              <a:t> L</a:t>
            </a:r>
            <a:r>
              <a:rPr lang="hu-HU" sz="3600" b="1" baseline="-25000" dirty="0" smtClean="0"/>
              <a:t>VNDA </a:t>
            </a:r>
            <a:r>
              <a:rPr lang="hu-HU" sz="3600" dirty="0"/>
              <a:t>⊆ </a:t>
            </a:r>
            <a:r>
              <a:rPr lang="hu-HU" sz="3600" b="1" dirty="0" smtClean="0">
                <a:latin typeface="Brush Script MT" panose="03060802040406070304" pitchFamily="66" charset="0"/>
              </a:rPr>
              <a:t>L</a:t>
            </a:r>
            <a:r>
              <a:rPr lang="hu-HU" sz="3600" b="1" baseline="-25000" dirty="0" smtClean="0"/>
              <a:t>3</a:t>
            </a:r>
            <a:r>
              <a:rPr lang="hu-HU" sz="3600" dirty="0" smtClean="0"/>
              <a:t>)</a:t>
            </a:r>
          </a:p>
          <a:p>
            <a:pPr marL="0" indent="0">
              <a:buNone/>
            </a:pPr>
            <a:endParaRPr lang="hu-HU" sz="2400" dirty="0" smtClean="0"/>
          </a:p>
          <a:p>
            <a:pPr marL="0" indent="0">
              <a:buNone/>
            </a:pPr>
            <a:r>
              <a:rPr lang="hu-HU" sz="2400" dirty="0" smtClean="0"/>
              <a:t>Megjegyzés: Már láttuk, hogy </a:t>
            </a:r>
            <a:r>
              <a:rPr lang="hu-HU" sz="2400" b="1" dirty="0" err="1" smtClean="0">
                <a:latin typeface="Brush Script MT" panose="03060802040406070304" pitchFamily="66" charset="0"/>
              </a:rPr>
              <a:t>L</a:t>
            </a:r>
            <a:r>
              <a:rPr lang="hu-HU" sz="2400" b="1" baseline="-25000" dirty="0" err="1" smtClean="0"/>
              <a:t>reg</a:t>
            </a:r>
            <a:r>
              <a:rPr lang="hu-HU" sz="2400" b="1" baseline="-25000" dirty="0" smtClean="0"/>
              <a:t> </a:t>
            </a:r>
            <a:r>
              <a:rPr lang="hu-HU" sz="2400" dirty="0"/>
              <a:t>⊆ </a:t>
            </a:r>
            <a:r>
              <a:rPr lang="hu-HU" sz="2400" b="1" dirty="0" smtClean="0">
                <a:latin typeface="Brush Script MT" panose="03060802040406070304" pitchFamily="66" charset="0"/>
              </a:rPr>
              <a:t>L</a:t>
            </a:r>
            <a:r>
              <a:rPr lang="hu-HU" sz="2400" b="1" baseline="-25000" dirty="0" smtClean="0"/>
              <a:t>3</a:t>
            </a:r>
            <a:r>
              <a:rPr lang="hu-HU" sz="2400" b="1" dirty="0" smtClean="0"/>
              <a:t>, </a:t>
            </a:r>
            <a:r>
              <a:rPr lang="hu-HU" sz="2400" dirty="0" smtClean="0"/>
              <a:t>így a reguláris kifejezésekhez (lexikális egységekhez) építhető automata.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67634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3-as típusú nyelvek kapcsolata a véges automatákkal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7333" y="2160589"/>
            <a:ext cx="9674577" cy="38807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u-HU" sz="3600" dirty="0" smtClean="0"/>
              <a:t>Bizonyítás vázlat:</a:t>
            </a:r>
          </a:p>
          <a:p>
            <a:pPr marL="0" indent="0">
              <a:buNone/>
            </a:pPr>
            <a:r>
              <a:rPr lang="hu-HU" sz="3600" dirty="0" smtClean="0"/>
              <a:t>Legyen L egy 3-as típusú nyelv. Ez azt jelenti, hogy megadható egy G=(N,T,P,S) 3-as normál formájú grammatikával is.</a:t>
            </a:r>
          </a:p>
          <a:p>
            <a:pPr marL="0" indent="0">
              <a:buNone/>
            </a:pPr>
            <a:r>
              <a:rPr lang="hu-HU" sz="3600" dirty="0" smtClean="0"/>
              <a:t>G alapján megkonstruálható egy </a:t>
            </a:r>
          </a:p>
          <a:p>
            <a:pPr marL="0" indent="0">
              <a:buNone/>
            </a:pPr>
            <a:r>
              <a:rPr lang="hu-HU" sz="3600" dirty="0" smtClean="0"/>
              <a:t>A </a:t>
            </a:r>
            <a:r>
              <a:rPr lang="hu-HU" sz="3600" dirty="0"/>
              <a:t>= (Q, T,</a:t>
            </a:r>
            <a:r>
              <a:rPr lang="el-GR" sz="3600" dirty="0"/>
              <a:t> δ</a:t>
            </a:r>
            <a:r>
              <a:rPr lang="hu-HU" sz="3600" dirty="0"/>
              <a:t>, Q</a:t>
            </a:r>
            <a:r>
              <a:rPr lang="hu-HU" sz="3600" baseline="-25000" dirty="0"/>
              <a:t>0</a:t>
            </a:r>
            <a:r>
              <a:rPr lang="hu-HU" sz="3600" dirty="0"/>
              <a:t>, F) egy véges nemdeterminisztikus </a:t>
            </a:r>
            <a:r>
              <a:rPr lang="hu-HU" sz="3600" dirty="0" smtClean="0"/>
              <a:t>automata úgy, hogy L=L(G)=L(A).</a:t>
            </a:r>
          </a:p>
          <a:p>
            <a:pPr marL="0" indent="0">
              <a:buNone/>
            </a:pPr>
            <a:endParaRPr lang="hu-HU" sz="3600" dirty="0"/>
          </a:p>
        </p:txBody>
      </p:sp>
    </p:spTree>
    <p:extLst>
      <p:ext uri="{BB962C8B-B14F-4D97-AF65-F5344CB8AC3E}">
        <p14:creationId xmlns:p14="http://schemas.microsoft.com/office/powerpoint/2010/main" val="42331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3-as típusú nyelvek kapcsolata a véges automatákkal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7333" y="2160589"/>
            <a:ext cx="9674577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600" dirty="0" smtClean="0"/>
              <a:t>Bizonyítás vázlat:</a:t>
            </a:r>
          </a:p>
          <a:p>
            <a:pPr marL="0" indent="0">
              <a:buNone/>
            </a:pPr>
            <a:r>
              <a:rPr lang="hu-HU" sz="3600" dirty="0" smtClean="0"/>
              <a:t>Feleltessünk meg minden nemterminálisnak egy állapotot. Jelölje </a:t>
            </a:r>
            <a:r>
              <a:rPr lang="hu-HU" sz="3600" dirty="0" err="1" smtClean="0"/>
              <a:t>q</a:t>
            </a:r>
            <a:r>
              <a:rPr lang="hu-HU" sz="3600" baseline="-25000" dirty="0" err="1" smtClean="0"/>
              <a:t>A</a:t>
            </a:r>
            <a:r>
              <a:rPr lang="hu-HU" sz="3600" dirty="0" smtClean="0"/>
              <a:t> az A</a:t>
            </a:r>
            <a:r>
              <a:rPr lang="hu-HU" sz="3600" dirty="0"/>
              <a:t> ∈ </a:t>
            </a:r>
            <a:r>
              <a:rPr lang="hu-HU" sz="3600" dirty="0" smtClean="0"/>
              <a:t>N-hez rendelt állapotot.</a:t>
            </a:r>
          </a:p>
          <a:p>
            <a:pPr marL="0" indent="0">
              <a:buNone/>
            </a:pPr>
            <a:r>
              <a:rPr lang="hu-HU" sz="3600" dirty="0" smtClean="0"/>
              <a:t>A = ({</a:t>
            </a:r>
            <a:r>
              <a:rPr lang="hu-HU" sz="3600" dirty="0" err="1"/>
              <a:t>q</a:t>
            </a:r>
            <a:r>
              <a:rPr lang="hu-HU" sz="3600" baseline="-25000" dirty="0" err="1"/>
              <a:t>A</a:t>
            </a:r>
            <a:r>
              <a:rPr lang="hu-HU" sz="3600" dirty="0"/>
              <a:t> </a:t>
            </a:r>
            <a:r>
              <a:rPr lang="hu-HU" sz="3600" dirty="0" smtClean="0"/>
              <a:t>| </a:t>
            </a:r>
            <a:r>
              <a:rPr lang="hu-HU" sz="3600" dirty="0" err="1"/>
              <a:t>A</a:t>
            </a:r>
            <a:r>
              <a:rPr lang="hu-HU" sz="3600" dirty="0"/>
              <a:t> </a:t>
            </a:r>
            <a:r>
              <a:rPr lang="es-ES" sz="3600" dirty="0"/>
              <a:t>∈ </a:t>
            </a:r>
            <a:r>
              <a:rPr lang="hu-HU" sz="3600" dirty="0" smtClean="0"/>
              <a:t>N},T, </a:t>
            </a:r>
            <a:r>
              <a:rPr lang="el-GR" sz="3600" dirty="0" smtClean="0"/>
              <a:t>δ</a:t>
            </a:r>
            <a:r>
              <a:rPr lang="hu-HU" sz="3600" dirty="0" smtClean="0"/>
              <a:t>, </a:t>
            </a:r>
            <a:r>
              <a:rPr lang="hu-HU" sz="3600" dirty="0" err="1" smtClean="0"/>
              <a:t>q</a:t>
            </a:r>
            <a:r>
              <a:rPr lang="hu-HU" sz="3600" baseline="-25000" dirty="0" err="1" smtClean="0"/>
              <a:t>S</a:t>
            </a:r>
            <a:r>
              <a:rPr lang="hu-HU" sz="3600" dirty="0" smtClean="0"/>
              <a:t>, F)</a:t>
            </a:r>
            <a:endParaRPr lang="hu-HU" sz="3600" dirty="0"/>
          </a:p>
        </p:txBody>
      </p:sp>
    </p:spTree>
    <p:extLst>
      <p:ext uri="{BB962C8B-B14F-4D97-AF65-F5344CB8AC3E}">
        <p14:creationId xmlns:p14="http://schemas.microsoft.com/office/powerpoint/2010/main" val="2625464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11221156" cy="703507"/>
          </a:xfrm>
        </p:spPr>
        <p:txBody>
          <a:bodyPr>
            <a:normAutofit/>
          </a:bodyPr>
          <a:lstStyle/>
          <a:p>
            <a:r>
              <a:rPr lang="hu-HU" sz="3200" dirty="0" smtClean="0"/>
              <a:t>3-as típusú nyelvek kapcsolata a véges automatákkal</a:t>
            </a:r>
            <a:endParaRPr lang="hu-HU" sz="32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07999" y="1237681"/>
            <a:ext cx="9674577" cy="55017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600" dirty="0" smtClean="0"/>
              <a:t>Bizonyítás vázlat:</a:t>
            </a:r>
          </a:p>
          <a:p>
            <a:pPr marL="0" indent="0">
              <a:buNone/>
            </a:pPr>
            <a:r>
              <a:rPr lang="hu-HU" sz="2400" dirty="0" smtClean="0"/>
              <a:t>Legyen</a:t>
            </a:r>
            <a:r>
              <a:rPr lang="hu-HU" sz="3600" dirty="0" smtClean="0"/>
              <a:t> </a:t>
            </a:r>
            <a:r>
              <a:rPr lang="el-GR" sz="3600" dirty="0" smtClean="0"/>
              <a:t>δ</a:t>
            </a:r>
            <a:r>
              <a:rPr lang="hu-HU" sz="3600" dirty="0" smtClean="0"/>
              <a:t>(</a:t>
            </a:r>
            <a:r>
              <a:rPr lang="hu-HU" sz="3600" dirty="0" err="1" smtClean="0"/>
              <a:t>q</a:t>
            </a:r>
            <a:r>
              <a:rPr lang="hu-HU" sz="3600" baseline="-25000" dirty="0" err="1" smtClean="0"/>
              <a:t>A</a:t>
            </a:r>
            <a:r>
              <a:rPr lang="hu-HU" sz="3600" dirty="0" err="1" smtClean="0"/>
              <a:t>,a</a:t>
            </a:r>
            <a:r>
              <a:rPr lang="hu-HU" sz="3600" dirty="0" smtClean="0"/>
              <a:t>)=</a:t>
            </a:r>
            <a:r>
              <a:rPr lang="hu-HU" sz="3600" dirty="0" err="1" smtClean="0"/>
              <a:t>q</a:t>
            </a:r>
            <a:r>
              <a:rPr lang="hu-HU" sz="3600" baseline="-25000" dirty="0" err="1" smtClean="0"/>
              <a:t>B</a:t>
            </a:r>
            <a:r>
              <a:rPr lang="hu-HU" sz="3600" baseline="-25000" dirty="0" smtClean="0"/>
              <a:t> </a:t>
            </a:r>
            <a:r>
              <a:rPr lang="hu-HU" sz="2400" dirty="0" smtClean="0"/>
              <a:t>,akkor és csak akkor, ha </a:t>
            </a:r>
            <a:r>
              <a:rPr lang="hu-HU" sz="3600" dirty="0" err="1" smtClean="0"/>
              <a:t>A</a:t>
            </a:r>
            <a:r>
              <a:rPr lang="hu-H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→aB</a:t>
            </a:r>
            <a:r>
              <a:rPr lang="hu-H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3600" dirty="0" smtClean="0"/>
              <a:t>∈ P.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hu-HU" sz="2400" dirty="0" smtClean="0"/>
              <a:t>		  </a:t>
            </a:r>
            <a:r>
              <a:rPr lang="hu-HU" sz="2800" dirty="0" err="1" smtClean="0">
                <a:solidFill>
                  <a:srgbClr val="92D050"/>
                </a:solidFill>
              </a:rPr>
              <a:t>q</a:t>
            </a:r>
            <a:r>
              <a:rPr lang="hu-HU" sz="2800" baseline="-25000" dirty="0" err="1" smtClean="0">
                <a:solidFill>
                  <a:srgbClr val="92D050"/>
                </a:solidFill>
              </a:rPr>
              <a:t>A</a:t>
            </a:r>
            <a:r>
              <a:rPr lang="hu-HU" sz="2800" dirty="0" err="1" smtClean="0">
                <a:solidFill>
                  <a:srgbClr val="92D050"/>
                </a:solidFill>
              </a:rPr>
              <a:t>a</a:t>
            </a:r>
            <a:r>
              <a:rPr lang="hu-HU" sz="2800" dirty="0" err="1" smtClean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hu-HU" sz="2800" dirty="0" err="1" smtClean="0">
                <a:solidFill>
                  <a:srgbClr val="92D050"/>
                </a:solidFill>
              </a:rPr>
              <a:t>q</a:t>
            </a:r>
            <a:r>
              <a:rPr lang="hu-HU" sz="2800" baseline="-25000" dirty="0" err="1" smtClean="0">
                <a:solidFill>
                  <a:srgbClr val="92D050"/>
                </a:solidFill>
              </a:rPr>
              <a:t>B</a:t>
            </a:r>
            <a:endParaRPr lang="hu-HU" sz="2800" dirty="0">
              <a:solidFill>
                <a:srgbClr val="92D050"/>
              </a:solidFill>
            </a:endParaRPr>
          </a:p>
          <a:p>
            <a:pPr marL="0" indent="0">
              <a:buNone/>
            </a:pPr>
            <a:endParaRPr lang="hu-HU" sz="2400" dirty="0" smtClean="0">
              <a:solidFill>
                <a:srgbClr val="92D050"/>
              </a:solidFill>
            </a:endParaRPr>
          </a:p>
          <a:p>
            <a:pPr marL="0" indent="0">
              <a:buNone/>
            </a:pPr>
            <a:endParaRPr lang="hu-HU" sz="2400" dirty="0">
              <a:solidFill>
                <a:srgbClr val="92D050"/>
              </a:solidFill>
            </a:endParaRPr>
          </a:p>
          <a:p>
            <a:pPr marL="0" indent="0">
              <a:buNone/>
            </a:pPr>
            <a:r>
              <a:rPr lang="hu-HU" sz="2400" dirty="0" smtClean="0"/>
              <a:t>Legyen</a:t>
            </a:r>
            <a:r>
              <a:rPr lang="hu-HU" sz="5400" dirty="0" smtClean="0"/>
              <a:t> </a:t>
            </a:r>
            <a:r>
              <a:rPr lang="hu-HU" sz="3600" dirty="0" err="1" smtClean="0"/>
              <a:t>q</a:t>
            </a:r>
            <a:r>
              <a:rPr lang="hu-HU" sz="3600" baseline="-25000" dirty="0" err="1" smtClean="0"/>
              <a:t>A</a:t>
            </a:r>
            <a:r>
              <a:rPr lang="hu-HU" sz="3600" dirty="0"/>
              <a:t> ∈ </a:t>
            </a:r>
            <a:r>
              <a:rPr lang="hu-HU" sz="3600" dirty="0" smtClean="0"/>
              <a:t>F</a:t>
            </a:r>
            <a:r>
              <a:rPr lang="hu-HU" sz="3600" baseline="-25000" dirty="0" smtClean="0"/>
              <a:t> </a:t>
            </a:r>
            <a:r>
              <a:rPr lang="hu-HU" sz="2400" dirty="0"/>
              <a:t>,akkor és csak akkor, ha </a:t>
            </a:r>
            <a:r>
              <a:rPr lang="hu-HU" sz="3600" dirty="0"/>
              <a:t>A</a:t>
            </a:r>
            <a:r>
              <a:rPr lang="hu-H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l-G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hu-H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3600" dirty="0"/>
              <a:t>∈ P.</a:t>
            </a:r>
          </a:p>
          <a:p>
            <a:pPr marL="0" indent="0">
              <a:buNone/>
            </a:pPr>
            <a:r>
              <a:rPr lang="hu-HU" sz="3600" dirty="0" smtClean="0"/>
              <a:t>		</a:t>
            </a:r>
            <a:endParaRPr lang="hu-HU" sz="3600" dirty="0"/>
          </a:p>
        </p:txBody>
      </p:sp>
      <p:sp>
        <p:nvSpPr>
          <p:cNvPr id="4" name="Ellipszis 3"/>
          <p:cNvSpPr/>
          <p:nvPr/>
        </p:nvSpPr>
        <p:spPr>
          <a:xfrm>
            <a:off x="3233947" y="3654745"/>
            <a:ext cx="740513" cy="714103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Ellipszis 4"/>
          <p:cNvSpPr/>
          <p:nvPr/>
        </p:nvSpPr>
        <p:spPr>
          <a:xfrm>
            <a:off x="1132114" y="3654744"/>
            <a:ext cx="800580" cy="726487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/>
          <p:cNvSpPr txBox="1"/>
          <p:nvPr/>
        </p:nvSpPr>
        <p:spPr>
          <a:xfrm>
            <a:off x="1273527" y="3754161"/>
            <a:ext cx="485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 smtClean="0">
                <a:solidFill>
                  <a:srgbClr val="92D050"/>
                </a:solidFill>
              </a:rPr>
              <a:t>q</a:t>
            </a:r>
            <a:r>
              <a:rPr lang="hu-HU" sz="2400" baseline="-25000" dirty="0" err="1" smtClean="0">
                <a:solidFill>
                  <a:srgbClr val="92D050"/>
                </a:solidFill>
              </a:rPr>
              <a:t>A</a:t>
            </a:r>
            <a:endParaRPr lang="hu-HU" sz="2400" baseline="-25000" dirty="0">
              <a:solidFill>
                <a:srgbClr val="92D050"/>
              </a:solidFill>
            </a:endParaRPr>
          </a:p>
        </p:txBody>
      </p:sp>
      <p:sp>
        <p:nvSpPr>
          <p:cNvPr id="7" name="Szövegdoboz 6"/>
          <p:cNvSpPr txBox="1"/>
          <p:nvPr/>
        </p:nvSpPr>
        <p:spPr>
          <a:xfrm flipH="1">
            <a:off x="3373369" y="3754160"/>
            <a:ext cx="610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 smtClean="0">
                <a:solidFill>
                  <a:srgbClr val="92D050"/>
                </a:solidFill>
              </a:rPr>
              <a:t>q</a:t>
            </a:r>
            <a:r>
              <a:rPr lang="hu-HU" sz="2400" baseline="-25000" dirty="0" err="1" smtClean="0">
                <a:solidFill>
                  <a:srgbClr val="92D050"/>
                </a:solidFill>
              </a:rPr>
              <a:t>B</a:t>
            </a:r>
            <a:endParaRPr lang="hu-HU" sz="2400" baseline="-25000" dirty="0">
              <a:solidFill>
                <a:srgbClr val="92D050"/>
              </a:solidFill>
            </a:endParaRPr>
          </a:p>
        </p:txBody>
      </p:sp>
      <p:cxnSp>
        <p:nvCxnSpPr>
          <p:cNvPr id="8" name="Egyenes összekötő nyíllal 7"/>
          <p:cNvCxnSpPr/>
          <p:nvPr/>
        </p:nvCxnSpPr>
        <p:spPr>
          <a:xfrm>
            <a:off x="1996721" y="4011797"/>
            <a:ext cx="1173199" cy="0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zövegdoboz 9"/>
          <p:cNvSpPr txBox="1"/>
          <p:nvPr/>
        </p:nvSpPr>
        <p:spPr>
          <a:xfrm>
            <a:off x="2416707" y="3518287"/>
            <a:ext cx="29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>
                <a:solidFill>
                  <a:srgbClr val="92D050"/>
                </a:solidFill>
              </a:rPr>
              <a:t>a</a:t>
            </a:r>
            <a:endParaRPr lang="hu-HU" dirty="0">
              <a:solidFill>
                <a:srgbClr val="92D050"/>
              </a:solidFill>
            </a:endParaRPr>
          </a:p>
        </p:txBody>
      </p:sp>
      <p:sp>
        <p:nvSpPr>
          <p:cNvPr id="11" name="Ellipszis 10"/>
          <p:cNvSpPr/>
          <p:nvPr/>
        </p:nvSpPr>
        <p:spPr>
          <a:xfrm>
            <a:off x="1539521" y="5471358"/>
            <a:ext cx="877186" cy="885899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Szövegdoboz 11"/>
          <p:cNvSpPr txBox="1"/>
          <p:nvPr/>
        </p:nvSpPr>
        <p:spPr>
          <a:xfrm>
            <a:off x="1822676" y="5675513"/>
            <a:ext cx="48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 err="1" smtClean="0">
                <a:solidFill>
                  <a:srgbClr val="92D050"/>
                </a:solidFill>
              </a:rPr>
              <a:t>q</a:t>
            </a:r>
            <a:r>
              <a:rPr lang="hu-HU" sz="2000" baseline="-25000" dirty="0" err="1" smtClean="0">
                <a:solidFill>
                  <a:srgbClr val="92D050"/>
                </a:solidFill>
              </a:rPr>
              <a:t>A</a:t>
            </a:r>
            <a:endParaRPr lang="hu-HU" sz="2000" baseline="-25000" dirty="0">
              <a:solidFill>
                <a:srgbClr val="92D050"/>
              </a:solidFill>
            </a:endParaRPr>
          </a:p>
        </p:txBody>
      </p:sp>
      <p:sp>
        <p:nvSpPr>
          <p:cNvPr id="13" name="Ellipszis 12"/>
          <p:cNvSpPr/>
          <p:nvPr/>
        </p:nvSpPr>
        <p:spPr>
          <a:xfrm>
            <a:off x="1645401" y="5595536"/>
            <a:ext cx="662697" cy="631093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27680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11221156" cy="703507"/>
          </a:xfrm>
        </p:spPr>
        <p:txBody>
          <a:bodyPr>
            <a:normAutofit/>
          </a:bodyPr>
          <a:lstStyle/>
          <a:p>
            <a:r>
              <a:rPr lang="hu-HU" sz="3200" dirty="0" smtClean="0"/>
              <a:t>3-as típusú nyelvek kapcsolata a véges automatákkal</a:t>
            </a:r>
            <a:endParaRPr lang="hu-HU" sz="32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743130" y="1351351"/>
            <a:ext cx="9674577" cy="48496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600" dirty="0" smtClean="0"/>
              <a:t>Bizonyítás vázlat:</a:t>
            </a:r>
          </a:p>
          <a:p>
            <a:pPr marL="0" indent="0">
              <a:buNone/>
            </a:pPr>
            <a:r>
              <a:rPr lang="hu-HU" sz="2400" dirty="0" smtClean="0"/>
              <a:t>Az így létrehozott automata lehet nemdeterminisztikus.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hu-HU" sz="2400" dirty="0" smtClean="0"/>
              <a:t>Ha például </a:t>
            </a:r>
            <a:r>
              <a:rPr lang="hu-HU" sz="2400" dirty="0" err="1" smtClean="0"/>
              <a:t>A</a:t>
            </a:r>
            <a:r>
              <a:rPr lang="hu-H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→aB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/>
              <a:t>∈ </a:t>
            </a:r>
            <a:r>
              <a:rPr lang="hu-HU" sz="2400" dirty="0" smtClean="0"/>
              <a:t>P és </a:t>
            </a:r>
            <a:r>
              <a:rPr lang="hu-HU" sz="2400" dirty="0" err="1"/>
              <a:t>A</a:t>
            </a:r>
            <a:r>
              <a:rPr lang="hu-H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hu-H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hu-H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/>
              <a:t>∈ </a:t>
            </a:r>
            <a:r>
              <a:rPr lang="hu-HU" sz="2400" dirty="0" smtClean="0"/>
              <a:t>P szabály is van, akkor ennek az alábbi automata felel meg.</a:t>
            </a:r>
            <a:endParaRPr lang="hu-HU" sz="2400" dirty="0"/>
          </a:p>
          <a:p>
            <a:pPr marL="0" indent="0">
              <a:buNone/>
            </a:pPr>
            <a:endParaRPr lang="hu-HU" sz="2400" dirty="0" smtClean="0"/>
          </a:p>
          <a:p>
            <a:pPr marL="0" indent="0">
              <a:buNone/>
            </a:pPr>
            <a:endParaRPr lang="hu-HU" sz="2400" dirty="0"/>
          </a:p>
          <a:p>
            <a:pPr marL="0" indent="0">
              <a:buNone/>
            </a:pPr>
            <a:endParaRPr lang="hu-HU" sz="2400" dirty="0" smtClean="0"/>
          </a:p>
          <a:p>
            <a:pPr marL="0" indent="0">
              <a:buNone/>
            </a:pPr>
            <a:r>
              <a:rPr lang="hu-HU" sz="3600" dirty="0" smtClean="0"/>
              <a:t>		</a:t>
            </a:r>
            <a:endParaRPr lang="hu-HU" sz="3600" dirty="0"/>
          </a:p>
        </p:txBody>
      </p:sp>
      <p:sp>
        <p:nvSpPr>
          <p:cNvPr id="4" name="Ellipszis 3"/>
          <p:cNvSpPr/>
          <p:nvPr/>
        </p:nvSpPr>
        <p:spPr>
          <a:xfrm>
            <a:off x="3596997" y="3583437"/>
            <a:ext cx="740513" cy="714103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Ellipszis 4"/>
          <p:cNvSpPr/>
          <p:nvPr/>
        </p:nvSpPr>
        <p:spPr>
          <a:xfrm>
            <a:off x="1433715" y="3934297"/>
            <a:ext cx="800580" cy="726487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/>
          <p:cNvSpPr txBox="1"/>
          <p:nvPr/>
        </p:nvSpPr>
        <p:spPr>
          <a:xfrm>
            <a:off x="1591294" y="3993309"/>
            <a:ext cx="485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q</a:t>
            </a:r>
            <a:r>
              <a:rPr lang="hu-HU" sz="2400" baseline="-25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endParaRPr lang="hu-HU" sz="2400" baseline="-25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Szövegdoboz 6"/>
          <p:cNvSpPr txBox="1"/>
          <p:nvPr/>
        </p:nvSpPr>
        <p:spPr>
          <a:xfrm flipH="1">
            <a:off x="3726934" y="3611577"/>
            <a:ext cx="610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q</a:t>
            </a:r>
            <a:r>
              <a:rPr lang="hu-HU" sz="2400" baseline="-25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endParaRPr lang="hu-HU" sz="2400" baseline="-25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" name="Egyenes összekötő nyíllal 7"/>
          <p:cNvCxnSpPr>
            <a:stCxn id="5" idx="6"/>
          </p:cNvCxnSpPr>
          <p:nvPr/>
        </p:nvCxnSpPr>
        <p:spPr>
          <a:xfrm flipV="1">
            <a:off x="2234295" y="3993309"/>
            <a:ext cx="1362702" cy="304232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zövegdoboz 9"/>
          <p:cNvSpPr txBox="1"/>
          <p:nvPr/>
        </p:nvSpPr>
        <p:spPr>
          <a:xfrm>
            <a:off x="2417565" y="3680218"/>
            <a:ext cx="29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endParaRPr lang="hu-HU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Ellipszis 12"/>
          <p:cNvSpPr/>
          <p:nvPr/>
        </p:nvSpPr>
        <p:spPr>
          <a:xfrm>
            <a:off x="3495204" y="4934415"/>
            <a:ext cx="754579" cy="731212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Szövegdoboz 13"/>
          <p:cNvSpPr txBox="1"/>
          <p:nvPr/>
        </p:nvSpPr>
        <p:spPr>
          <a:xfrm flipH="1">
            <a:off x="3639207" y="4956271"/>
            <a:ext cx="610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q</a:t>
            </a:r>
            <a:r>
              <a:rPr lang="hu-HU" sz="2400" baseline="-25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endParaRPr lang="hu-HU" sz="2400" baseline="-25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5" name="Egyenes összekötő nyíllal 14"/>
          <p:cNvCxnSpPr>
            <a:stCxn id="5" idx="5"/>
          </p:cNvCxnSpPr>
          <p:nvPr/>
        </p:nvCxnSpPr>
        <p:spPr>
          <a:xfrm>
            <a:off x="2117053" y="4554392"/>
            <a:ext cx="1354468" cy="734473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zövegdoboz 16"/>
          <p:cNvSpPr txBox="1"/>
          <p:nvPr/>
        </p:nvSpPr>
        <p:spPr>
          <a:xfrm>
            <a:off x="2384453" y="4904364"/>
            <a:ext cx="29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endParaRPr lang="hu-HU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5018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11221156" cy="703507"/>
          </a:xfrm>
        </p:spPr>
        <p:txBody>
          <a:bodyPr>
            <a:normAutofit/>
          </a:bodyPr>
          <a:lstStyle/>
          <a:p>
            <a:r>
              <a:rPr lang="hu-HU" sz="3200" dirty="0" smtClean="0"/>
              <a:t>3-as típusú nyelvek kapcsolata a véges automatákkal</a:t>
            </a:r>
            <a:endParaRPr lang="hu-H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677333" y="1233431"/>
                <a:ext cx="9674577" cy="550178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hu-HU" sz="3600" dirty="0" smtClean="0"/>
                  <a:t>Bizonyítás vázlat:</a:t>
                </a:r>
              </a:p>
              <a:p>
                <a:pPr marL="0" indent="0">
                  <a:buNone/>
                </a:pPr>
                <a:r>
                  <a:rPr lang="hu-HU" sz="3600" dirty="0" smtClean="0"/>
                  <a:t>A konstrukcióból adódik, ha</a:t>
                </a:r>
              </a:p>
              <a:p>
                <a:pPr marL="0" indent="0">
                  <a:buNone/>
                </a:pPr>
                <a:r>
                  <a:rPr lang="hu-HU" sz="3600" dirty="0" smtClean="0"/>
                  <a:t>S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36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</m:rPr>
                          <a:rPr lang="hu-HU" sz="3600" b="0" i="0" dirty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</m:groupChr>
                  </m:oMath>
                </a14:m>
                <a:r>
                  <a:rPr lang="hu-HU" sz="3600" dirty="0" smtClean="0"/>
                  <a:t>*u ,akkor </a:t>
                </a:r>
                <a:r>
                  <a:rPr lang="hu-HU" sz="3600" dirty="0" err="1" smtClean="0"/>
                  <a:t>q</a:t>
                </a:r>
                <a:r>
                  <a:rPr lang="hu-HU" sz="3600" baseline="-25000" dirty="0" err="1" smtClean="0"/>
                  <a:t>S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36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1"/>
                          </m:rPr>
                          <a:rPr lang="hu-HU" sz="3600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groupChr>
                  </m:oMath>
                </a14:m>
                <a:r>
                  <a:rPr lang="hu-HU" sz="3600" dirty="0" smtClean="0"/>
                  <a:t>*u és fordítva.</a:t>
                </a:r>
              </a:p>
              <a:p>
                <a:pPr marL="0" indent="0">
                  <a:buNone/>
                </a:pPr>
                <a:endParaRPr lang="hu-HU" sz="3600" dirty="0"/>
              </a:p>
              <a:p>
                <a:pPr marL="0" indent="0">
                  <a:buNone/>
                </a:pPr>
                <a:r>
                  <a:rPr lang="hu-HU" sz="3600" dirty="0" smtClean="0"/>
                  <a:t>A tétel megfordításának bizonyítása hasonló, csak ott A automatához konstruáljuk meg a G 3-as típusú grammatikát.</a:t>
                </a: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3" y="1233431"/>
                <a:ext cx="9674577" cy="5501786"/>
              </a:xfrm>
              <a:blipFill>
                <a:blip r:embed="rId2"/>
                <a:stretch>
                  <a:fillRect l="-1890" t="-1550" r="-1323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0449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Példa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7333" y="1332090"/>
            <a:ext cx="9798755" cy="4899378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hu-HU" sz="2400" dirty="0" smtClean="0"/>
              <a:t>L:={</a:t>
            </a:r>
            <a:r>
              <a:rPr lang="hu-HU" sz="2400" dirty="0"/>
              <a:t>u</a:t>
            </a:r>
            <a:r>
              <a:rPr lang="es-ES" sz="2400" dirty="0"/>
              <a:t> ∈</a:t>
            </a:r>
            <a:r>
              <a:rPr lang="hu-HU" sz="2400" dirty="0"/>
              <a:t> </a:t>
            </a:r>
            <a:r>
              <a:rPr lang="hu-HU" sz="2400" dirty="0" smtClean="0"/>
              <a:t>{</a:t>
            </a:r>
            <a:r>
              <a:rPr lang="hu-HU" sz="2400" dirty="0" err="1" smtClean="0"/>
              <a:t>a,b</a:t>
            </a:r>
            <a:r>
              <a:rPr lang="hu-HU" sz="2400" dirty="0" smtClean="0"/>
              <a:t>}* </a:t>
            </a:r>
            <a:r>
              <a:rPr lang="hu-HU" sz="2400" dirty="0"/>
              <a:t>| </a:t>
            </a:r>
            <a:r>
              <a:rPr lang="hu-HU" sz="2400" dirty="0" smtClean="0"/>
              <a:t>az u szó ’a’ betűvel kezdődik és ’b’ betűre végződik}</a:t>
            </a:r>
          </a:p>
          <a:p>
            <a:pPr marL="0" indent="0">
              <a:buNone/>
            </a:pPr>
            <a:endParaRPr lang="hu-HU" sz="2400" dirty="0" smtClean="0"/>
          </a:p>
          <a:p>
            <a:pPr marL="0" indent="0">
              <a:buNone/>
            </a:pPr>
            <a:r>
              <a:rPr lang="hu-HU" sz="2400" dirty="0" smtClean="0"/>
              <a:t>G=({S,A,B},{</a:t>
            </a:r>
            <a:r>
              <a:rPr lang="hu-HU" sz="2400" dirty="0" err="1" smtClean="0"/>
              <a:t>a,b</a:t>
            </a:r>
            <a:r>
              <a:rPr lang="hu-HU" sz="2400" dirty="0" smtClean="0"/>
              <a:t>},P,S)</a:t>
            </a:r>
            <a:r>
              <a:rPr lang="hu-HU" sz="2400" dirty="0"/>
              <a:t> </a:t>
            </a:r>
            <a:r>
              <a:rPr lang="hu-HU" sz="2400" dirty="0" smtClean="0"/>
              <a:t>			A=({</a:t>
            </a:r>
            <a:r>
              <a:rPr lang="hu-HU" sz="2400" dirty="0" err="1" smtClean="0"/>
              <a:t>q</a:t>
            </a:r>
            <a:r>
              <a:rPr lang="hu-HU" sz="2400" baseline="-25000" dirty="0" err="1" smtClean="0"/>
              <a:t>S</a:t>
            </a:r>
            <a:r>
              <a:rPr lang="hu-HU" sz="2400" dirty="0" err="1" smtClean="0"/>
              <a:t>,q</a:t>
            </a:r>
            <a:r>
              <a:rPr lang="hu-HU" sz="2400" baseline="-25000" dirty="0" err="1" smtClean="0"/>
              <a:t>A</a:t>
            </a:r>
            <a:r>
              <a:rPr lang="hu-HU" sz="2400" dirty="0" err="1" smtClean="0"/>
              <a:t>,q</a:t>
            </a:r>
            <a:r>
              <a:rPr lang="hu-HU" sz="2400" baseline="-25000" dirty="0" err="1" smtClean="0"/>
              <a:t>B</a:t>
            </a:r>
            <a:r>
              <a:rPr lang="hu-HU" sz="2400" dirty="0"/>
              <a:t>},{</a:t>
            </a:r>
            <a:r>
              <a:rPr lang="hu-HU" sz="2400" dirty="0" err="1"/>
              <a:t>a,b</a:t>
            </a:r>
            <a:r>
              <a:rPr lang="hu-HU" sz="2400" dirty="0" smtClean="0"/>
              <a:t>},</a:t>
            </a:r>
            <a:r>
              <a:rPr lang="el-GR" sz="2400" dirty="0"/>
              <a:t> δ</a:t>
            </a:r>
            <a:r>
              <a:rPr lang="hu-HU" sz="2400" dirty="0" smtClean="0"/>
              <a:t>,{</a:t>
            </a:r>
            <a:r>
              <a:rPr lang="hu-HU" sz="2400" dirty="0" err="1" smtClean="0"/>
              <a:t>q</a:t>
            </a:r>
            <a:r>
              <a:rPr lang="hu-HU" sz="2400" baseline="-25000" dirty="0" err="1" smtClean="0"/>
              <a:t>S</a:t>
            </a:r>
            <a:r>
              <a:rPr lang="hu-HU" sz="2400" dirty="0" smtClean="0"/>
              <a:t>},{</a:t>
            </a:r>
            <a:r>
              <a:rPr lang="hu-HU" sz="2400" dirty="0" err="1" smtClean="0"/>
              <a:t>q</a:t>
            </a:r>
            <a:r>
              <a:rPr lang="hu-HU" sz="2400" baseline="-25000" dirty="0" err="1" smtClean="0"/>
              <a:t>B</a:t>
            </a:r>
            <a:r>
              <a:rPr lang="hu-HU" sz="2400" dirty="0" smtClean="0"/>
              <a:t>})</a:t>
            </a:r>
          </a:p>
          <a:p>
            <a:pPr marL="0" indent="0">
              <a:buNone/>
            </a:pPr>
            <a:r>
              <a:rPr lang="hu-HU" sz="2400" dirty="0" smtClean="0"/>
              <a:t>P: 	</a:t>
            </a:r>
            <a:r>
              <a:rPr lang="hu-HU" sz="2400" dirty="0" err="1" smtClean="0"/>
              <a:t>S</a:t>
            </a:r>
            <a:r>
              <a:rPr lang="hu-H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→aA</a:t>
            </a:r>
            <a:r>
              <a:rPr lang="hu-H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</a:p>
          <a:p>
            <a:pPr marL="0" indent="0">
              <a:buNone/>
            </a:pPr>
            <a:r>
              <a:rPr lang="hu-HU" sz="2400" dirty="0" smtClean="0"/>
              <a:t>	</a:t>
            </a:r>
            <a:r>
              <a:rPr lang="hu-HU" sz="2400" dirty="0" err="1" smtClean="0"/>
              <a:t>A</a:t>
            </a:r>
            <a:r>
              <a:rPr lang="hu-H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hu-H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endParaRPr lang="hu-HU" sz="2400" dirty="0"/>
          </a:p>
          <a:p>
            <a:pPr marL="0" indent="0">
              <a:buNone/>
            </a:pPr>
            <a:r>
              <a:rPr lang="hu-HU" sz="2400" dirty="0" smtClean="0"/>
              <a:t>	</a:t>
            </a:r>
            <a:r>
              <a:rPr lang="hu-HU" sz="2400" dirty="0" err="1" smtClean="0">
                <a:solidFill>
                  <a:srgbClr val="FF0000"/>
                </a:solidFill>
              </a:rPr>
              <a:t>A</a:t>
            </a:r>
            <a:r>
              <a:rPr lang="hu-HU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→bA</a:t>
            </a:r>
            <a:r>
              <a:rPr lang="hu-H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endParaRPr lang="hu-HU" sz="2400" dirty="0"/>
          </a:p>
          <a:p>
            <a:pPr marL="0" indent="0">
              <a:buNone/>
            </a:pPr>
            <a:r>
              <a:rPr lang="hu-HU" sz="2400" dirty="0" smtClean="0"/>
              <a:t>	</a:t>
            </a:r>
            <a:r>
              <a:rPr lang="hu-HU" sz="2400" dirty="0" err="1" smtClean="0">
                <a:solidFill>
                  <a:srgbClr val="FF0000"/>
                </a:solidFill>
              </a:rPr>
              <a:t>A</a:t>
            </a:r>
            <a:r>
              <a:rPr lang="hu-HU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→bB</a:t>
            </a:r>
            <a:endParaRPr lang="hu-HU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hu-HU" sz="2400" dirty="0" smtClean="0"/>
              <a:t>	B</a:t>
            </a:r>
            <a:r>
              <a:rPr lang="hu-H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l-G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endParaRPr lang="hu-HU" sz="2400" dirty="0"/>
          </a:p>
          <a:p>
            <a:pPr marL="0" indent="0">
              <a:buNone/>
            </a:pPr>
            <a:endParaRPr lang="hu-HU" sz="2400" dirty="0"/>
          </a:p>
          <a:p>
            <a:pPr marL="0" indent="0">
              <a:buNone/>
            </a:pPr>
            <a:endParaRPr lang="hu-HU" sz="2400" dirty="0"/>
          </a:p>
        </p:txBody>
      </p:sp>
      <p:sp>
        <p:nvSpPr>
          <p:cNvPr id="4" name="Ellipszis 3"/>
          <p:cNvSpPr/>
          <p:nvPr/>
        </p:nvSpPr>
        <p:spPr>
          <a:xfrm>
            <a:off x="5746750" y="3428152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Ellipszis 4"/>
          <p:cNvSpPr/>
          <p:nvPr/>
        </p:nvSpPr>
        <p:spPr>
          <a:xfrm>
            <a:off x="8359602" y="3427975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Ellipszis 5"/>
          <p:cNvSpPr/>
          <p:nvPr/>
        </p:nvSpPr>
        <p:spPr>
          <a:xfrm>
            <a:off x="3133898" y="3427975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7" name="Egyenes összekötő nyíllal 6"/>
          <p:cNvCxnSpPr/>
          <p:nvPr/>
        </p:nvCxnSpPr>
        <p:spPr>
          <a:xfrm>
            <a:off x="2651298" y="3885175"/>
            <a:ext cx="27031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zövegdoboz 7"/>
          <p:cNvSpPr txBox="1"/>
          <p:nvPr/>
        </p:nvSpPr>
        <p:spPr>
          <a:xfrm>
            <a:off x="3371670" y="3663849"/>
            <a:ext cx="48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 err="1" smtClean="0"/>
              <a:t>q</a:t>
            </a:r>
            <a:r>
              <a:rPr lang="hu-HU" sz="2000" baseline="-25000" dirty="0" err="1" smtClean="0"/>
              <a:t>S</a:t>
            </a:r>
            <a:endParaRPr lang="hu-HU" sz="2000" baseline="-25000" dirty="0"/>
          </a:p>
        </p:txBody>
      </p:sp>
      <p:sp>
        <p:nvSpPr>
          <p:cNvPr id="9" name="Szövegdoboz 8"/>
          <p:cNvSpPr txBox="1"/>
          <p:nvPr/>
        </p:nvSpPr>
        <p:spPr>
          <a:xfrm flipH="1">
            <a:off x="5970411" y="3663180"/>
            <a:ext cx="610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 err="1" smtClean="0"/>
              <a:t>q</a:t>
            </a:r>
            <a:r>
              <a:rPr lang="hu-HU" sz="2000" baseline="-25000" dirty="0" err="1" smtClean="0"/>
              <a:t>A</a:t>
            </a:r>
            <a:endParaRPr lang="hu-HU" sz="2000" baseline="-25000" dirty="0"/>
          </a:p>
        </p:txBody>
      </p:sp>
      <p:sp>
        <p:nvSpPr>
          <p:cNvPr id="10" name="Szövegdoboz 9"/>
          <p:cNvSpPr txBox="1"/>
          <p:nvPr/>
        </p:nvSpPr>
        <p:spPr>
          <a:xfrm>
            <a:off x="8574091" y="3665615"/>
            <a:ext cx="48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 err="1" smtClean="0"/>
              <a:t>q</a:t>
            </a:r>
            <a:r>
              <a:rPr lang="hu-HU" sz="2000" baseline="-25000" dirty="0" err="1" smtClean="0"/>
              <a:t>B</a:t>
            </a:r>
            <a:endParaRPr lang="hu-HU" sz="2000" baseline="-25000" dirty="0"/>
          </a:p>
        </p:txBody>
      </p:sp>
      <p:sp>
        <p:nvSpPr>
          <p:cNvPr id="11" name="Ellipszis 10"/>
          <p:cNvSpPr/>
          <p:nvPr/>
        </p:nvSpPr>
        <p:spPr>
          <a:xfrm>
            <a:off x="8465482" y="3566546"/>
            <a:ext cx="702640" cy="6660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2" name="Egyenes összekötő nyíllal 11"/>
          <p:cNvCxnSpPr>
            <a:stCxn id="6" idx="6"/>
          </p:cNvCxnSpPr>
          <p:nvPr/>
        </p:nvCxnSpPr>
        <p:spPr>
          <a:xfrm>
            <a:off x="4048298" y="3885175"/>
            <a:ext cx="158326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nyíllal 12"/>
          <p:cNvCxnSpPr/>
          <p:nvPr/>
        </p:nvCxnSpPr>
        <p:spPr>
          <a:xfrm>
            <a:off x="6776335" y="3885175"/>
            <a:ext cx="158326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Ív 13"/>
          <p:cNvSpPr/>
          <p:nvPr/>
        </p:nvSpPr>
        <p:spPr>
          <a:xfrm rot="12455027">
            <a:off x="5758375" y="4223762"/>
            <a:ext cx="1127435" cy="514290"/>
          </a:xfrm>
          <a:prstGeom prst="arc">
            <a:avLst>
              <a:gd name="adj1" fmla="val 8058026"/>
              <a:gd name="adj2" fmla="val 0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" name="Egyenes összekötő nyíllal 14"/>
          <p:cNvCxnSpPr/>
          <p:nvPr/>
        </p:nvCxnSpPr>
        <p:spPr>
          <a:xfrm flipH="1" flipV="1">
            <a:off x="6504406" y="4232590"/>
            <a:ext cx="122441" cy="12300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zövegdoboz 15"/>
          <p:cNvSpPr txBox="1"/>
          <p:nvPr/>
        </p:nvSpPr>
        <p:spPr>
          <a:xfrm>
            <a:off x="4514850" y="3427975"/>
            <a:ext cx="29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a</a:t>
            </a:r>
            <a:endParaRPr lang="hu-HU" dirty="0"/>
          </a:p>
        </p:txBody>
      </p:sp>
      <p:sp>
        <p:nvSpPr>
          <p:cNvPr id="17" name="Szövegdoboz 16"/>
          <p:cNvSpPr txBox="1"/>
          <p:nvPr/>
        </p:nvSpPr>
        <p:spPr>
          <a:xfrm>
            <a:off x="5544229" y="4468875"/>
            <a:ext cx="659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a, b</a:t>
            </a:r>
            <a:endParaRPr lang="hu-HU" dirty="0"/>
          </a:p>
        </p:txBody>
      </p:sp>
      <p:sp>
        <p:nvSpPr>
          <p:cNvPr id="18" name="Szövegdoboz 17"/>
          <p:cNvSpPr txBox="1"/>
          <p:nvPr/>
        </p:nvSpPr>
        <p:spPr>
          <a:xfrm>
            <a:off x="7332043" y="3427975"/>
            <a:ext cx="29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792080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Nemdeterminisztikus automaták determinisztikussá tétele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7334" y="2160589"/>
            <a:ext cx="9584266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600" dirty="0" smtClean="0"/>
              <a:t>Tétel:</a:t>
            </a:r>
          </a:p>
          <a:p>
            <a:pPr marL="0" indent="0">
              <a:buNone/>
            </a:pPr>
            <a:r>
              <a:rPr lang="hu-HU" sz="3600" dirty="0" smtClean="0"/>
              <a:t>Minden A=(Q,T,</a:t>
            </a:r>
            <a:r>
              <a:rPr lang="el-GR" sz="3600" dirty="0" smtClean="0"/>
              <a:t>δ</a:t>
            </a:r>
            <a:r>
              <a:rPr lang="hu-HU" sz="3600" dirty="0" smtClean="0"/>
              <a:t>,Q</a:t>
            </a:r>
            <a:r>
              <a:rPr lang="hu-HU" sz="3600" baseline="-25000" dirty="0" smtClean="0"/>
              <a:t>0</a:t>
            </a:r>
            <a:r>
              <a:rPr lang="hu-HU" sz="3600" dirty="0" smtClean="0"/>
              <a:t>,F) nemdeterminisztikus automatához megadható egy </a:t>
            </a:r>
            <a:br>
              <a:rPr lang="hu-HU" sz="3600" dirty="0" smtClean="0"/>
            </a:br>
            <a:r>
              <a:rPr lang="hu-HU" sz="3600" dirty="0" smtClean="0"/>
              <a:t>A’=(Q’,T,</a:t>
            </a:r>
            <a:r>
              <a:rPr lang="el-GR" sz="3600" dirty="0" smtClean="0"/>
              <a:t>δ</a:t>
            </a:r>
            <a:r>
              <a:rPr lang="hu-HU" sz="3600" dirty="0" smtClean="0"/>
              <a:t>’,q</a:t>
            </a:r>
            <a:r>
              <a:rPr lang="hu-HU" sz="3600" baseline="-25000" dirty="0" smtClean="0"/>
              <a:t>0</a:t>
            </a:r>
            <a:r>
              <a:rPr lang="hu-HU" sz="3600" dirty="0" smtClean="0"/>
              <a:t>’,F’) véges determinisztikus automata, hogy L(A’)=L(A).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hu-HU" sz="3200" dirty="0" smtClean="0"/>
              <a:t>		(</a:t>
            </a:r>
            <a:r>
              <a:rPr lang="hu-HU" sz="3200" b="1" dirty="0" smtClean="0">
                <a:latin typeface="Brush Script MT" panose="03060802040406070304" pitchFamily="66" charset="0"/>
              </a:rPr>
              <a:t>L</a:t>
            </a:r>
            <a:r>
              <a:rPr lang="hu-HU" sz="3200" b="1" baseline="-25000" dirty="0" smtClean="0"/>
              <a:t>VNDA </a:t>
            </a:r>
            <a:r>
              <a:rPr lang="hu-HU" sz="3200" dirty="0"/>
              <a:t>⊆ </a:t>
            </a:r>
            <a:r>
              <a:rPr lang="hu-HU" sz="3200" b="1" dirty="0" smtClean="0">
                <a:latin typeface="Brush Script MT" panose="03060802040406070304" pitchFamily="66" charset="0"/>
              </a:rPr>
              <a:t>L</a:t>
            </a:r>
            <a:r>
              <a:rPr lang="hu-HU" sz="3200" b="1" baseline="-25000" dirty="0" smtClean="0"/>
              <a:t>VDA</a:t>
            </a:r>
            <a:r>
              <a:rPr lang="hu-HU" sz="3200" dirty="0" smtClean="0"/>
              <a:t>)</a:t>
            </a:r>
            <a:endParaRPr lang="hu-HU" sz="3200" dirty="0"/>
          </a:p>
          <a:p>
            <a:pPr marL="0" indent="0">
              <a:buNone/>
            </a:pPr>
            <a:endParaRPr lang="hu-HU" sz="3600" dirty="0" smtClean="0"/>
          </a:p>
        </p:txBody>
      </p:sp>
    </p:spTree>
    <p:extLst>
      <p:ext uri="{BB962C8B-B14F-4D97-AF65-F5344CB8AC3E}">
        <p14:creationId xmlns:p14="http://schemas.microsoft.com/office/powerpoint/2010/main" val="1435689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3-as típusú nyelvek és automaták kapcsolata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14400" y="2160589"/>
            <a:ext cx="8596668" cy="38807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u-HU" sz="3900" dirty="0" smtClean="0">
                <a:latin typeface="Brush Script MT" panose="03060802040406070304" pitchFamily="66" charset="0"/>
              </a:rPr>
              <a:t>L</a:t>
            </a:r>
            <a:r>
              <a:rPr lang="hu-HU" sz="3900" baseline="-25000" dirty="0" smtClean="0"/>
              <a:t>3 </a:t>
            </a:r>
            <a:r>
              <a:rPr lang="hu-HU" sz="3900" dirty="0" smtClean="0">
                <a:sym typeface="Symbol" panose="05050102010706020507" pitchFamily="18" charset="2"/>
              </a:rPr>
              <a:t> </a:t>
            </a:r>
            <a:r>
              <a:rPr lang="hu-HU" sz="3900" dirty="0" smtClean="0">
                <a:latin typeface="Brush Script MT" panose="03060802040406070304" pitchFamily="66" charset="0"/>
              </a:rPr>
              <a:t>L</a:t>
            </a:r>
            <a:r>
              <a:rPr lang="hu-HU" sz="3900" baseline="-25000" dirty="0" smtClean="0"/>
              <a:t>VNDA </a:t>
            </a:r>
            <a:r>
              <a:rPr lang="hu-HU" sz="3900" dirty="0" smtClean="0"/>
              <a:t>és</a:t>
            </a:r>
            <a:r>
              <a:rPr lang="hu-HU" sz="3900" baseline="-25000" dirty="0" smtClean="0"/>
              <a:t> </a:t>
            </a:r>
            <a:r>
              <a:rPr lang="hu-HU" sz="3900" dirty="0" smtClean="0">
                <a:latin typeface="Brush Script MT" panose="03060802040406070304" pitchFamily="66" charset="0"/>
              </a:rPr>
              <a:t>L</a:t>
            </a:r>
            <a:r>
              <a:rPr lang="hu-HU" sz="3900" baseline="-25000" dirty="0" smtClean="0"/>
              <a:t>VNDA </a:t>
            </a:r>
            <a:r>
              <a:rPr lang="hu-HU" sz="3900" dirty="0">
                <a:sym typeface="Symbol" panose="05050102010706020507" pitchFamily="18" charset="2"/>
              </a:rPr>
              <a:t> </a:t>
            </a:r>
            <a:r>
              <a:rPr lang="hu-HU" sz="3900" dirty="0">
                <a:latin typeface="Brush Script MT" panose="03060802040406070304" pitchFamily="66" charset="0"/>
              </a:rPr>
              <a:t>L</a:t>
            </a:r>
            <a:r>
              <a:rPr lang="hu-HU" sz="3900" baseline="-25000" dirty="0"/>
              <a:t>3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hu-HU" sz="3000" dirty="0" smtClean="0"/>
              <a:t>(3-as normál formájú grammatika átírható automatává és fordítva.)</a:t>
            </a:r>
          </a:p>
          <a:p>
            <a:pPr marL="0" indent="0">
              <a:buNone/>
            </a:pPr>
            <a:r>
              <a:rPr lang="hu-HU" sz="3900" dirty="0" smtClean="0">
                <a:latin typeface="Brush Script MT" panose="03060802040406070304" pitchFamily="66" charset="0"/>
              </a:rPr>
              <a:t>L</a:t>
            </a:r>
            <a:r>
              <a:rPr lang="hu-HU" sz="3900" baseline="-25000" dirty="0" smtClean="0"/>
              <a:t>VDA </a:t>
            </a:r>
            <a:r>
              <a:rPr lang="hu-HU" sz="3900" dirty="0">
                <a:sym typeface="Symbol" panose="05050102010706020507" pitchFamily="18" charset="2"/>
              </a:rPr>
              <a:t> </a:t>
            </a:r>
            <a:r>
              <a:rPr lang="hu-HU" sz="3900" dirty="0" smtClean="0">
                <a:latin typeface="Brush Script MT" panose="03060802040406070304" pitchFamily="66" charset="0"/>
              </a:rPr>
              <a:t>L</a:t>
            </a:r>
            <a:r>
              <a:rPr lang="hu-HU" sz="3900" baseline="-25000" dirty="0" smtClean="0"/>
              <a:t>VNDA </a:t>
            </a:r>
            <a:r>
              <a:rPr lang="hu-HU" sz="3000" dirty="0" smtClean="0"/>
              <a:t>(Definíció alapján triviális.)</a:t>
            </a:r>
            <a:endParaRPr lang="hu-HU" sz="3000" dirty="0"/>
          </a:p>
          <a:p>
            <a:pPr marL="0" indent="0">
              <a:spcBef>
                <a:spcPts val="1800"/>
              </a:spcBef>
              <a:buNone/>
            </a:pPr>
            <a:r>
              <a:rPr lang="hu-HU" sz="3900" dirty="0" smtClean="0"/>
              <a:t>Ha </a:t>
            </a:r>
            <a:r>
              <a:rPr lang="hu-HU" sz="3900" dirty="0" smtClean="0">
                <a:latin typeface="Brush Script MT" panose="03060802040406070304" pitchFamily="66" charset="0"/>
              </a:rPr>
              <a:t>L</a:t>
            </a:r>
            <a:r>
              <a:rPr lang="hu-HU" sz="3900" baseline="-25000" dirty="0" smtClean="0"/>
              <a:t>VNDA</a:t>
            </a:r>
            <a:r>
              <a:rPr lang="hu-HU" sz="3900" dirty="0">
                <a:sym typeface="Symbol" panose="05050102010706020507" pitchFamily="18" charset="2"/>
              </a:rPr>
              <a:t> </a:t>
            </a:r>
            <a:r>
              <a:rPr lang="hu-HU" sz="3900" dirty="0" smtClean="0">
                <a:latin typeface="Brush Script MT" panose="03060802040406070304" pitchFamily="66" charset="0"/>
              </a:rPr>
              <a:t>L</a:t>
            </a:r>
            <a:r>
              <a:rPr lang="hu-HU" sz="3900" baseline="-25000" dirty="0" smtClean="0"/>
              <a:t>VDA </a:t>
            </a:r>
            <a:r>
              <a:rPr lang="hu-HU" sz="3900" dirty="0" smtClean="0"/>
              <a:t>is teljesülne, akkor</a:t>
            </a:r>
            <a:endParaRPr lang="hu-HU" sz="3900" baseline="-25000" dirty="0" smtClean="0"/>
          </a:p>
          <a:p>
            <a:pPr marL="1257300" lvl="3" indent="0">
              <a:buNone/>
            </a:pPr>
            <a:r>
              <a:rPr lang="hu-HU" sz="4800" dirty="0" smtClean="0">
                <a:latin typeface="Brush Script MT" panose="03060802040406070304" pitchFamily="66" charset="0"/>
              </a:rPr>
              <a:t>L</a:t>
            </a:r>
            <a:r>
              <a:rPr lang="hu-HU" sz="4800" baseline="-25000" dirty="0" smtClean="0"/>
              <a:t>3 </a:t>
            </a:r>
            <a:r>
              <a:rPr lang="hu-HU" sz="4800" dirty="0" smtClean="0">
                <a:sym typeface="Symbol" panose="05050102010706020507" pitchFamily="18" charset="2"/>
              </a:rPr>
              <a:t>= </a:t>
            </a:r>
            <a:r>
              <a:rPr lang="hu-HU" sz="4800" dirty="0" smtClean="0">
                <a:latin typeface="Brush Script MT" panose="03060802040406070304" pitchFamily="66" charset="0"/>
              </a:rPr>
              <a:t>L</a:t>
            </a:r>
            <a:r>
              <a:rPr lang="hu-HU" sz="4800" baseline="-25000" dirty="0" smtClean="0"/>
              <a:t>VNDA</a:t>
            </a:r>
            <a:r>
              <a:rPr lang="hu-HU" sz="4800" dirty="0" smtClean="0">
                <a:sym typeface="Symbol" panose="05050102010706020507" pitchFamily="18" charset="2"/>
              </a:rPr>
              <a:t> =</a:t>
            </a:r>
            <a:r>
              <a:rPr lang="hu-HU" sz="4800" dirty="0" smtClean="0">
                <a:latin typeface="Brush Script MT" panose="03060802040406070304" pitchFamily="66" charset="0"/>
              </a:rPr>
              <a:t>L</a:t>
            </a:r>
            <a:r>
              <a:rPr lang="hu-HU" sz="4800" baseline="-25000" dirty="0" smtClean="0"/>
              <a:t>VDA</a:t>
            </a:r>
            <a:r>
              <a:rPr lang="hu-HU" sz="4800" dirty="0" smtClean="0"/>
              <a:t>.</a:t>
            </a:r>
            <a:endParaRPr lang="hu-HU" sz="4800" baseline="-25000" dirty="0"/>
          </a:p>
          <a:p>
            <a:pPr marL="0" indent="0">
              <a:buNone/>
            </a:pPr>
            <a:endParaRPr lang="hu-HU" sz="3600" baseline="-25000" dirty="0"/>
          </a:p>
          <a:p>
            <a:pPr marL="0" indent="0">
              <a:buNone/>
            </a:pPr>
            <a:endParaRPr lang="hu-HU" sz="3600" dirty="0"/>
          </a:p>
          <a:p>
            <a:pPr marL="0" indent="0">
              <a:buNone/>
            </a:pPr>
            <a:endParaRPr lang="hu-HU" sz="3600" dirty="0"/>
          </a:p>
          <a:p>
            <a:pPr marL="0" indent="0">
              <a:buNone/>
            </a:pPr>
            <a:endParaRPr lang="hu-HU" sz="3600" dirty="0"/>
          </a:p>
        </p:txBody>
      </p:sp>
    </p:spTree>
    <p:extLst>
      <p:ext uri="{BB962C8B-B14F-4D97-AF65-F5344CB8AC3E}">
        <p14:creationId xmlns:p14="http://schemas.microsoft.com/office/powerpoint/2010/main" val="171713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Példa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7333" y="1332090"/>
            <a:ext cx="9798755" cy="4899378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hu-HU" sz="2400" dirty="0" smtClean="0"/>
              <a:t>L:={</a:t>
            </a:r>
            <a:r>
              <a:rPr lang="hu-HU" sz="2400" dirty="0"/>
              <a:t>u</a:t>
            </a:r>
            <a:r>
              <a:rPr lang="es-ES" sz="2400" dirty="0"/>
              <a:t> ∈</a:t>
            </a:r>
            <a:r>
              <a:rPr lang="hu-HU" sz="2400" dirty="0"/>
              <a:t> </a:t>
            </a:r>
            <a:r>
              <a:rPr lang="hu-HU" sz="2400" dirty="0" smtClean="0"/>
              <a:t>{</a:t>
            </a:r>
            <a:r>
              <a:rPr lang="hu-HU" sz="2400" dirty="0" err="1" smtClean="0"/>
              <a:t>a,b</a:t>
            </a:r>
            <a:r>
              <a:rPr lang="hu-HU" sz="2400" dirty="0" smtClean="0"/>
              <a:t>}* </a:t>
            </a:r>
            <a:r>
              <a:rPr lang="hu-HU" sz="2400" dirty="0"/>
              <a:t>| </a:t>
            </a:r>
            <a:r>
              <a:rPr lang="hu-HU" sz="2400" dirty="0" smtClean="0"/>
              <a:t>az u szó ’a’ betűvel kezdődik és ’b’ betűre végződik}</a:t>
            </a:r>
          </a:p>
          <a:p>
            <a:pPr marL="0" indent="0">
              <a:buNone/>
            </a:pPr>
            <a:endParaRPr lang="hu-HU" sz="2400" dirty="0" smtClean="0"/>
          </a:p>
        </p:txBody>
      </p:sp>
      <p:sp>
        <p:nvSpPr>
          <p:cNvPr id="4" name="Ellipszis 3"/>
          <p:cNvSpPr/>
          <p:nvPr/>
        </p:nvSpPr>
        <p:spPr>
          <a:xfrm>
            <a:off x="4696884" y="2310552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Ellipszis 4"/>
          <p:cNvSpPr/>
          <p:nvPr/>
        </p:nvSpPr>
        <p:spPr>
          <a:xfrm>
            <a:off x="7309736" y="2310375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Ellipszis 5"/>
          <p:cNvSpPr/>
          <p:nvPr/>
        </p:nvSpPr>
        <p:spPr>
          <a:xfrm>
            <a:off x="2084032" y="2310375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7" name="Egyenes összekötő nyíllal 6"/>
          <p:cNvCxnSpPr/>
          <p:nvPr/>
        </p:nvCxnSpPr>
        <p:spPr>
          <a:xfrm>
            <a:off x="1601432" y="2767575"/>
            <a:ext cx="27031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zövegdoboz 7"/>
          <p:cNvSpPr txBox="1"/>
          <p:nvPr/>
        </p:nvSpPr>
        <p:spPr>
          <a:xfrm>
            <a:off x="2321804" y="2546249"/>
            <a:ext cx="48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 err="1" smtClean="0"/>
              <a:t>q</a:t>
            </a:r>
            <a:r>
              <a:rPr lang="hu-HU" sz="2000" baseline="-25000" dirty="0" err="1" smtClean="0"/>
              <a:t>S</a:t>
            </a:r>
            <a:endParaRPr lang="hu-HU" sz="2000" baseline="-25000" dirty="0"/>
          </a:p>
        </p:txBody>
      </p:sp>
      <p:sp>
        <p:nvSpPr>
          <p:cNvPr id="9" name="Szövegdoboz 8"/>
          <p:cNvSpPr txBox="1"/>
          <p:nvPr/>
        </p:nvSpPr>
        <p:spPr>
          <a:xfrm flipH="1">
            <a:off x="4920545" y="2545580"/>
            <a:ext cx="610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 err="1" smtClean="0"/>
              <a:t>q</a:t>
            </a:r>
            <a:r>
              <a:rPr lang="hu-HU" sz="2000" baseline="-25000" dirty="0" err="1" smtClean="0"/>
              <a:t>A</a:t>
            </a:r>
            <a:endParaRPr lang="hu-HU" sz="2000" baseline="-25000" dirty="0"/>
          </a:p>
        </p:txBody>
      </p:sp>
      <p:sp>
        <p:nvSpPr>
          <p:cNvPr id="10" name="Szövegdoboz 9"/>
          <p:cNvSpPr txBox="1"/>
          <p:nvPr/>
        </p:nvSpPr>
        <p:spPr>
          <a:xfrm>
            <a:off x="7524225" y="2548015"/>
            <a:ext cx="48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 err="1" smtClean="0"/>
              <a:t>q</a:t>
            </a:r>
            <a:r>
              <a:rPr lang="hu-HU" sz="2000" baseline="-25000" dirty="0" err="1" smtClean="0"/>
              <a:t>B</a:t>
            </a:r>
            <a:endParaRPr lang="hu-HU" sz="2000" baseline="-25000" dirty="0"/>
          </a:p>
        </p:txBody>
      </p:sp>
      <p:sp>
        <p:nvSpPr>
          <p:cNvPr id="11" name="Ellipszis 10"/>
          <p:cNvSpPr/>
          <p:nvPr/>
        </p:nvSpPr>
        <p:spPr>
          <a:xfrm>
            <a:off x="7415616" y="2448946"/>
            <a:ext cx="702640" cy="6660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2" name="Egyenes összekötő nyíllal 11"/>
          <p:cNvCxnSpPr>
            <a:stCxn id="6" idx="6"/>
          </p:cNvCxnSpPr>
          <p:nvPr/>
        </p:nvCxnSpPr>
        <p:spPr>
          <a:xfrm>
            <a:off x="2998432" y="2767575"/>
            <a:ext cx="158326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nyíllal 12"/>
          <p:cNvCxnSpPr/>
          <p:nvPr/>
        </p:nvCxnSpPr>
        <p:spPr>
          <a:xfrm>
            <a:off x="5726469" y="2767575"/>
            <a:ext cx="158326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Ív 13"/>
          <p:cNvSpPr/>
          <p:nvPr/>
        </p:nvSpPr>
        <p:spPr>
          <a:xfrm rot="12455027">
            <a:off x="4708509" y="3106162"/>
            <a:ext cx="1127435" cy="514290"/>
          </a:xfrm>
          <a:prstGeom prst="arc">
            <a:avLst>
              <a:gd name="adj1" fmla="val 8058026"/>
              <a:gd name="adj2" fmla="val 0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" name="Egyenes összekötő nyíllal 14"/>
          <p:cNvCxnSpPr/>
          <p:nvPr/>
        </p:nvCxnSpPr>
        <p:spPr>
          <a:xfrm flipH="1" flipV="1">
            <a:off x="5454540" y="3114990"/>
            <a:ext cx="122441" cy="12300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zövegdoboz 15"/>
          <p:cNvSpPr txBox="1"/>
          <p:nvPr/>
        </p:nvSpPr>
        <p:spPr>
          <a:xfrm>
            <a:off x="3464984" y="2310375"/>
            <a:ext cx="29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a</a:t>
            </a:r>
            <a:endParaRPr lang="hu-HU" dirty="0"/>
          </a:p>
        </p:txBody>
      </p:sp>
      <p:sp>
        <p:nvSpPr>
          <p:cNvPr id="17" name="Szövegdoboz 16"/>
          <p:cNvSpPr txBox="1"/>
          <p:nvPr/>
        </p:nvSpPr>
        <p:spPr>
          <a:xfrm>
            <a:off x="4494363" y="3351275"/>
            <a:ext cx="659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a, b</a:t>
            </a:r>
            <a:endParaRPr lang="hu-HU" dirty="0"/>
          </a:p>
        </p:txBody>
      </p:sp>
      <p:sp>
        <p:nvSpPr>
          <p:cNvPr id="18" name="Szövegdoboz 17"/>
          <p:cNvSpPr txBox="1"/>
          <p:nvPr/>
        </p:nvSpPr>
        <p:spPr>
          <a:xfrm>
            <a:off x="6282177" y="2310375"/>
            <a:ext cx="29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</a:t>
            </a:r>
          </a:p>
        </p:txBody>
      </p:sp>
      <p:sp>
        <p:nvSpPr>
          <p:cNvPr id="19" name="Ellipszis 18"/>
          <p:cNvSpPr/>
          <p:nvPr/>
        </p:nvSpPr>
        <p:spPr>
          <a:xfrm>
            <a:off x="4815418" y="4156883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Ellipszis 19"/>
          <p:cNvSpPr/>
          <p:nvPr/>
        </p:nvSpPr>
        <p:spPr>
          <a:xfrm>
            <a:off x="7428270" y="4156706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/>
          <p:cNvSpPr/>
          <p:nvPr/>
        </p:nvSpPr>
        <p:spPr>
          <a:xfrm>
            <a:off x="2202566" y="4156706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2" name="Egyenes összekötő nyíllal 21"/>
          <p:cNvCxnSpPr/>
          <p:nvPr/>
        </p:nvCxnSpPr>
        <p:spPr>
          <a:xfrm>
            <a:off x="1719966" y="4613906"/>
            <a:ext cx="27031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zövegdoboz 22"/>
          <p:cNvSpPr txBox="1"/>
          <p:nvPr/>
        </p:nvSpPr>
        <p:spPr>
          <a:xfrm>
            <a:off x="2440338" y="4392580"/>
            <a:ext cx="48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 smtClean="0"/>
              <a:t>S</a:t>
            </a:r>
            <a:endParaRPr lang="hu-HU" sz="2000" dirty="0"/>
          </a:p>
        </p:txBody>
      </p:sp>
      <p:sp>
        <p:nvSpPr>
          <p:cNvPr id="24" name="Szövegdoboz 23"/>
          <p:cNvSpPr txBox="1"/>
          <p:nvPr/>
        </p:nvSpPr>
        <p:spPr>
          <a:xfrm flipH="1">
            <a:off x="5039079" y="4391911"/>
            <a:ext cx="610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 smtClean="0"/>
              <a:t>A</a:t>
            </a:r>
            <a:endParaRPr lang="hu-HU" sz="2000" dirty="0"/>
          </a:p>
        </p:txBody>
      </p:sp>
      <p:sp>
        <p:nvSpPr>
          <p:cNvPr id="25" name="Szövegdoboz 24"/>
          <p:cNvSpPr txBox="1"/>
          <p:nvPr/>
        </p:nvSpPr>
        <p:spPr>
          <a:xfrm>
            <a:off x="7642759" y="4394346"/>
            <a:ext cx="48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 smtClean="0"/>
              <a:t>B</a:t>
            </a:r>
            <a:endParaRPr lang="hu-HU" sz="2000" dirty="0"/>
          </a:p>
        </p:txBody>
      </p:sp>
      <p:sp>
        <p:nvSpPr>
          <p:cNvPr id="26" name="Ellipszis 25"/>
          <p:cNvSpPr/>
          <p:nvPr/>
        </p:nvSpPr>
        <p:spPr>
          <a:xfrm>
            <a:off x="7534150" y="4295277"/>
            <a:ext cx="702640" cy="6660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7" name="Egyenes összekötő nyíllal 26"/>
          <p:cNvCxnSpPr>
            <a:stCxn id="21" idx="6"/>
          </p:cNvCxnSpPr>
          <p:nvPr/>
        </p:nvCxnSpPr>
        <p:spPr>
          <a:xfrm>
            <a:off x="3116966" y="4613906"/>
            <a:ext cx="158326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gyenes összekötő nyíllal 27"/>
          <p:cNvCxnSpPr/>
          <p:nvPr/>
        </p:nvCxnSpPr>
        <p:spPr>
          <a:xfrm>
            <a:off x="5845003" y="4500211"/>
            <a:ext cx="158326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gyenes összekötő nyíllal 28"/>
          <p:cNvCxnSpPr/>
          <p:nvPr/>
        </p:nvCxnSpPr>
        <p:spPr>
          <a:xfrm flipH="1" flipV="1">
            <a:off x="5603749" y="4980356"/>
            <a:ext cx="122441" cy="12300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zövegdoboz 29"/>
          <p:cNvSpPr txBox="1"/>
          <p:nvPr/>
        </p:nvSpPr>
        <p:spPr>
          <a:xfrm>
            <a:off x="3583518" y="4156706"/>
            <a:ext cx="29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a</a:t>
            </a:r>
            <a:endParaRPr lang="hu-HU" dirty="0"/>
          </a:p>
        </p:txBody>
      </p:sp>
      <p:sp>
        <p:nvSpPr>
          <p:cNvPr id="31" name="Szövegdoboz 30"/>
          <p:cNvSpPr txBox="1"/>
          <p:nvPr/>
        </p:nvSpPr>
        <p:spPr>
          <a:xfrm>
            <a:off x="6398526" y="4816740"/>
            <a:ext cx="307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a</a:t>
            </a:r>
            <a:endParaRPr lang="hu-HU" dirty="0"/>
          </a:p>
        </p:txBody>
      </p:sp>
      <p:sp>
        <p:nvSpPr>
          <p:cNvPr id="32" name="Szövegdoboz 31"/>
          <p:cNvSpPr txBox="1"/>
          <p:nvPr/>
        </p:nvSpPr>
        <p:spPr>
          <a:xfrm>
            <a:off x="6400711" y="4156706"/>
            <a:ext cx="29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</a:t>
            </a:r>
          </a:p>
        </p:txBody>
      </p:sp>
      <p:cxnSp>
        <p:nvCxnSpPr>
          <p:cNvPr id="34" name="Egyenes összekötő nyíllal 33"/>
          <p:cNvCxnSpPr/>
          <p:nvPr/>
        </p:nvCxnSpPr>
        <p:spPr>
          <a:xfrm flipH="1">
            <a:off x="5845003" y="4792021"/>
            <a:ext cx="1570614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Ív 35"/>
          <p:cNvSpPr/>
          <p:nvPr/>
        </p:nvSpPr>
        <p:spPr>
          <a:xfrm rot="12455027">
            <a:off x="4857758" y="4953769"/>
            <a:ext cx="1127435" cy="514290"/>
          </a:xfrm>
          <a:prstGeom prst="arc">
            <a:avLst>
              <a:gd name="adj1" fmla="val 8058026"/>
              <a:gd name="adj2" fmla="val 0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7" name="Ív 36"/>
          <p:cNvSpPr/>
          <p:nvPr/>
        </p:nvSpPr>
        <p:spPr>
          <a:xfrm rot="12455027">
            <a:off x="7445929" y="4860098"/>
            <a:ext cx="1127435" cy="514290"/>
          </a:xfrm>
          <a:prstGeom prst="arc">
            <a:avLst>
              <a:gd name="adj1" fmla="val 8058026"/>
              <a:gd name="adj2" fmla="val 0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38" name="Egyenes összekötő nyíllal 37"/>
          <p:cNvCxnSpPr/>
          <p:nvPr/>
        </p:nvCxnSpPr>
        <p:spPr>
          <a:xfrm flipH="1" flipV="1">
            <a:off x="8211949" y="4899817"/>
            <a:ext cx="122441" cy="12300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Szövegdoboz 38"/>
          <p:cNvSpPr txBox="1"/>
          <p:nvPr/>
        </p:nvSpPr>
        <p:spPr>
          <a:xfrm>
            <a:off x="4749196" y="5215071"/>
            <a:ext cx="39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a</a:t>
            </a:r>
            <a:endParaRPr lang="hu-HU" dirty="0"/>
          </a:p>
        </p:txBody>
      </p:sp>
      <p:sp>
        <p:nvSpPr>
          <p:cNvPr id="40" name="Szövegdoboz 39"/>
          <p:cNvSpPr txBox="1"/>
          <p:nvPr/>
        </p:nvSpPr>
        <p:spPr>
          <a:xfrm>
            <a:off x="7724984" y="5399737"/>
            <a:ext cx="39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</a:t>
            </a:r>
          </a:p>
        </p:txBody>
      </p:sp>
      <p:sp>
        <p:nvSpPr>
          <p:cNvPr id="33" name="Szövegdoboz 32"/>
          <p:cNvSpPr txBox="1"/>
          <p:nvPr/>
        </p:nvSpPr>
        <p:spPr>
          <a:xfrm>
            <a:off x="9137397" y="2560969"/>
            <a:ext cx="167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 smtClean="0"/>
              <a:t>Mj</a:t>
            </a:r>
            <a:r>
              <a:rPr lang="hu-HU" dirty="0" smtClean="0"/>
              <a:t>.: Ez VNDA.</a:t>
            </a:r>
            <a:endParaRPr lang="hu-HU" dirty="0"/>
          </a:p>
        </p:txBody>
      </p:sp>
      <p:sp>
        <p:nvSpPr>
          <p:cNvPr id="41" name="Szövegdoboz 40"/>
          <p:cNvSpPr txBox="1"/>
          <p:nvPr/>
        </p:nvSpPr>
        <p:spPr>
          <a:xfrm>
            <a:off x="9028027" y="4391911"/>
            <a:ext cx="167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Mj</a:t>
            </a:r>
            <a:r>
              <a:rPr lang="hu-HU" dirty="0"/>
              <a:t>.: Ez </a:t>
            </a:r>
            <a:r>
              <a:rPr lang="hu-HU" dirty="0" smtClean="0"/>
              <a:t>VDA</a:t>
            </a:r>
            <a:r>
              <a:rPr lang="hu-HU" dirty="0"/>
              <a:t>.</a:t>
            </a:r>
          </a:p>
        </p:txBody>
      </p:sp>
      <p:sp>
        <p:nvSpPr>
          <p:cNvPr id="42" name="Ellipszis 41"/>
          <p:cNvSpPr/>
          <p:nvPr/>
        </p:nvSpPr>
        <p:spPr>
          <a:xfrm>
            <a:off x="2202566" y="5451704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Szövegdoboz 42"/>
          <p:cNvSpPr txBox="1"/>
          <p:nvPr/>
        </p:nvSpPr>
        <p:spPr>
          <a:xfrm>
            <a:off x="2321804" y="5584403"/>
            <a:ext cx="6999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 smtClean="0"/>
              <a:t>Hiba</a:t>
            </a:r>
            <a:endParaRPr lang="hu-HU" sz="2000" dirty="0"/>
          </a:p>
        </p:txBody>
      </p:sp>
      <p:cxnSp>
        <p:nvCxnSpPr>
          <p:cNvPr id="44" name="Egyenes összekötő nyíllal 43"/>
          <p:cNvCxnSpPr>
            <a:stCxn id="21" idx="4"/>
            <a:endCxn id="42" idx="0"/>
          </p:cNvCxnSpPr>
          <p:nvPr/>
        </p:nvCxnSpPr>
        <p:spPr>
          <a:xfrm>
            <a:off x="2659766" y="5071106"/>
            <a:ext cx="0" cy="38059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Szövegdoboz 47"/>
          <p:cNvSpPr txBox="1"/>
          <p:nvPr/>
        </p:nvSpPr>
        <p:spPr>
          <a:xfrm>
            <a:off x="2297447" y="5056406"/>
            <a:ext cx="29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</a:t>
            </a:r>
          </a:p>
        </p:txBody>
      </p:sp>
      <p:sp>
        <p:nvSpPr>
          <p:cNvPr id="49" name="Ív 48"/>
          <p:cNvSpPr/>
          <p:nvPr/>
        </p:nvSpPr>
        <p:spPr>
          <a:xfrm rot="12455027">
            <a:off x="2833246" y="5973675"/>
            <a:ext cx="1276090" cy="425633"/>
          </a:xfrm>
          <a:prstGeom prst="arc">
            <a:avLst>
              <a:gd name="adj1" fmla="val 1658862"/>
              <a:gd name="adj2" fmla="val 19954611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50" name="Egyenes összekötő nyíllal 49"/>
          <p:cNvCxnSpPr/>
          <p:nvPr/>
        </p:nvCxnSpPr>
        <p:spPr>
          <a:xfrm flipH="1" flipV="1">
            <a:off x="3079670" y="5740052"/>
            <a:ext cx="169843" cy="13983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Szövegdoboz 51"/>
          <p:cNvSpPr txBox="1"/>
          <p:nvPr/>
        </p:nvSpPr>
        <p:spPr>
          <a:xfrm>
            <a:off x="3524989" y="5599792"/>
            <a:ext cx="610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 smtClean="0"/>
              <a:t>a,b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72211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Determinisztikus automata megkonstruálása:</a:t>
            </a: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2160589"/>
                <a:ext cx="8795140" cy="388077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hu-HU" sz="3200" dirty="0" smtClean="0"/>
                  <a:t>Legyen </a:t>
                </a:r>
                <a:r>
                  <a:rPr lang="hu-HU" sz="3200" b="1" dirty="0" smtClean="0"/>
                  <a:t>Q’:=</a:t>
                </a:r>
                <a:r>
                  <a:rPr lang="hu-HU" sz="3200" dirty="0">
                    <a:solidFill>
                      <a:srgbClr val="FF0000"/>
                    </a:solidFill>
                    <a:latin typeface="Brush Script MT" panose="03060802040406070304" pitchFamily="66" charset="0"/>
                    <a:cs typeface="Times New Roman" panose="02020603050405020304" pitchFamily="18" charset="0"/>
                  </a:rPr>
                  <a:t> </a:t>
                </a:r>
                <a:r>
                  <a:rPr lang="hu-HU" sz="3200" b="1" dirty="0">
                    <a:latin typeface="Brush Script MT" panose="03060802040406070304" pitchFamily="66" charset="0"/>
                    <a:cs typeface="Times New Roman" panose="02020603050405020304" pitchFamily="18" charset="0"/>
                  </a:rPr>
                  <a:t>P(</a:t>
                </a:r>
                <a:r>
                  <a:rPr lang="hu-HU" sz="3200" b="1" dirty="0">
                    <a:cs typeface="Times New Roman" panose="02020603050405020304" pitchFamily="18" charset="0"/>
                  </a:rPr>
                  <a:t>Q</a:t>
                </a:r>
                <a:r>
                  <a:rPr lang="hu-HU" sz="3200" b="1" dirty="0">
                    <a:latin typeface="Brush Script MT" panose="03060802040406070304" pitchFamily="66" charset="0"/>
                    <a:cs typeface="Times New Roman" panose="02020603050405020304" pitchFamily="18" charset="0"/>
                  </a:rPr>
                  <a:t>)</a:t>
                </a:r>
                <a:r>
                  <a:rPr lang="hu-HU" sz="3200" b="1" baseline="30000" dirty="0" smtClean="0"/>
                  <a:t> </a:t>
                </a:r>
                <a:r>
                  <a:rPr lang="hu-HU" sz="3200" dirty="0" smtClean="0"/>
                  <a:t>,</a:t>
                </a:r>
                <a:r>
                  <a:rPr lang="hu-HU" sz="2400" dirty="0" smtClean="0"/>
                  <a:t>azaz Q összes részhalmazainak halmaza, azaz hatványhalmaza.</a:t>
                </a:r>
              </a:p>
              <a:p>
                <a:pPr marL="0" indent="0">
                  <a:buNone/>
                </a:pPr>
                <a:r>
                  <a:rPr lang="hu-HU" sz="3200" dirty="0" smtClean="0"/>
                  <a:t>Legyen a </a:t>
                </a:r>
                <a:r>
                  <a:rPr lang="el-GR" sz="3200" dirty="0" smtClean="0"/>
                  <a:t>δ</a:t>
                </a:r>
                <a:r>
                  <a:rPr lang="hu-HU" sz="3200" dirty="0" smtClean="0"/>
                  <a:t>’: Q’ x T </a:t>
                </a:r>
                <a:r>
                  <a:rPr lang="hu-HU" sz="3200" dirty="0" smtClean="0">
                    <a:cs typeface="Times New Roman" panose="02020603050405020304" pitchFamily="18" charset="0"/>
                  </a:rPr>
                  <a:t>→ Q’ a következőképpen definiálva:</a:t>
                </a:r>
              </a:p>
              <a:p>
                <a:pPr marL="0" indent="0">
                  <a:buNone/>
                </a:pPr>
                <a:r>
                  <a:rPr lang="hu-HU" sz="3200" dirty="0" smtClean="0"/>
                  <a:t>	</a:t>
                </a:r>
                <a:r>
                  <a:rPr lang="el-GR" sz="3200" b="1" dirty="0" smtClean="0"/>
                  <a:t>δ</a:t>
                </a:r>
                <a:r>
                  <a:rPr lang="hu-HU" sz="3200" b="1" dirty="0" smtClean="0"/>
                  <a:t>’(</a:t>
                </a:r>
                <a:r>
                  <a:rPr lang="hu-HU" sz="3200" b="1" dirty="0" err="1" smtClean="0"/>
                  <a:t>q’,a</a:t>
                </a:r>
                <a:r>
                  <a:rPr lang="hu-HU" sz="3200" b="1" dirty="0" smtClean="0"/>
                  <a:t>):=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hu-HU" sz="32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hu-HU" sz="3200" b="1" i="1" smtClean="0"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hu-HU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hu-HU" sz="3200" b="1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𝒒</m:t>
                        </m:r>
                        <m:r>
                          <a:rPr lang="hu-HU" sz="3200" b="1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l-GR" sz="3200" b="1" dirty="0"/>
                          <m:t>δ</m:t>
                        </m:r>
                        <m:r>
                          <m:rPr>
                            <m:nor/>
                          </m:rPr>
                          <a:rPr lang="hu-HU" sz="3200" b="1" dirty="0"/>
                          <m:t>(</m:t>
                        </m:r>
                        <m:r>
                          <m:rPr>
                            <m:nor/>
                          </m:rPr>
                          <a:rPr lang="hu-HU" sz="3200" b="1" dirty="0"/>
                          <m:t>q</m:t>
                        </m:r>
                        <m:r>
                          <m:rPr>
                            <m:nor/>
                          </m:rPr>
                          <a:rPr lang="hu-HU" sz="3200" b="1" dirty="0"/>
                          <m:t>,</m:t>
                        </m:r>
                        <m:r>
                          <m:rPr>
                            <m:nor/>
                          </m:rPr>
                          <a:rPr lang="hu-HU" sz="3200" b="1" dirty="0"/>
                          <m:t>a</m:t>
                        </m:r>
                        <m:r>
                          <m:rPr>
                            <m:nor/>
                          </m:rPr>
                          <a:rPr lang="hu-HU" sz="3200" b="1" dirty="0"/>
                          <m:t>)</m:t>
                        </m:r>
                      </m:e>
                    </m:nary>
                  </m:oMath>
                </a14:m>
                <a:r>
                  <a:rPr lang="hu-HU" sz="3200" dirty="0" smtClean="0">
                    <a:cs typeface="Times New Roman" panose="02020603050405020304" pitchFamily="18" charset="0"/>
                  </a:rPr>
                  <a:t>, ahol </a:t>
                </a:r>
                <a:r>
                  <a:rPr lang="hu-HU" sz="3200" dirty="0" err="1">
                    <a:cs typeface="Times New Roman" panose="02020603050405020304" pitchFamily="18" charset="0"/>
                  </a:rPr>
                  <a:t>q</a:t>
                </a:r>
                <a:r>
                  <a:rPr lang="hu-HU" sz="3200" dirty="0" err="1" smtClean="0">
                    <a:cs typeface="Times New Roman" panose="02020603050405020304" pitchFamily="18" charset="0"/>
                  </a:rPr>
                  <a:t>’∈Q</a:t>
                </a:r>
                <a:r>
                  <a:rPr lang="hu-HU" sz="3200" dirty="0" smtClean="0">
                    <a:cs typeface="Times New Roman" panose="02020603050405020304" pitchFamily="18" charset="0"/>
                  </a:rPr>
                  <a:t>’ </a:t>
                </a:r>
                <a:r>
                  <a:rPr lang="hu-HU" sz="3200" dirty="0">
                    <a:cs typeface="Times New Roman" panose="02020603050405020304" pitchFamily="18" charset="0"/>
                  </a:rPr>
                  <a:t>és </a:t>
                </a:r>
                <a:r>
                  <a:rPr lang="hu-HU" sz="3200" dirty="0" err="1">
                    <a:cs typeface="Times New Roman" panose="02020603050405020304" pitchFamily="18" charset="0"/>
                  </a:rPr>
                  <a:t>a</a:t>
                </a:r>
                <a:r>
                  <a:rPr lang="hu-HU" sz="3200" dirty="0" err="1" smtClean="0">
                    <a:cs typeface="Times New Roman" panose="02020603050405020304" pitchFamily="18" charset="0"/>
                  </a:rPr>
                  <a:t>∈T</a:t>
                </a:r>
                <a:r>
                  <a:rPr lang="hu-HU" sz="3200" dirty="0" smtClean="0"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hu-HU" sz="3200" dirty="0" smtClean="0">
                    <a:cs typeface="Times New Roman" panose="02020603050405020304" pitchFamily="18" charset="0"/>
                  </a:rPr>
                  <a:t>Legyen </a:t>
                </a:r>
                <a:r>
                  <a:rPr lang="hu-HU" sz="3200" dirty="0"/>
                  <a:t>q</a:t>
                </a:r>
                <a:r>
                  <a:rPr lang="hu-HU" sz="3200" baseline="-25000" dirty="0"/>
                  <a:t>0</a:t>
                </a:r>
                <a:r>
                  <a:rPr lang="hu-HU" sz="3200" dirty="0" smtClean="0"/>
                  <a:t>’:=Q</a:t>
                </a:r>
                <a:r>
                  <a:rPr lang="hu-HU" sz="3200" baseline="-25000" dirty="0" smtClean="0"/>
                  <a:t>0</a:t>
                </a:r>
                <a:r>
                  <a:rPr lang="hu-HU" sz="3200" dirty="0" smtClean="0"/>
                  <a:t> és F’:={</a:t>
                </a:r>
                <a:r>
                  <a:rPr lang="hu-HU" sz="3200" dirty="0" err="1" smtClean="0"/>
                  <a:t>q’</a:t>
                </a:r>
                <a:r>
                  <a:rPr lang="hu-HU" sz="3200" dirty="0" err="1" smtClean="0">
                    <a:cs typeface="Times New Roman" panose="02020603050405020304" pitchFamily="18" charset="0"/>
                  </a:rPr>
                  <a:t>∈</a:t>
                </a:r>
                <a:r>
                  <a:rPr lang="hu-HU" sz="3200" dirty="0" err="1">
                    <a:cs typeface="Times New Roman" panose="02020603050405020304" pitchFamily="18" charset="0"/>
                  </a:rPr>
                  <a:t>Q</a:t>
                </a:r>
                <a:r>
                  <a:rPr lang="hu-HU" sz="3200" dirty="0" err="1" smtClean="0">
                    <a:cs typeface="Times New Roman" panose="02020603050405020304" pitchFamily="18" charset="0"/>
                  </a:rPr>
                  <a:t>’|q</a:t>
                </a:r>
                <a:r>
                  <a:rPr lang="hu-HU" sz="3200" dirty="0" smtClean="0">
                    <a:cs typeface="Times New Roman" panose="02020603050405020304" pitchFamily="18" charset="0"/>
                  </a:rPr>
                  <a:t>’</a:t>
                </a:r>
                <a14:m>
                  <m:oMath xmlns:m="http://schemas.openxmlformats.org/officeDocument/2006/math">
                    <m:r>
                      <a:rPr lang="hu-HU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∩</m:t>
                    </m:r>
                  </m:oMath>
                </a14:m>
                <a:r>
                  <a:rPr lang="hu-HU" sz="3200" dirty="0" smtClean="0"/>
                  <a:t>F≠</a:t>
                </a:r>
                <a:r>
                  <a:rPr lang="hu-HU" sz="3200" dirty="0" smtClean="0">
                    <a:sym typeface="Symbol" panose="05050102010706020507" pitchFamily="18" charset="2"/>
                  </a:rPr>
                  <a:t></a:t>
                </a:r>
                <a:r>
                  <a:rPr lang="hu-HU" sz="3200" dirty="0" smtClean="0"/>
                  <a:t>}.</a:t>
                </a:r>
                <a:endParaRPr lang="hu-HU" sz="3200" dirty="0" smtClean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2160589"/>
                <a:ext cx="8795140" cy="3880773"/>
              </a:xfrm>
              <a:blipFill>
                <a:blip r:embed="rId2"/>
                <a:stretch>
                  <a:fillRect l="-1733" t="-2826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622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Konstrukció helyességének bizonyítása</a:t>
            </a:r>
            <a:br>
              <a:rPr lang="hu-HU" dirty="0" smtClean="0"/>
            </a:br>
            <a:r>
              <a:rPr lang="hu-HU" sz="2400" dirty="0" smtClean="0"/>
              <a:t>( L(A)</a:t>
            </a:r>
            <a:r>
              <a:rPr lang="hu-HU" sz="2400" dirty="0" smtClean="0">
                <a:sym typeface="Symbol" panose="05050102010706020507" pitchFamily="18" charset="2"/>
              </a:rPr>
              <a:t>L(A’) )</a:t>
            </a:r>
            <a:endParaRPr lang="hu-H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731147"/>
                <a:ext cx="8596668" cy="431021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hu-HU" sz="2400" b="1" u="sng" dirty="0" smtClean="0"/>
                  <a:t>Lemma1:</a:t>
                </a:r>
                <a:r>
                  <a:rPr lang="hu-HU" sz="2400" dirty="0" smtClean="0"/>
                  <a:t> </a:t>
                </a:r>
              </a:p>
              <a:p>
                <a:pPr marL="0" indent="0">
                  <a:buNone/>
                </a:pPr>
                <a:r>
                  <a:rPr lang="hu-HU" sz="2400" dirty="0" smtClean="0">
                    <a:sym typeface="Symbol" panose="05050102010706020507" pitchFamily="18" charset="2"/>
                  </a:rPr>
                  <a:t> </a:t>
                </a:r>
                <a:r>
                  <a:rPr lang="hu-HU" sz="2400" dirty="0" err="1" smtClean="0">
                    <a:sym typeface="Symbol" panose="05050102010706020507" pitchFamily="18" charset="2"/>
                  </a:rPr>
                  <a:t>q,p</a:t>
                </a:r>
                <a:r>
                  <a:rPr lang="hu-HU" sz="2400" dirty="0" err="1" smtClean="0">
                    <a:cs typeface="Times New Roman" panose="02020603050405020304" pitchFamily="18" charset="0"/>
                  </a:rPr>
                  <a:t>∈Q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 és </a:t>
                </a:r>
                <a:r>
                  <a:rPr lang="hu-HU" sz="2400" dirty="0" err="1" smtClean="0">
                    <a:cs typeface="Times New Roman" panose="02020603050405020304" pitchFamily="18" charset="0"/>
                  </a:rPr>
                  <a:t>q’∈Q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’ és </a:t>
                </a:r>
                <a:r>
                  <a:rPr lang="hu-HU" sz="2400" dirty="0" err="1" smtClean="0">
                    <a:cs typeface="Times New Roman" panose="02020603050405020304" pitchFamily="18" charset="0"/>
                  </a:rPr>
                  <a:t>u,v∈T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* esetén, ha</a:t>
                </a:r>
              </a:p>
              <a:p>
                <a:pPr marL="0" indent="0">
                  <a:buNone/>
                </a:pPr>
                <a:r>
                  <a:rPr lang="hu-HU" sz="2400" dirty="0" smtClean="0"/>
                  <a:t>		</a:t>
                </a:r>
                <a:r>
                  <a:rPr lang="hu-HU" sz="2400" dirty="0" err="1" smtClean="0"/>
                  <a:t>qu</a:t>
                </a:r>
                <a:r>
                  <a:rPr lang="hu-HU" sz="2400" dirty="0" smtClean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2400" b="1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hu-HU" sz="2400" b="1" i="1" dirty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groupChr>
                  </m:oMath>
                </a14:m>
                <a:r>
                  <a:rPr lang="hu-HU" sz="2400" b="1" dirty="0"/>
                  <a:t>*</a:t>
                </a:r>
                <a:r>
                  <a:rPr lang="hu-HU" sz="2400" b="1" baseline="-25000" dirty="0"/>
                  <a:t> </a:t>
                </a:r>
                <a:r>
                  <a:rPr lang="hu-HU" sz="2400" dirty="0" err="1" smtClean="0"/>
                  <a:t>pv</a:t>
                </a:r>
                <a:r>
                  <a:rPr lang="hu-HU" sz="2400" dirty="0" smtClean="0"/>
                  <a:t> és </a:t>
                </a:r>
                <a:r>
                  <a:rPr lang="hu-HU" sz="2400" dirty="0" err="1" smtClean="0"/>
                  <a:t>q</a:t>
                </a:r>
                <a:r>
                  <a:rPr lang="hu-HU" sz="2400" dirty="0" err="1" smtClean="0">
                    <a:cs typeface="Times New Roman" panose="02020603050405020304" pitchFamily="18" charset="0"/>
                  </a:rPr>
                  <a:t>∈q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’, akkor </a:t>
                </a:r>
              </a:p>
              <a:p>
                <a:pPr marL="0" indent="0">
                  <a:buNone/>
                </a:pPr>
                <a:r>
                  <a:rPr lang="hu-HU" sz="2400" dirty="0" smtClean="0">
                    <a:cs typeface="Times New Roman" panose="02020603050405020304" pitchFamily="18" charset="0"/>
                    <a:sym typeface="Symbol" panose="05050102010706020507" pitchFamily="18" charset="2"/>
                  </a:rPr>
                  <a:t>p’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 ∈Q’ úgy, hogy</a:t>
                </a:r>
              </a:p>
              <a:p>
                <a:pPr marL="0" indent="0">
                  <a:buNone/>
                </a:pPr>
                <a:r>
                  <a:rPr lang="hu-HU" sz="2400" dirty="0" smtClean="0"/>
                  <a:t>		</a:t>
                </a:r>
                <a:r>
                  <a:rPr lang="hu-HU" sz="2400" dirty="0" err="1" smtClean="0"/>
                  <a:t>q’u</a:t>
                </a:r>
                <a:r>
                  <a:rPr lang="hu-HU" sz="2400" dirty="0" smtClean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2400" b="1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hu-HU" sz="2400" b="1" i="1" dirty="0">
                            <a:latin typeface="Cambria Math" panose="02040503050406030204" pitchFamily="18" charset="0"/>
                          </a:rPr>
                          <m:t>𝐀</m:t>
                        </m:r>
                        <m:r>
                          <a:rPr lang="hu-HU" sz="2400" b="1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groupChr>
                  </m:oMath>
                </a14:m>
                <a:r>
                  <a:rPr lang="hu-HU" sz="2400" b="1" dirty="0"/>
                  <a:t>*</a:t>
                </a:r>
                <a:r>
                  <a:rPr lang="hu-HU" sz="2400" b="1" baseline="-25000" dirty="0"/>
                  <a:t> </a:t>
                </a:r>
                <a:r>
                  <a:rPr lang="hu-HU" sz="2400" dirty="0" err="1" smtClean="0"/>
                  <a:t>p’v</a:t>
                </a:r>
                <a:r>
                  <a:rPr lang="hu-HU" sz="2400" dirty="0" smtClean="0"/>
                  <a:t> </a:t>
                </a:r>
                <a:r>
                  <a:rPr lang="hu-HU" sz="2400" dirty="0"/>
                  <a:t>és </a:t>
                </a:r>
                <a:r>
                  <a:rPr lang="hu-HU" sz="2400" dirty="0" smtClean="0"/>
                  <a:t>p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 ∈p’.</a:t>
                </a:r>
              </a:p>
              <a:p>
                <a:pPr marL="0" indent="0">
                  <a:buNone/>
                </a:pPr>
                <a:r>
                  <a:rPr lang="hu-HU" sz="2400" dirty="0" smtClean="0">
                    <a:cs typeface="Times New Roman" panose="02020603050405020304" pitchFamily="18" charset="0"/>
                  </a:rPr>
                  <a:t>Ha </a:t>
                </a:r>
                <a:r>
                  <a:rPr lang="hu-HU" sz="2400" dirty="0" err="1" smtClean="0">
                    <a:cs typeface="Times New Roman" panose="02020603050405020304" pitchFamily="18" charset="0"/>
                  </a:rPr>
                  <a:t>u∈L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(A), akkor </a:t>
                </a:r>
                <a:r>
                  <a:rPr lang="hu-HU" sz="2400" dirty="0" smtClean="0">
                    <a:cs typeface="Times New Roman" panose="02020603050405020304" pitchFamily="18" charset="0"/>
                    <a:sym typeface="Symbol" panose="05050102010706020507" pitchFamily="18" charset="2"/>
                  </a:rPr>
                  <a:t> </a:t>
                </a:r>
                <a:r>
                  <a:rPr lang="hu-HU" sz="2400" dirty="0" smtClean="0"/>
                  <a:t>q</a:t>
                </a:r>
                <a:r>
                  <a:rPr lang="hu-HU" sz="2400" baseline="-25000" dirty="0" smtClean="0"/>
                  <a:t>0</a:t>
                </a:r>
                <a:r>
                  <a:rPr lang="hu-HU" sz="2400" dirty="0" smtClean="0"/>
                  <a:t>u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2400" b="1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hu-HU" sz="2400" b="1" i="1" dirty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groupChr>
                  </m:oMath>
                </a14:m>
                <a:r>
                  <a:rPr lang="hu-HU" sz="2400" b="1" dirty="0"/>
                  <a:t>*</a:t>
                </a:r>
                <a:r>
                  <a:rPr lang="hu-HU" sz="2400" b="1" baseline="-25000" dirty="0"/>
                  <a:t> </a:t>
                </a:r>
                <a:r>
                  <a:rPr lang="hu-HU" sz="2400" dirty="0" smtClean="0"/>
                  <a:t>p ,ahol </a:t>
                </a:r>
                <a:r>
                  <a:rPr lang="hu-HU" sz="2400" dirty="0"/>
                  <a:t>q</a:t>
                </a:r>
                <a:r>
                  <a:rPr lang="hu-HU" sz="2400" baseline="-25000" dirty="0"/>
                  <a:t>0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∈</a:t>
                </a:r>
                <a:r>
                  <a:rPr lang="hu-HU" sz="2400" dirty="0" smtClean="0"/>
                  <a:t>Q</a:t>
                </a:r>
                <a:r>
                  <a:rPr lang="hu-HU" sz="2400" baseline="-25000" dirty="0" smtClean="0"/>
                  <a:t>0</a:t>
                </a:r>
                <a:r>
                  <a:rPr lang="hu-HU" sz="2400" dirty="0" smtClean="0"/>
                  <a:t> és </a:t>
                </a:r>
                <a:r>
                  <a:rPr lang="hu-HU" sz="2400" dirty="0" err="1" smtClean="0"/>
                  <a:t>p</a:t>
                </a:r>
                <a:r>
                  <a:rPr lang="hu-HU" sz="2400" dirty="0" err="1" smtClean="0">
                    <a:cs typeface="Times New Roman" panose="02020603050405020304" pitchFamily="18" charset="0"/>
                  </a:rPr>
                  <a:t>∈F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.</a:t>
                </a:r>
                <a:endParaRPr lang="hu-HU" sz="2400" dirty="0" smtClean="0"/>
              </a:p>
              <a:p>
                <a:pPr marL="0" indent="0">
                  <a:buNone/>
                </a:pPr>
                <a:r>
                  <a:rPr lang="hu-HU" sz="2400" dirty="0" smtClean="0">
                    <a:cs typeface="Times New Roman" panose="02020603050405020304" pitchFamily="18" charset="0"/>
                  </a:rPr>
                  <a:t>Lemma1 alapján </a:t>
                </a:r>
                <a:r>
                  <a:rPr lang="hu-HU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p’</a:t>
                </a:r>
                <a:r>
                  <a:rPr lang="hu-HU" sz="2400" dirty="0">
                    <a:cs typeface="Times New Roman" panose="02020603050405020304" pitchFamily="18" charset="0"/>
                  </a:rPr>
                  <a:t> ∈Q’ úgy, 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hogy </a:t>
                </a:r>
                <a:r>
                  <a:rPr lang="hu-HU" sz="2400" dirty="0"/>
                  <a:t>	</a:t>
                </a:r>
                <a:r>
                  <a:rPr lang="hu-HU" sz="2400" dirty="0" smtClean="0"/>
                  <a:t>q</a:t>
                </a:r>
                <a:r>
                  <a:rPr lang="hu-HU" sz="2400" baseline="-25000" dirty="0"/>
                  <a:t>0</a:t>
                </a:r>
                <a:r>
                  <a:rPr lang="hu-HU" sz="2400" dirty="0" smtClean="0"/>
                  <a:t>’u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2400" b="1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hu-HU" sz="2400" b="1" i="1" dirty="0">
                            <a:latin typeface="Cambria Math" panose="02040503050406030204" pitchFamily="18" charset="0"/>
                          </a:rPr>
                          <m:t>𝐀</m:t>
                        </m:r>
                        <m:r>
                          <a:rPr lang="hu-HU" sz="2400" b="1" i="1" dirty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groupChr>
                  </m:oMath>
                </a14:m>
                <a:r>
                  <a:rPr lang="hu-HU" sz="2400" b="1" dirty="0"/>
                  <a:t>*</a:t>
                </a:r>
                <a:r>
                  <a:rPr lang="hu-HU" sz="2400" b="1" baseline="-25000" dirty="0"/>
                  <a:t> </a:t>
                </a:r>
                <a:r>
                  <a:rPr lang="hu-HU" sz="2400" dirty="0"/>
                  <a:t>p</a:t>
                </a:r>
                <a:r>
                  <a:rPr lang="hu-HU" sz="2400" dirty="0" smtClean="0"/>
                  <a:t>’ </a:t>
                </a:r>
                <a:r>
                  <a:rPr lang="hu-HU" sz="2400" dirty="0"/>
                  <a:t>és p</a:t>
                </a:r>
                <a:r>
                  <a:rPr lang="hu-HU" sz="2400" dirty="0">
                    <a:cs typeface="Times New Roman" panose="02020603050405020304" pitchFamily="18" charset="0"/>
                  </a:rPr>
                  <a:t> ∈p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’.</a:t>
                </a:r>
              </a:p>
              <a:p>
                <a:pPr marL="0" indent="0">
                  <a:buNone/>
                </a:pPr>
                <a:r>
                  <a:rPr lang="hu-HU" sz="2400" dirty="0" smtClean="0">
                    <a:cs typeface="Times New Roman" panose="02020603050405020304" pitchFamily="18" charset="0"/>
                  </a:rPr>
                  <a:t>De </a:t>
                </a:r>
                <a:r>
                  <a:rPr lang="hu-HU" sz="2400" dirty="0" err="1"/>
                  <a:t>p</a:t>
                </a:r>
                <a:r>
                  <a:rPr lang="hu-HU" sz="2400" dirty="0" err="1">
                    <a:cs typeface="Times New Roman" panose="02020603050405020304" pitchFamily="18" charset="0"/>
                  </a:rPr>
                  <a:t>∈</a:t>
                </a:r>
                <a:r>
                  <a:rPr lang="hu-HU" sz="2400" dirty="0" err="1" smtClean="0">
                    <a:cs typeface="Times New Roman" panose="02020603050405020304" pitchFamily="18" charset="0"/>
                  </a:rPr>
                  <a:t>F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, így p’</a:t>
                </a:r>
                <a14:m>
                  <m:oMath xmlns:m="http://schemas.openxmlformats.org/officeDocument/2006/math">
                    <m:r>
                      <a:rPr lang="hu-H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∩</m:t>
                    </m:r>
                  </m:oMath>
                </a14:m>
                <a:r>
                  <a:rPr lang="hu-HU" sz="2400" dirty="0"/>
                  <a:t>F</a:t>
                </a:r>
                <a:r>
                  <a:rPr lang="hu-HU" sz="2400" dirty="0" smtClean="0"/>
                  <a:t>≠</a:t>
                </a:r>
                <a:r>
                  <a:rPr lang="hu-HU" sz="2400" dirty="0" smtClean="0">
                    <a:sym typeface="Symbol" panose="05050102010706020507" pitchFamily="18" charset="2"/>
                  </a:rPr>
                  <a:t>, azaz </a:t>
                </a:r>
                <a:r>
                  <a:rPr lang="hu-HU" sz="2400" dirty="0" err="1" smtClean="0"/>
                  <a:t>p’</a:t>
                </a:r>
                <a:r>
                  <a:rPr lang="hu-HU" sz="2400" dirty="0" err="1" smtClean="0">
                    <a:cs typeface="Times New Roman" panose="02020603050405020304" pitchFamily="18" charset="0"/>
                  </a:rPr>
                  <a:t>∈F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’ </a:t>
                </a:r>
                <a:r>
                  <a:rPr lang="hu-HU" sz="2400" dirty="0" smtClean="0">
                    <a:sym typeface="Symbol" panose="05050102010706020507" pitchFamily="18" charset="2"/>
                  </a:rPr>
                  <a:t>azaz </a:t>
                </a:r>
                <a:r>
                  <a:rPr lang="hu-HU" sz="2400" dirty="0" err="1">
                    <a:cs typeface="Times New Roman" panose="02020603050405020304" pitchFamily="18" charset="0"/>
                  </a:rPr>
                  <a:t>u∈</a:t>
                </a:r>
                <a:r>
                  <a:rPr lang="hu-HU" sz="2400" dirty="0" err="1" smtClean="0">
                    <a:cs typeface="Times New Roman" panose="02020603050405020304" pitchFamily="18" charset="0"/>
                  </a:rPr>
                  <a:t>L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(A’). </a:t>
                </a:r>
                <a:endParaRPr lang="hu-HU" sz="24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hu-HU" dirty="0" smtClean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731147"/>
                <a:ext cx="8596668" cy="4310216"/>
              </a:xfrm>
              <a:blipFill>
                <a:blip r:embed="rId2"/>
                <a:stretch>
                  <a:fillRect l="-1064" t="-1132" b="-311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Egyenes összekötő 4"/>
          <p:cNvCxnSpPr/>
          <p:nvPr/>
        </p:nvCxnSpPr>
        <p:spPr>
          <a:xfrm>
            <a:off x="772357" y="4367813"/>
            <a:ext cx="7767961" cy="88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86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Konstrukció helyességének bizonyítása</a:t>
            </a:r>
            <a:br>
              <a:rPr lang="hu-HU" dirty="0" smtClean="0"/>
            </a:br>
            <a:r>
              <a:rPr lang="hu-HU" sz="2400" dirty="0" smtClean="0"/>
              <a:t>( L(A’)</a:t>
            </a:r>
            <a:r>
              <a:rPr lang="hu-HU" sz="2400" dirty="0" smtClean="0">
                <a:sym typeface="Symbol" panose="05050102010706020507" pitchFamily="18" charset="2"/>
              </a:rPr>
              <a:t>L(A) )</a:t>
            </a:r>
            <a:endParaRPr lang="hu-H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731147"/>
                <a:ext cx="8596668" cy="479394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hu-HU" sz="2400" b="1" u="sng" dirty="0" smtClean="0"/>
                  <a:t>Lemma2:</a:t>
                </a:r>
                <a:r>
                  <a:rPr lang="hu-HU" sz="2400" dirty="0" smtClean="0"/>
                  <a:t> </a:t>
                </a:r>
              </a:p>
              <a:p>
                <a:pPr marL="0" indent="0">
                  <a:buNone/>
                </a:pPr>
                <a:r>
                  <a:rPr lang="hu-HU" sz="2400" dirty="0" smtClean="0">
                    <a:sym typeface="Symbol" panose="05050102010706020507" pitchFamily="18" charset="2"/>
                  </a:rPr>
                  <a:t> </a:t>
                </a:r>
                <a:r>
                  <a:rPr lang="hu-HU" sz="2400" dirty="0" err="1" smtClean="0">
                    <a:sym typeface="Symbol" panose="05050102010706020507" pitchFamily="18" charset="2"/>
                  </a:rPr>
                  <a:t>q’,p’</a:t>
                </a:r>
                <a:r>
                  <a:rPr lang="hu-HU" sz="2400" dirty="0" err="1" smtClean="0">
                    <a:cs typeface="Times New Roman" panose="02020603050405020304" pitchFamily="18" charset="0"/>
                  </a:rPr>
                  <a:t>∈Q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’ és </a:t>
                </a:r>
                <a:r>
                  <a:rPr lang="hu-HU" sz="2400" dirty="0" err="1" smtClean="0">
                    <a:cs typeface="Times New Roman" panose="02020603050405020304" pitchFamily="18" charset="0"/>
                  </a:rPr>
                  <a:t>p∈Q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 és </a:t>
                </a:r>
                <a:r>
                  <a:rPr lang="hu-HU" sz="2400" dirty="0" err="1" smtClean="0">
                    <a:cs typeface="Times New Roman" panose="02020603050405020304" pitchFamily="18" charset="0"/>
                  </a:rPr>
                  <a:t>u,v∈T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* esetén, ha</a:t>
                </a:r>
              </a:p>
              <a:p>
                <a:pPr marL="0" indent="0">
                  <a:buNone/>
                </a:pPr>
                <a:r>
                  <a:rPr lang="hu-HU" sz="2400" dirty="0" smtClean="0"/>
                  <a:t>		</a:t>
                </a:r>
                <a:r>
                  <a:rPr lang="hu-HU" sz="2400" dirty="0" err="1" smtClean="0"/>
                  <a:t>q’u</a:t>
                </a:r>
                <a:r>
                  <a:rPr lang="hu-HU" sz="2400" dirty="0" smtClean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2400" b="1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hu-HU" sz="2400" b="1" i="1" dirty="0">
                            <a:latin typeface="Cambria Math" panose="02040503050406030204" pitchFamily="18" charset="0"/>
                          </a:rPr>
                          <m:t>𝐀</m:t>
                        </m:r>
                        <m:r>
                          <a:rPr lang="hu-HU" sz="2400" b="1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groupChr>
                  </m:oMath>
                </a14:m>
                <a:r>
                  <a:rPr lang="hu-HU" sz="2400" b="1" dirty="0"/>
                  <a:t>*</a:t>
                </a:r>
                <a:r>
                  <a:rPr lang="hu-HU" sz="2400" b="1" baseline="-25000" dirty="0"/>
                  <a:t> </a:t>
                </a:r>
                <a:r>
                  <a:rPr lang="hu-HU" sz="2400" dirty="0" err="1" smtClean="0"/>
                  <a:t>p’v</a:t>
                </a:r>
                <a:r>
                  <a:rPr lang="hu-HU" sz="2400" dirty="0" smtClean="0"/>
                  <a:t> és </a:t>
                </a:r>
                <a:r>
                  <a:rPr lang="hu-HU" sz="2400" dirty="0" err="1" smtClean="0"/>
                  <a:t>p</a:t>
                </a:r>
                <a:r>
                  <a:rPr lang="hu-HU" sz="2400" dirty="0" err="1" smtClean="0">
                    <a:cs typeface="Times New Roman" panose="02020603050405020304" pitchFamily="18" charset="0"/>
                  </a:rPr>
                  <a:t>∈p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’, akkor </a:t>
                </a:r>
              </a:p>
              <a:p>
                <a:pPr marL="0" indent="0">
                  <a:buNone/>
                </a:pPr>
                <a:r>
                  <a:rPr lang="hu-HU" sz="2400" dirty="0" smtClean="0">
                    <a:cs typeface="Times New Roman" panose="02020603050405020304" pitchFamily="18" charset="0"/>
                    <a:sym typeface="Symbol" panose="05050102010706020507" pitchFamily="18" charset="2"/>
                  </a:rPr>
                  <a:t></a:t>
                </a:r>
                <a:r>
                  <a:rPr lang="hu-HU" sz="2400" dirty="0" err="1" smtClean="0">
                    <a:cs typeface="Times New Roman" panose="02020603050405020304" pitchFamily="18" charset="0"/>
                    <a:sym typeface="Symbol" panose="05050102010706020507" pitchFamily="18" charset="2"/>
                  </a:rPr>
                  <a:t>q</a:t>
                </a:r>
                <a:r>
                  <a:rPr lang="hu-HU" sz="2400" dirty="0" err="1" smtClean="0">
                    <a:cs typeface="Times New Roman" panose="02020603050405020304" pitchFamily="18" charset="0"/>
                  </a:rPr>
                  <a:t>∈Q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 úgy, hogy</a:t>
                </a:r>
              </a:p>
              <a:p>
                <a:pPr marL="0" indent="0">
                  <a:buNone/>
                </a:pPr>
                <a:r>
                  <a:rPr lang="hu-HU" sz="2400" dirty="0" smtClean="0"/>
                  <a:t>		</a:t>
                </a:r>
                <a:r>
                  <a:rPr lang="hu-HU" sz="2400" dirty="0" err="1" smtClean="0"/>
                  <a:t>qu</a:t>
                </a:r>
                <a:r>
                  <a:rPr lang="hu-HU" sz="2400" dirty="0" smtClean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2400" b="1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hu-HU" sz="2400" b="1" i="1" dirty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groupChr>
                  </m:oMath>
                </a14:m>
                <a:r>
                  <a:rPr lang="hu-HU" sz="2400" b="1" dirty="0"/>
                  <a:t>*</a:t>
                </a:r>
                <a:r>
                  <a:rPr lang="hu-HU" sz="2400" b="1" baseline="-25000" dirty="0"/>
                  <a:t> </a:t>
                </a:r>
                <a:r>
                  <a:rPr lang="hu-HU" sz="2400" dirty="0" err="1" smtClean="0"/>
                  <a:t>pv</a:t>
                </a:r>
                <a:r>
                  <a:rPr lang="hu-HU" sz="2400" dirty="0" smtClean="0"/>
                  <a:t> </a:t>
                </a:r>
                <a:r>
                  <a:rPr lang="hu-HU" sz="2400" dirty="0"/>
                  <a:t>és </a:t>
                </a:r>
                <a:r>
                  <a:rPr lang="hu-HU" sz="2400" dirty="0" smtClean="0"/>
                  <a:t>q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 ∈q’.</a:t>
                </a:r>
              </a:p>
              <a:p>
                <a:pPr marL="0" indent="0">
                  <a:buNone/>
                </a:pPr>
                <a:r>
                  <a:rPr lang="hu-HU" sz="2400" dirty="0" smtClean="0">
                    <a:cs typeface="Times New Roman" panose="02020603050405020304" pitchFamily="18" charset="0"/>
                  </a:rPr>
                  <a:t>Ha </a:t>
                </a:r>
                <a:r>
                  <a:rPr lang="hu-HU" sz="2400" dirty="0" err="1" smtClean="0">
                    <a:cs typeface="Times New Roman" panose="02020603050405020304" pitchFamily="18" charset="0"/>
                  </a:rPr>
                  <a:t>u∈L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(A’), akkor </a:t>
                </a:r>
                <a:r>
                  <a:rPr lang="hu-HU" sz="2400" dirty="0" smtClean="0">
                    <a:cs typeface="Times New Roman" panose="02020603050405020304" pitchFamily="18" charset="0"/>
                    <a:sym typeface="Symbol" panose="05050102010706020507" pitchFamily="18" charset="2"/>
                  </a:rPr>
                  <a:t> </a:t>
                </a:r>
                <a:r>
                  <a:rPr lang="hu-HU" sz="2400" dirty="0"/>
                  <a:t>q</a:t>
                </a:r>
                <a:r>
                  <a:rPr lang="hu-HU" sz="2400" baseline="-25000" dirty="0"/>
                  <a:t>0</a:t>
                </a:r>
                <a:r>
                  <a:rPr lang="hu-HU" sz="2400" dirty="0"/>
                  <a:t>’u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2400" b="1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hu-HU" sz="2400" b="1" i="1" dirty="0">
                            <a:latin typeface="Cambria Math" panose="02040503050406030204" pitchFamily="18" charset="0"/>
                          </a:rPr>
                          <m:t>𝐀</m:t>
                        </m:r>
                        <m:r>
                          <a:rPr lang="hu-HU" sz="2400" b="1" i="1" dirty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groupChr>
                  </m:oMath>
                </a14:m>
                <a:r>
                  <a:rPr lang="hu-HU" sz="2400" b="1" dirty="0"/>
                  <a:t>*</a:t>
                </a:r>
                <a:r>
                  <a:rPr lang="hu-HU" sz="2400" b="1" baseline="-25000" dirty="0"/>
                  <a:t> </a:t>
                </a:r>
                <a:r>
                  <a:rPr lang="hu-HU" sz="2400" dirty="0"/>
                  <a:t>p’ és </a:t>
                </a:r>
                <a:r>
                  <a:rPr lang="hu-HU" sz="2400" dirty="0" err="1" smtClean="0"/>
                  <a:t>p’</a:t>
                </a:r>
                <a:r>
                  <a:rPr lang="hu-HU" sz="2400" dirty="0" err="1" smtClean="0">
                    <a:cs typeface="Times New Roman" panose="02020603050405020304" pitchFamily="18" charset="0"/>
                  </a:rPr>
                  <a:t>∈F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’.</a:t>
                </a:r>
              </a:p>
              <a:p>
                <a:pPr marL="0" indent="0">
                  <a:buNone/>
                </a:pPr>
                <a:r>
                  <a:rPr lang="hu-HU" sz="2400" dirty="0" smtClean="0">
                    <a:cs typeface="Times New Roman" panose="02020603050405020304" pitchFamily="18" charset="0"/>
                  </a:rPr>
                  <a:t>F’ </a:t>
                </a:r>
                <a:r>
                  <a:rPr lang="hu-HU" sz="2400" dirty="0" err="1" smtClean="0">
                    <a:cs typeface="Times New Roman" panose="02020603050405020304" pitchFamily="18" charset="0"/>
                  </a:rPr>
                  <a:t>definiciója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 alapján van olyan </a:t>
                </a:r>
                <a:r>
                  <a:rPr lang="hu-HU" sz="2400" dirty="0" err="1" smtClean="0">
                    <a:cs typeface="Times New Roman" panose="02020603050405020304" pitchFamily="18" charset="0"/>
                  </a:rPr>
                  <a:t>p∈p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’, hogy </a:t>
                </a:r>
                <a:r>
                  <a:rPr lang="hu-HU" sz="2400" dirty="0" err="1" smtClean="0"/>
                  <a:t>p</a:t>
                </a:r>
                <a:r>
                  <a:rPr lang="hu-HU" sz="2400" dirty="0" err="1" smtClean="0">
                    <a:cs typeface="Times New Roman" panose="02020603050405020304" pitchFamily="18" charset="0"/>
                  </a:rPr>
                  <a:t>∈F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.</a:t>
                </a:r>
                <a:endParaRPr lang="hu-HU" sz="24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hu-HU" sz="2400" dirty="0" smtClean="0">
                    <a:cs typeface="Times New Roman" panose="02020603050405020304" pitchFamily="18" charset="0"/>
                  </a:rPr>
                  <a:t>Lemma2 alapján </a:t>
                </a:r>
                <a:r>
                  <a:rPr lang="hu-HU" sz="2400" dirty="0" smtClean="0">
                    <a:cs typeface="Times New Roman" panose="02020603050405020304" pitchFamily="18" charset="0"/>
                    <a:sym typeface="Symbol" panose="05050102010706020507" pitchFamily="18" charset="2"/>
                  </a:rPr>
                  <a:t>q</a:t>
                </a:r>
                <a:r>
                  <a:rPr lang="hu-HU" sz="2400" baseline="-25000" dirty="0"/>
                  <a:t>0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∈Q </a:t>
                </a:r>
                <a:r>
                  <a:rPr lang="hu-HU" sz="2400" dirty="0">
                    <a:cs typeface="Times New Roman" panose="02020603050405020304" pitchFamily="18" charset="0"/>
                  </a:rPr>
                  <a:t>úgy, 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hogy </a:t>
                </a:r>
                <a:r>
                  <a:rPr lang="hu-HU" sz="2400" dirty="0"/>
                  <a:t>q</a:t>
                </a:r>
                <a:r>
                  <a:rPr lang="hu-HU" sz="2400" baseline="-25000" dirty="0"/>
                  <a:t>0</a:t>
                </a:r>
                <a:r>
                  <a:rPr lang="hu-HU" sz="2400" dirty="0"/>
                  <a:t>u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2400" b="1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hu-HU" sz="2400" b="1" i="1" dirty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groupChr>
                  </m:oMath>
                </a14:m>
                <a:r>
                  <a:rPr lang="hu-HU" sz="2400" b="1" dirty="0"/>
                  <a:t>*</a:t>
                </a:r>
                <a:r>
                  <a:rPr lang="hu-HU" sz="2400" b="1" baseline="-25000" dirty="0"/>
                  <a:t> </a:t>
                </a:r>
                <a:r>
                  <a:rPr lang="hu-HU" sz="2400" dirty="0"/>
                  <a:t>p ,ahol q</a:t>
                </a:r>
                <a:r>
                  <a:rPr lang="hu-HU" sz="2400" baseline="-25000" dirty="0"/>
                  <a:t>0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∈</a:t>
                </a:r>
                <a:r>
                  <a:rPr lang="hu-HU" sz="2400" dirty="0" smtClean="0"/>
                  <a:t>q</a:t>
                </a:r>
                <a:r>
                  <a:rPr lang="hu-HU" sz="2400" baseline="-25000" dirty="0" smtClean="0"/>
                  <a:t>0</a:t>
                </a:r>
                <a:r>
                  <a:rPr lang="hu-HU" sz="2400" dirty="0" smtClean="0"/>
                  <a:t>’(=Q</a:t>
                </a:r>
                <a:r>
                  <a:rPr lang="hu-HU" sz="2400" baseline="-25000" dirty="0" smtClean="0"/>
                  <a:t>0</a:t>
                </a:r>
                <a:r>
                  <a:rPr lang="hu-HU" sz="2400" dirty="0" smtClean="0"/>
                  <a:t>). </a:t>
                </a:r>
                <a:br>
                  <a:rPr lang="hu-HU" sz="2400" dirty="0" smtClean="0"/>
                </a:br>
                <a:r>
                  <a:rPr lang="hu-HU" sz="2400" dirty="0" smtClean="0"/>
                  <a:t>De </a:t>
                </a:r>
                <a:r>
                  <a:rPr lang="hu-HU" sz="2400" dirty="0" err="1"/>
                  <a:t>p</a:t>
                </a:r>
                <a:r>
                  <a:rPr lang="hu-HU" sz="2400" dirty="0" err="1">
                    <a:cs typeface="Times New Roman" panose="02020603050405020304" pitchFamily="18" charset="0"/>
                  </a:rPr>
                  <a:t>∈</a:t>
                </a:r>
                <a:r>
                  <a:rPr lang="hu-HU" sz="2400" dirty="0" err="1" smtClean="0">
                    <a:cs typeface="Times New Roman" panose="02020603050405020304" pitchFamily="18" charset="0"/>
                  </a:rPr>
                  <a:t>F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, </a:t>
                </a:r>
                <a:r>
                  <a:rPr lang="hu-HU" sz="2400" dirty="0" smtClean="0">
                    <a:sym typeface="Symbol" panose="05050102010706020507" pitchFamily="18" charset="2"/>
                  </a:rPr>
                  <a:t>azaz </a:t>
                </a:r>
                <a:r>
                  <a:rPr lang="hu-HU" sz="2400" dirty="0" err="1">
                    <a:cs typeface="Times New Roman" panose="02020603050405020304" pitchFamily="18" charset="0"/>
                  </a:rPr>
                  <a:t>u∈</a:t>
                </a:r>
                <a:r>
                  <a:rPr lang="hu-HU" sz="2400" dirty="0" err="1" smtClean="0">
                    <a:cs typeface="Times New Roman" panose="02020603050405020304" pitchFamily="18" charset="0"/>
                  </a:rPr>
                  <a:t>L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(A). </a:t>
                </a:r>
                <a:endParaRPr lang="hu-HU" sz="24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731147"/>
                <a:ext cx="8596668" cy="4793940"/>
              </a:xfrm>
              <a:blipFill>
                <a:blip r:embed="rId2"/>
                <a:stretch>
                  <a:fillRect l="-1064" t="-1018" r="-1489" b="-38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Egyenes összekötő 4"/>
          <p:cNvCxnSpPr/>
          <p:nvPr/>
        </p:nvCxnSpPr>
        <p:spPr>
          <a:xfrm>
            <a:off x="763480" y="4394446"/>
            <a:ext cx="7767961" cy="88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329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u-HU" sz="2800" dirty="0" smtClean="0"/>
              <a:t>Példa: </a:t>
            </a:r>
            <a:br>
              <a:rPr lang="hu-HU" sz="2800" dirty="0" smtClean="0"/>
            </a:br>
            <a:r>
              <a:rPr lang="hu-HU" sz="2800" dirty="0" smtClean="0"/>
              <a:t>L</a:t>
            </a:r>
            <a:r>
              <a:rPr lang="hu-HU" sz="2800" dirty="0"/>
              <a:t>:={u</a:t>
            </a:r>
            <a:r>
              <a:rPr lang="es-ES" sz="2800" dirty="0"/>
              <a:t> ∈</a:t>
            </a:r>
            <a:r>
              <a:rPr lang="hu-HU" sz="2800" dirty="0"/>
              <a:t> {</a:t>
            </a:r>
            <a:r>
              <a:rPr lang="hu-HU" sz="2800" dirty="0" err="1"/>
              <a:t>a,b</a:t>
            </a:r>
            <a:r>
              <a:rPr lang="hu-HU" sz="2800" dirty="0"/>
              <a:t>}* | az u szó ’a’ betűvel kezdődik és ’b’ betűre végződik}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7334" y="1423989"/>
            <a:ext cx="8596668" cy="522516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hu-HU" sz="2800" dirty="0" smtClean="0"/>
          </a:p>
          <a:p>
            <a:pPr marL="0" indent="0">
              <a:buNone/>
            </a:pPr>
            <a:endParaRPr lang="hu-HU" sz="2800" dirty="0"/>
          </a:p>
          <a:p>
            <a:pPr marL="0" indent="0">
              <a:buNone/>
            </a:pPr>
            <a:r>
              <a:rPr lang="hu-HU" sz="2800" dirty="0"/>
              <a:t>	</a:t>
            </a:r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>
            <p:extLst/>
          </p:nvPr>
        </p:nvGraphicFramePr>
        <p:xfrm>
          <a:off x="1286318" y="2154041"/>
          <a:ext cx="6320982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4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8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2400" dirty="0" smtClean="0"/>
                        <a:t>δ</a:t>
                      </a:r>
                      <a:endParaRPr lang="hu-HU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hu-HU" sz="2400" dirty="0" smtClean="0"/>
                        <a:t>a</a:t>
                      </a:r>
                      <a:endParaRPr lang="hu-HU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hu-HU" sz="2400" dirty="0" smtClean="0"/>
                        <a:t>b</a:t>
                      </a:r>
                      <a:endParaRPr lang="hu-HU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hu-HU" sz="2400" dirty="0" smtClean="0"/>
                        <a:t>q0</a:t>
                      </a:r>
                      <a:endParaRPr lang="hu-HU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hu-HU" sz="2400" dirty="0" smtClean="0"/>
                        <a:t>q1</a:t>
                      </a:r>
                      <a:endParaRPr lang="hu-H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hu-H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hu-HU" sz="2400" dirty="0" smtClean="0"/>
                        <a:t>q1</a:t>
                      </a:r>
                      <a:endParaRPr lang="hu-HU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hu-HU" sz="2400" dirty="0" smtClean="0"/>
                        <a:t>q1</a:t>
                      </a:r>
                      <a:endParaRPr lang="hu-H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hu-HU" sz="2400" dirty="0" smtClean="0"/>
                        <a:t>q1, q2</a:t>
                      </a:r>
                      <a:endParaRPr lang="hu-H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hu-HU" sz="2400" dirty="0" smtClean="0"/>
                        <a:t>q2</a:t>
                      </a:r>
                      <a:endParaRPr lang="hu-HU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hu-H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hu-H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6" name="Egyenes összekötő nyíllal 5"/>
          <p:cNvCxnSpPr/>
          <p:nvPr/>
        </p:nvCxnSpPr>
        <p:spPr>
          <a:xfrm>
            <a:off x="1498600" y="3159217"/>
            <a:ext cx="3937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nyíllal 7"/>
          <p:cNvCxnSpPr/>
          <p:nvPr/>
        </p:nvCxnSpPr>
        <p:spPr>
          <a:xfrm flipH="1">
            <a:off x="1492250" y="4428697"/>
            <a:ext cx="4064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lipszis 8"/>
          <p:cNvSpPr/>
          <p:nvPr/>
        </p:nvSpPr>
        <p:spPr>
          <a:xfrm>
            <a:off x="4111452" y="4997308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Ellipszis 9"/>
          <p:cNvSpPr/>
          <p:nvPr/>
        </p:nvSpPr>
        <p:spPr>
          <a:xfrm>
            <a:off x="6724304" y="4997131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/>
          <p:cNvSpPr/>
          <p:nvPr/>
        </p:nvSpPr>
        <p:spPr>
          <a:xfrm>
            <a:off x="1498600" y="4997131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2" name="Egyenes összekötő nyíllal 11"/>
          <p:cNvCxnSpPr/>
          <p:nvPr/>
        </p:nvCxnSpPr>
        <p:spPr>
          <a:xfrm>
            <a:off x="1016000" y="5454331"/>
            <a:ext cx="27031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zövegdoboz 12"/>
          <p:cNvSpPr txBox="1"/>
          <p:nvPr/>
        </p:nvSpPr>
        <p:spPr>
          <a:xfrm>
            <a:off x="1736372" y="5233005"/>
            <a:ext cx="48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/>
              <a:t>q0</a:t>
            </a:r>
          </a:p>
        </p:txBody>
      </p:sp>
      <p:sp>
        <p:nvSpPr>
          <p:cNvPr id="14" name="Szövegdoboz 13"/>
          <p:cNvSpPr txBox="1"/>
          <p:nvPr/>
        </p:nvSpPr>
        <p:spPr>
          <a:xfrm flipH="1">
            <a:off x="4335113" y="5232336"/>
            <a:ext cx="610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 smtClean="0"/>
              <a:t>q1</a:t>
            </a:r>
            <a:endParaRPr lang="hu-HU" sz="2000" dirty="0"/>
          </a:p>
        </p:txBody>
      </p:sp>
      <p:sp>
        <p:nvSpPr>
          <p:cNvPr id="15" name="Szövegdoboz 14"/>
          <p:cNvSpPr txBox="1"/>
          <p:nvPr/>
        </p:nvSpPr>
        <p:spPr>
          <a:xfrm>
            <a:off x="6938793" y="5234771"/>
            <a:ext cx="48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 smtClean="0"/>
              <a:t>q2</a:t>
            </a:r>
            <a:endParaRPr lang="hu-HU" sz="2000" dirty="0"/>
          </a:p>
        </p:txBody>
      </p:sp>
      <p:sp>
        <p:nvSpPr>
          <p:cNvPr id="16" name="Ellipszis 15"/>
          <p:cNvSpPr/>
          <p:nvPr/>
        </p:nvSpPr>
        <p:spPr>
          <a:xfrm>
            <a:off x="6830184" y="5135702"/>
            <a:ext cx="702640" cy="6660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8" name="Egyenes összekötő nyíllal 17"/>
          <p:cNvCxnSpPr>
            <a:stCxn id="11" idx="6"/>
          </p:cNvCxnSpPr>
          <p:nvPr/>
        </p:nvCxnSpPr>
        <p:spPr>
          <a:xfrm>
            <a:off x="2413000" y="5454331"/>
            <a:ext cx="158326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gyenes összekötő nyíllal 18"/>
          <p:cNvCxnSpPr/>
          <p:nvPr/>
        </p:nvCxnSpPr>
        <p:spPr>
          <a:xfrm>
            <a:off x="5141037" y="5454331"/>
            <a:ext cx="158326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Ív 20"/>
          <p:cNvSpPr/>
          <p:nvPr/>
        </p:nvSpPr>
        <p:spPr>
          <a:xfrm rot="12455027">
            <a:off x="4123077" y="5792918"/>
            <a:ext cx="1127435" cy="514290"/>
          </a:xfrm>
          <a:prstGeom prst="arc">
            <a:avLst>
              <a:gd name="adj1" fmla="val 8058026"/>
              <a:gd name="adj2" fmla="val 0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3" name="Egyenes összekötő nyíllal 22"/>
          <p:cNvCxnSpPr/>
          <p:nvPr/>
        </p:nvCxnSpPr>
        <p:spPr>
          <a:xfrm flipH="1" flipV="1">
            <a:off x="4869108" y="5801746"/>
            <a:ext cx="122441" cy="12300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zövegdoboz 24"/>
          <p:cNvSpPr txBox="1"/>
          <p:nvPr/>
        </p:nvSpPr>
        <p:spPr>
          <a:xfrm>
            <a:off x="2879552" y="4997131"/>
            <a:ext cx="29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a</a:t>
            </a:r>
            <a:endParaRPr lang="hu-HU" dirty="0"/>
          </a:p>
        </p:txBody>
      </p:sp>
      <p:sp>
        <p:nvSpPr>
          <p:cNvPr id="26" name="Szövegdoboz 25"/>
          <p:cNvSpPr txBox="1"/>
          <p:nvPr/>
        </p:nvSpPr>
        <p:spPr>
          <a:xfrm>
            <a:off x="3908931" y="6038031"/>
            <a:ext cx="659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a, b</a:t>
            </a:r>
            <a:endParaRPr lang="hu-HU" dirty="0"/>
          </a:p>
        </p:txBody>
      </p:sp>
      <p:sp>
        <p:nvSpPr>
          <p:cNvPr id="27" name="Szövegdoboz 26"/>
          <p:cNvSpPr txBox="1"/>
          <p:nvPr/>
        </p:nvSpPr>
        <p:spPr>
          <a:xfrm>
            <a:off x="5696745" y="4997131"/>
            <a:ext cx="29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101509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9114736" cy="648616"/>
          </a:xfrm>
        </p:spPr>
        <p:txBody>
          <a:bodyPr>
            <a:noAutofit/>
          </a:bodyPr>
          <a:lstStyle/>
          <a:p>
            <a:r>
              <a:rPr lang="hu-HU" sz="2000" dirty="0" smtClean="0"/>
              <a:t>Példa: </a:t>
            </a:r>
            <a:r>
              <a:rPr lang="hu-HU" sz="2000" dirty="0"/>
              <a:t>L:={u</a:t>
            </a:r>
            <a:r>
              <a:rPr lang="es-ES" sz="2000" dirty="0"/>
              <a:t> ∈</a:t>
            </a:r>
            <a:r>
              <a:rPr lang="hu-HU" sz="2000" dirty="0"/>
              <a:t> {</a:t>
            </a:r>
            <a:r>
              <a:rPr lang="hu-HU" sz="2000" dirty="0" err="1"/>
              <a:t>a,b</a:t>
            </a:r>
            <a:r>
              <a:rPr lang="hu-HU" sz="2000" dirty="0"/>
              <a:t>}* | az u szó ’a’ betűvel kezdődik és ’b’ betűre végződik}</a:t>
            </a: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3370" y="1521715"/>
            <a:ext cx="4695678" cy="1750055"/>
          </a:xfrm>
          <a:prstGeom prst="rect">
            <a:avLst/>
          </a:prstGeom>
        </p:spPr>
      </p:pic>
      <p:graphicFrame>
        <p:nvGraphicFramePr>
          <p:cNvPr id="6" name="Táblázat 5"/>
          <p:cNvGraphicFramePr>
            <a:graphicFrameLocks noGrp="1"/>
          </p:cNvGraphicFramePr>
          <p:nvPr>
            <p:extLst/>
          </p:nvPr>
        </p:nvGraphicFramePr>
        <p:xfrm>
          <a:off x="5573781" y="1550025"/>
          <a:ext cx="4695678" cy="124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5226">
                  <a:extLst>
                    <a:ext uri="{9D8B030D-6E8A-4147-A177-3AD203B41FA5}">
                      <a16:colId xmlns:a16="http://schemas.microsoft.com/office/drawing/2014/main" val="1622538372"/>
                    </a:ext>
                  </a:extLst>
                </a:gridCol>
                <a:gridCol w="1565226">
                  <a:extLst>
                    <a:ext uri="{9D8B030D-6E8A-4147-A177-3AD203B41FA5}">
                      <a16:colId xmlns:a16="http://schemas.microsoft.com/office/drawing/2014/main" val="1373443020"/>
                    </a:ext>
                  </a:extLst>
                </a:gridCol>
                <a:gridCol w="1565226">
                  <a:extLst>
                    <a:ext uri="{9D8B030D-6E8A-4147-A177-3AD203B41FA5}">
                      <a16:colId xmlns:a16="http://schemas.microsoft.com/office/drawing/2014/main" val="40702727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800" dirty="0" smtClean="0">
                          <a:solidFill>
                            <a:schemeClr val="tx1"/>
                          </a:solidFill>
                        </a:rPr>
                        <a:t>δ</a:t>
                      </a:r>
                      <a:r>
                        <a:rPr lang="hu-HU" sz="180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hu-HU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840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{q0}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{q1}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ym typeface="Symbol" panose="05050102010706020507" pitchFamily="18" charset="2"/>
                        </a:rPr>
                        <a:t>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405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606982"/>
                  </a:ext>
                </a:extLst>
              </a:tr>
            </a:tbl>
          </a:graphicData>
        </a:graphic>
      </p:graphicFrame>
      <p:cxnSp>
        <p:nvCxnSpPr>
          <p:cNvPr id="7" name="Egyenes összekötő nyíllal 6"/>
          <p:cNvCxnSpPr/>
          <p:nvPr/>
        </p:nvCxnSpPr>
        <p:spPr>
          <a:xfrm>
            <a:off x="610833" y="2191551"/>
            <a:ext cx="3937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nyíllal 7"/>
          <p:cNvCxnSpPr/>
          <p:nvPr/>
        </p:nvCxnSpPr>
        <p:spPr>
          <a:xfrm flipH="1">
            <a:off x="604483" y="2990515"/>
            <a:ext cx="4064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áblázat 10"/>
          <p:cNvGraphicFramePr>
            <a:graphicFrameLocks noGrp="1"/>
          </p:cNvGraphicFramePr>
          <p:nvPr>
            <p:extLst/>
          </p:nvPr>
        </p:nvGraphicFramePr>
        <p:xfrm>
          <a:off x="5573781" y="1546206"/>
          <a:ext cx="4695678" cy="124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5226">
                  <a:extLst>
                    <a:ext uri="{9D8B030D-6E8A-4147-A177-3AD203B41FA5}">
                      <a16:colId xmlns:a16="http://schemas.microsoft.com/office/drawing/2014/main" val="1622538372"/>
                    </a:ext>
                  </a:extLst>
                </a:gridCol>
                <a:gridCol w="1565226">
                  <a:extLst>
                    <a:ext uri="{9D8B030D-6E8A-4147-A177-3AD203B41FA5}">
                      <a16:colId xmlns:a16="http://schemas.microsoft.com/office/drawing/2014/main" val="1373443020"/>
                    </a:ext>
                  </a:extLst>
                </a:gridCol>
                <a:gridCol w="1565226">
                  <a:extLst>
                    <a:ext uri="{9D8B030D-6E8A-4147-A177-3AD203B41FA5}">
                      <a16:colId xmlns:a16="http://schemas.microsoft.com/office/drawing/2014/main" val="40702727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800" dirty="0" smtClean="0">
                          <a:solidFill>
                            <a:schemeClr val="tx1"/>
                          </a:solidFill>
                        </a:rPr>
                        <a:t>δ</a:t>
                      </a:r>
                      <a:r>
                        <a:rPr lang="hu-HU" sz="180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hu-HU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840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{q0}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{q1}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ym typeface="Symbol" panose="05050102010706020507" pitchFamily="18" charset="2"/>
                        </a:rPr>
                        <a:t>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405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{q1}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{q1}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ym typeface="Symbol" panose="05050102010706020507" pitchFamily="18" charset="2"/>
                        </a:rPr>
                        <a:t>{q1,q2}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606982"/>
                  </a:ext>
                </a:extLst>
              </a:tr>
            </a:tbl>
          </a:graphicData>
        </a:graphic>
      </p:graphicFrame>
      <p:graphicFrame>
        <p:nvGraphicFramePr>
          <p:cNvPr id="12" name="Táblázat 11"/>
          <p:cNvGraphicFramePr>
            <a:graphicFrameLocks noGrp="1"/>
          </p:cNvGraphicFramePr>
          <p:nvPr>
            <p:extLst/>
          </p:nvPr>
        </p:nvGraphicFramePr>
        <p:xfrm>
          <a:off x="5573781" y="1544254"/>
          <a:ext cx="4695678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5226">
                  <a:extLst>
                    <a:ext uri="{9D8B030D-6E8A-4147-A177-3AD203B41FA5}">
                      <a16:colId xmlns:a16="http://schemas.microsoft.com/office/drawing/2014/main" val="1622538372"/>
                    </a:ext>
                  </a:extLst>
                </a:gridCol>
                <a:gridCol w="1565226">
                  <a:extLst>
                    <a:ext uri="{9D8B030D-6E8A-4147-A177-3AD203B41FA5}">
                      <a16:colId xmlns:a16="http://schemas.microsoft.com/office/drawing/2014/main" val="1373443020"/>
                    </a:ext>
                  </a:extLst>
                </a:gridCol>
                <a:gridCol w="1565226">
                  <a:extLst>
                    <a:ext uri="{9D8B030D-6E8A-4147-A177-3AD203B41FA5}">
                      <a16:colId xmlns:a16="http://schemas.microsoft.com/office/drawing/2014/main" val="40702727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800" dirty="0" smtClean="0">
                          <a:solidFill>
                            <a:schemeClr val="tx1"/>
                          </a:solidFill>
                        </a:rPr>
                        <a:t>δ</a:t>
                      </a:r>
                      <a:r>
                        <a:rPr lang="hu-HU" sz="180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hu-HU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840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{q0}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{q1}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ym typeface="Symbol" panose="05050102010706020507" pitchFamily="18" charset="2"/>
                        </a:rPr>
                        <a:t>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405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{q1}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{q1}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ym typeface="Symbol" panose="05050102010706020507" pitchFamily="18" charset="2"/>
                        </a:rPr>
                        <a:t>{</a:t>
                      </a:r>
                      <a:r>
                        <a:rPr lang="hu-HU" smtClean="0">
                          <a:sym typeface="Symbol" panose="05050102010706020507" pitchFamily="18" charset="2"/>
                        </a:rPr>
                        <a:t>q1,q2}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606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>
                          <a:sym typeface="Symbol" panose="05050102010706020507" pitchFamily="18" charset="2"/>
                        </a:rPr>
                        <a:t>{q1,q2}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/>
                        <a:t>{q1}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>
                          <a:sym typeface="Symbol" panose="05050102010706020507" pitchFamily="18" charset="2"/>
                        </a:rPr>
                        <a:t>{q1,q2}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173973"/>
                  </a:ext>
                </a:extLst>
              </a:tr>
            </a:tbl>
          </a:graphicData>
        </a:graphic>
      </p:graphicFrame>
      <p:graphicFrame>
        <p:nvGraphicFramePr>
          <p:cNvPr id="37" name="Táblázat 36"/>
          <p:cNvGraphicFramePr>
            <a:graphicFrameLocks noGrp="1"/>
          </p:cNvGraphicFramePr>
          <p:nvPr>
            <p:extLst/>
          </p:nvPr>
        </p:nvGraphicFramePr>
        <p:xfrm>
          <a:off x="5573781" y="1542427"/>
          <a:ext cx="4695678" cy="198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5226">
                  <a:extLst>
                    <a:ext uri="{9D8B030D-6E8A-4147-A177-3AD203B41FA5}">
                      <a16:colId xmlns:a16="http://schemas.microsoft.com/office/drawing/2014/main" val="1622538372"/>
                    </a:ext>
                  </a:extLst>
                </a:gridCol>
                <a:gridCol w="1565226">
                  <a:extLst>
                    <a:ext uri="{9D8B030D-6E8A-4147-A177-3AD203B41FA5}">
                      <a16:colId xmlns:a16="http://schemas.microsoft.com/office/drawing/2014/main" val="1373443020"/>
                    </a:ext>
                  </a:extLst>
                </a:gridCol>
                <a:gridCol w="1565226">
                  <a:extLst>
                    <a:ext uri="{9D8B030D-6E8A-4147-A177-3AD203B41FA5}">
                      <a16:colId xmlns:a16="http://schemas.microsoft.com/office/drawing/2014/main" val="40702727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800" dirty="0" smtClean="0">
                          <a:solidFill>
                            <a:schemeClr val="tx1"/>
                          </a:solidFill>
                        </a:rPr>
                        <a:t>δ</a:t>
                      </a:r>
                      <a:r>
                        <a:rPr lang="hu-HU" sz="180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hu-HU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840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{q0}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{q1}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ym typeface="Symbol" panose="05050102010706020507" pitchFamily="18" charset="2"/>
                        </a:rPr>
                        <a:t>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405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{q1}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{q1}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ym typeface="Symbol" panose="05050102010706020507" pitchFamily="18" charset="2"/>
                        </a:rPr>
                        <a:t>{</a:t>
                      </a:r>
                      <a:r>
                        <a:rPr lang="hu-HU" smtClean="0">
                          <a:sym typeface="Symbol" panose="05050102010706020507" pitchFamily="18" charset="2"/>
                        </a:rPr>
                        <a:t>q1,q2}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606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>
                          <a:sym typeface="Symbol" panose="05050102010706020507" pitchFamily="18" charset="2"/>
                        </a:rPr>
                        <a:t>{q1,q2}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/>
                        <a:t>{q1}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>
                          <a:sym typeface="Symbol" panose="05050102010706020507" pitchFamily="18" charset="2"/>
                        </a:rPr>
                        <a:t>{q1,q2}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173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>
                          <a:sym typeface="Symbol" panose="05050102010706020507" pitchFamily="18" charset="2"/>
                        </a:rPr>
                        <a:t></a:t>
                      </a:r>
                      <a:endParaRPr lang="hu-HU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>
                          <a:sym typeface="Symbol" panose="05050102010706020507" pitchFamily="18" charset="2"/>
                        </a:rPr>
                        <a:t></a:t>
                      </a:r>
                      <a:endParaRPr lang="hu-HU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>
                          <a:sym typeface="Symbol" panose="05050102010706020507" pitchFamily="18" charset="2"/>
                        </a:rPr>
                        <a:t></a:t>
                      </a:r>
                      <a:endParaRPr lang="hu-HU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451982"/>
                  </a:ext>
                </a:extLst>
              </a:tr>
            </a:tbl>
          </a:graphicData>
        </a:graphic>
      </p:graphicFrame>
      <p:cxnSp>
        <p:nvCxnSpPr>
          <p:cNvPr id="38" name="Egyenes összekötő nyíllal 37"/>
          <p:cNvCxnSpPr/>
          <p:nvPr/>
        </p:nvCxnSpPr>
        <p:spPr>
          <a:xfrm>
            <a:off x="5684958" y="2125819"/>
            <a:ext cx="3937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gyenes összekötő nyíllal 38"/>
          <p:cNvCxnSpPr/>
          <p:nvPr/>
        </p:nvCxnSpPr>
        <p:spPr>
          <a:xfrm flipH="1" flipV="1">
            <a:off x="5672739" y="2904825"/>
            <a:ext cx="196850" cy="86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lipszis 48"/>
          <p:cNvSpPr/>
          <p:nvPr/>
        </p:nvSpPr>
        <p:spPr>
          <a:xfrm>
            <a:off x="4815418" y="3757389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0" name="Ellipszis 49"/>
          <p:cNvSpPr/>
          <p:nvPr/>
        </p:nvSpPr>
        <p:spPr>
          <a:xfrm>
            <a:off x="7428270" y="3757212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1" name="Ellipszis 50"/>
          <p:cNvSpPr/>
          <p:nvPr/>
        </p:nvSpPr>
        <p:spPr>
          <a:xfrm>
            <a:off x="2202566" y="3757212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52" name="Egyenes összekötő nyíllal 51"/>
          <p:cNvCxnSpPr/>
          <p:nvPr/>
        </p:nvCxnSpPr>
        <p:spPr>
          <a:xfrm>
            <a:off x="1719966" y="4214412"/>
            <a:ext cx="27031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Szövegdoboz 52"/>
          <p:cNvSpPr txBox="1"/>
          <p:nvPr/>
        </p:nvSpPr>
        <p:spPr>
          <a:xfrm>
            <a:off x="2326392" y="3948220"/>
            <a:ext cx="6639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 smtClean="0"/>
              <a:t>{q0}</a:t>
            </a:r>
            <a:endParaRPr lang="hu-HU" sz="2000" dirty="0"/>
          </a:p>
        </p:txBody>
      </p:sp>
      <p:sp>
        <p:nvSpPr>
          <p:cNvPr id="54" name="Szövegdoboz 53"/>
          <p:cNvSpPr txBox="1"/>
          <p:nvPr/>
        </p:nvSpPr>
        <p:spPr>
          <a:xfrm flipH="1">
            <a:off x="4953739" y="3992417"/>
            <a:ext cx="695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 smtClean="0"/>
              <a:t>{q1}</a:t>
            </a:r>
            <a:endParaRPr lang="hu-HU" sz="2000" dirty="0"/>
          </a:p>
        </p:txBody>
      </p:sp>
      <p:sp>
        <p:nvSpPr>
          <p:cNvPr id="55" name="Szövegdoboz 54"/>
          <p:cNvSpPr txBox="1"/>
          <p:nvPr/>
        </p:nvSpPr>
        <p:spPr>
          <a:xfrm>
            <a:off x="7543454" y="3994852"/>
            <a:ext cx="1020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 smtClean="0"/>
              <a:t>{q1,q2}</a:t>
            </a:r>
            <a:endParaRPr lang="hu-HU" sz="1400" dirty="0"/>
          </a:p>
        </p:txBody>
      </p:sp>
      <p:sp>
        <p:nvSpPr>
          <p:cNvPr id="56" name="Ellipszis 55"/>
          <p:cNvSpPr/>
          <p:nvPr/>
        </p:nvSpPr>
        <p:spPr>
          <a:xfrm>
            <a:off x="7534150" y="3895783"/>
            <a:ext cx="702640" cy="6660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57" name="Egyenes összekötő nyíllal 56"/>
          <p:cNvCxnSpPr>
            <a:stCxn id="51" idx="6"/>
          </p:cNvCxnSpPr>
          <p:nvPr/>
        </p:nvCxnSpPr>
        <p:spPr>
          <a:xfrm>
            <a:off x="3116966" y="4214412"/>
            <a:ext cx="158326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gyenes összekötő nyíllal 57"/>
          <p:cNvCxnSpPr/>
          <p:nvPr/>
        </p:nvCxnSpPr>
        <p:spPr>
          <a:xfrm>
            <a:off x="5845003" y="4100717"/>
            <a:ext cx="158326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gyenes összekötő nyíllal 58"/>
          <p:cNvCxnSpPr/>
          <p:nvPr/>
        </p:nvCxnSpPr>
        <p:spPr>
          <a:xfrm flipH="1" flipV="1">
            <a:off x="5603749" y="4580862"/>
            <a:ext cx="122441" cy="12300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Szövegdoboz 59"/>
          <p:cNvSpPr txBox="1"/>
          <p:nvPr/>
        </p:nvSpPr>
        <p:spPr>
          <a:xfrm>
            <a:off x="3583518" y="3757212"/>
            <a:ext cx="29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a</a:t>
            </a:r>
            <a:endParaRPr lang="hu-HU" dirty="0"/>
          </a:p>
        </p:txBody>
      </p:sp>
      <p:sp>
        <p:nvSpPr>
          <p:cNvPr id="61" name="Szövegdoboz 60"/>
          <p:cNvSpPr txBox="1"/>
          <p:nvPr/>
        </p:nvSpPr>
        <p:spPr>
          <a:xfrm>
            <a:off x="6398526" y="4417246"/>
            <a:ext cx="307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a</a:t>
            </a:r>
            <a:endParaRPr lang="hu-HU" dirty="0"/>
          </a:p>
        </p:txBody>
      </p:sp>
      <p:sp>
        <p:nvSpPr>
          <p:cNvPr id="62" name="Szövegdoboz 61"/>
          <p:cNvSpPr txBox="1"/>
          <p:nvPr/>
        </p:nvSpPr>
        <p:spPr>
          <a:xfrm>
            <a:off x="6400711" y="3757212"/>
            <a:ext cx="29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</a:t>
            </a:r>
          </a:p>
        </p:txBody>
      </p:sp>
      <p:cxnSp>
        <p:nvCxnSpPr>
          <p:cNvPr id="63" name="Egyenes összekötő nyíllal 62"/>
          <p:cNvCxnSpPr/>
          <p:nvPr/>
        </p:nvCxnSpPr>
        <p:spPr>
          <a:xfrm flipH="1">
            <a:off x="5845003" y="4392527"/>
            <a:ext cx="1570614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Ív 63"/>
          <p:cNvSpPr/>
          <p:nvPr/>
        </p:nvSpPr>
        <p:spPr>
          <a:xfrm rot="12455027">
            <a:off x="4857758" y="4554275"/>
            <a:ext cx="1127435" cy="514290"/>
          </a:xfrm>
          <a:prstGeom prst="arc">
            <a:avLst>
              <a:gd name="adj1" fmla="val 8058026"/>
              <a:gd name="adj2" fmla="val 0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5" name="Ív 64"/>
          <p:cNvSpPr/>
          <p:nvPr/>
        </p:nvSpPr>
        <p:spPr>
          <a:xfrm rot="12455027">
            <a:off x="7445929" y="4460604"/>
            <a:ext cx="1127435" cy="514290"/>
          </a:xfrm>
          <a:prstGeom prst="arc">
            <a:avLst>
              <a:gd name="adj1" fmla="val 8058026"/>
              <a:gd name="adj2" fmla="val 0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66" name="Egyenes összekötő nyíllal 65"/>
          <p:cNvCxnSpPr/>
          <p:nvPr/>
        </p:nvCxnSpPr>
        <p:spPr>
          <a:xfrm flipH="1" flipV="1">
            <a:off x="8211949" y="4500323"/>
            <a:ext cx="122441" cy="12300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Szövegdoboz 66"/>
          <p:cNvSpPr txBox="1"/>
          <p:nvPr/>
        </p:nvSpPr>
        <p:spPr>
          <a:xfrm>
            <a:off x="4912141" y="5051395"/>
            <a:ext cx="361195" cy="370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a</a:t>
            </a:r>
            <a:endParaRPr lang="hu-HU" dirty="0"/>
          </a:p>
        </p:txBody>
      </p:sp>
      <p:sp>
        <p:nvSpPr>
          <p:cNvPr id="68" name="Szövegdoboz 67"/>
          <p:cNvSpPr txBox="1"/>
          <p:nvPr/>
        </p:nvSpPr>
        <p:spPr>
          <a:xfrm>
            <a:off x="7724984" y="5000243"/>
            <a:ext cx="39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</a:t>
            </a:r>
          </a:p>
        </p:txBody>
      </p:sp>
      <p:sp>
        <p:nvSpPr>
          <p:cNvPr id="69" name="Ellipszis 68"/>
          <p:cNvSpPr/>
          <p:nvPr/>
        </p:nvSpPr>
        <p:spPr>
          <a:xfrm>
            <a:off x="2200442" y="5097833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0" name="Szövegdoboz 69"/>
          <p:cNvSpPr txBox="1"/>
          <p:nvPr/>
        </p:nvSpPr>
        <p:spPr>
          <a:xfrm>
            <a:off x="2327082" y="5354978"/>
            <a:ext cx="6639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hu-HU" sz="2000">
                <a:sym typeface="Symbol" panose="05050102010706020507" pitchFamily="18" charset="2"/>
              </a:rPr>
              <a:t></a:t>
            </a:r>
            <a:endParaRPr lang="hu-HU" sz="2000" dirty="0"/>
          </a:p>
        </p:txBody>
      </p:sp>
      <p:cxnSp>
        <p:nvCxnSpPr>
          <p:cNvPr id="71" name="Egyenes összekötő nyíllal 70"/>
          <p:cNvCxnSpPr>
            <a:endCxn id="69" idx="0"/>
          </p:cNvCxnSpPr>
          <p:nvPr/>
        </p:nvCxnSpPr>
        <p:spPr>
          <a:xfrm>
            <a:off x="2657642" y="4703869"/>
            <a:ext cx="0" cy="39396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Szövegdoboz 71"/>
          <p:cNvSpPr txBox="1"/>
          <p:nvPr/>
        </p:nvSpPr>
        <p:spPr>
          <a:xfrm>
            <a:off x="2691310" y="4731031"/>
            <a:ext cx="246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</a:t>
            </a:r>
          </a:p>
        </p:txBody>
      </p:sp>
      <p:sp>
        <p:nvSpPr>
          <p:cNvPr id="73" name="Ív 72"/>
          <p:cNvSpPr/>
          <p:nvPr/>
        </p:nvSpPr>
        <p:spPr>
          <a:xfrm rot="12455027">
            <a:off x="2251086" y="5862644"/>
            <a:ext cx="1127435" cy="514290"/>
          </a:xfrm>
          <a:prstGeom prst="arc">
            <a:avLst>
              <a:gd name="adj1" fmla="val 8058026"/>
              <a:gd name="adj2" fmla="val 0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4" name="Szövegdoboz 73"/>
          <p:cNvSpPr txBox="1"/>
          <p:nvPr/>
        </p:nvSpPr>
        <p:spPr>
          <a:xfrm>
            <a:off x="1753172" y="5851869"/>
            <a:ext cx="643799" cy="370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a</a:t>
            </a:r>
            <a:r>
              <a:rPr lang="hu-HU" dirty="0" err="1" smtClean="0"/>
              <a:t>,b</a:t>
            </a:r>
            <a:endParaRPr lang="hu-HU" dirty="0"/>
          </a:p>
        </p:txBody>
      </p:sp>
      <p:cxnSp>
        <p:nvCxnSpPr>
          <p:cNvPr id="75" name="Egyenes összekötő nyíllal 74"/>
          <p:cNvCxnSpPr/>
          <p:nvPr/>
        </p:nvCxnSpPr>
        <p:spPr>
          <a:xfrm flipH="1" flipV="1">
            <a:off x="3012947" y="5896235"/>
            <a:ext cx="122441" cy="12300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129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1" grpId="0" animBg="1"/>
      <p:bldP spid="53" grpId="0"/>
      <p:bldP spid="54" grpId="0"/>
      <p:bldP spid="55" grpId="0"/>
      <p:bldP spid="56" grpId="0" animBg="1"/>
      <p:bldP spid="60" grpId="0"/>
      <p:bldP spid="61" grpId="0"/>
      <p:bldP spid="62" grpId="0"/>
      <p:bldP spid="64" grpId="0" animBg="1"/>
      <p:bldP spid="65" grpId="0" animBg="1"/>
      <p:bldP spid="67" grpId="0"/>
      <p:bldP spid="68" grpId="0"/>
      <p:bldP spid="69" grpId="0" animBg="1"/>
      <p:bldP spid="70" grpId="0"/>
      <p:bldP spid="72" grpId="0"/>
      <p:bldP spid="73" grpId="0" animBg="1"/>
      <p:bldP spid="7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 smtClean="0"/>
              <a:t>Kleene</a:t>
            </a:r>
            <a:r>
              <a:rPr lang="hu-HU" dirty="0" smtClean="0"/>
              <a:t> tétele</a:t>
            </a:r>
            <a:r>
              <a:rPr lang="hu-HU" dirty="0"/>
              <a:t/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sz="3600" b="1" dirty="0" smtClean="0"/>
              <a:t>Tétel: </a:t>
            </a:r>
            <a:r>
              <a:rPr lang="hu-HU" sz="3600" dirty="0" smtClean="0">
                <a:latin typeface="Brush Script MT" panose="03060802040406070304" pitchFamily="66" charset="0"/>
              </a:rPr>
              <a:t>L</a:t>
            </a:r>
            <a:r>
              <a:rPr lang="hu-HU" sz="3600" baseline="-25000" dirty="0" smtClean="0"/>
              <a:t>3 </a:t>
            </a:r>
            <a:r>
              <a:rPr lang="hu-HU" sz="3600" dirty="0" smtClean="0">
                <a:sym typeface="Symbol" panose="05050102010706020507" pitchFamily="18" charset="2"/>
              </a:rPr>
              <a:t>= </a:t>
            </a:r>
            <a:r>
              <a:rPr lang="hu-HU" sz="3600" dirty="0" err="1" smtClean="0">
                <a:latin typeface="Brush Script MT" panose="03060802040406070304" pitchFamily="66" charset="0"/>
              </a:rPr>
              <a:t>L</a:t>
            </a:r>
            <a:r>
              <a:rPr lang="hu-HU" sz="3600" baseline="-25000" dirty="0" err="1" smtClean="0"/>
              <a:t>reg</a:t>
            </a:r>
            <a:r>
              <a:rPr lang="hu-HU" sz="3600" dirty="0" smtClean="0">
                <a:sym typeface="Symbol" panose="05050102010706020507" pitchFamily="18" charset="2"/>
              </a:rPr>
              <a:t> </a:t>
            </a:r>
            <a:endParaRPr lang="hu-HU" sz="3600" b="1" dirty="0" smtClean="0"/>
          </a:p>
          <a:p>
            <a:pPr marL="0" indent="0">
              <a:buNone/>
            </a:pPr>
            <a:r>
              <a:rPr lang="hu-HU" sz="3200" dirty="0" smtClean="0"/>
              <a:t>Minden reguláris nyelvhez adható 3-as típusú grammatika, és fordítva minden 3-as típusú nyelv felépíthető az elemi reguláris nyelvekből a reguláris műveletek véges sokszori alkalmazásával.</a:t>
            </a: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0578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Kleene</a:t>
            </a:r>
            <a:r>
              <a:rPr lang="hu-HU" dirty="0"/>
              <a:t> </a:t>
            </a:r>
            <a:r>
              <a:rPr lang="hu-HU" dirty="0" smtClean="0"/>
              <a:t>tétele: </a:t>
            </a:r>
            <a:r>
              <a:rPr lang="hu-HU" dirty="0">
                <a:latin typeface="Brush Script MT" panose="03060802040406070304" pitchFamily="66" charset="0"/>
              </a:rPr>
              <a:t>L</a:t>
            </a:r>
            <a:r>
              <a:rPr lang="hu-HU" baseline="-25000" dirty="0"/>
              <a:t>3 </a:t>
            </a:r>
            <a:r>
              <a:rPr lang="hu-HU" dirty="0">
                <a:sym typeface="Symbol" panose="05050102010706020507" pitchFamily="18" charset="2"/>
              </a:rPr>
              <a:t>= </a:t>
            </a:r>
            <a:r>
              <a:rPr lang="hu-HU" dirty="0" err="1">
                <a:latin typeface="Brush Script MT" panose="03060802040406070304" pitchFamily="66" charset="0"/>
              </a:rPr>
              <a:t>L</a:t>
            </a:r>
            <a:r>
              <a:rPr lang="hu-HU" baseline="-25000" dirty="0" err="1"/>
              <a:t>reg</a:t>
            </a:r>
            <a:r>
              <a:rPr lang="hu-HU" dirty="0">
                <a:sym typeface="Symbol" panose="05050102010706020507" pitchFamily="18" charset="2"/>
              </a:rPr>
              <a:t> 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sz="3200" dirty="0" smtClean="0"/>
              <a:t>Bizonyítás vázlat:</a:t>
            </a:r>
          </a:p>
          <a:p>
            <a:pPr marL="514350" indent="-514350">
              <a:buFont typeface="+mj-lt"/>
              <a:buAutoNum type="arabicPeriod"/>
            </a:pPr>
            <a:r>
              <a:rPr lang="hu-HU" sz="4000" dirty="0" err="1" smtClean="0">
                <a:latin typeface="Brush Script MT" panose="03060802040406070304" pitchFamily="66" charset="0"/>
              </a:rPr>
              <a:t>L</a:t>
            </a:r>
            <a:r>
              <a:rPr lang="hu-HU" sz="4000" baseline="-25000" dirty="0" err="1" smtClean="0"/>
              <a:t>reg</a:t>
            </a:r>
            <a:r>
              <a:rPr lang="hu-HU" sz="4000" baseline="-25000" dirty="0" smtClean="0"/>
              <a:t> </a:t>
            </a:r>
            <a:r>
              <a:rPr lang="hu-HU" sz="4000" dirty="0">
                <a:sym typeface="Symbol" panose="05050102010706020507" pitchFamily="18" charset="2"/>
              </a:rPr>
              <a:t></a:t>
            </a:r>
            <a:r>
              <a:rPr lang="hu-HU" sz="4000" dirty="0" smtClean="0">
                <a:sym typeface="Symbol" panose="05050102010706020507" pitchFamily="18" charset="2"/>
              </a:rPr>
              <a:t> </a:t>
            </a:r>
            <a:r>
              <a:rPr lang="hu-HU" sz="4000" dirty="0" smtClean="0">
                <a:latin typeface="Brush Script MT" panose="03060802040406070304" pitchFamily="66" charset="0"/>
              </a:rPr>
              <a:t>L</a:t>
            </a:r>
            <a:r>
              <a:rPr lang="hu-HU" sz="4000" baseline="-25000" dirty="0" smtClean="0"/>
              <a:t>3</a:t>
            </a:r>
            <a:r>
              <a:rPr lang="hu-HU" sz="4000" dirty="0" smtClean="0"/>
              <a:t>  </a:t>
            </a:r>
            <a:r>
              <a:rPr lang="hu-HU" sz="3200" dirty="0" smtClean="0"/>
              <a:t>korábbi előadáson </a:t>
            </a:r>
            <a:r>
              <a:rPr lang="hu-HU" sz="3200" dirty="0"/>
              <a:t>láttuk</a:t>
            </a:r>
            <a:endParaRPr lang="hu-HU" sz="3200" baseline="-25000" dirty="0" smtClean="0"/>
          </a:p>
          <a:p>
            <a:pPr marL="514350" indent="-514350">
              <a:buFont typeface="+mj-lt"/>
              <a:buAutoNum type="arabicPeriod"/>
            </a:pPr>
            <a:r>
              <a:rPr lang="hu-HU" sz="4000" dirty="0">
                <a:latin typeface="Brush Script MT" panose="03060802040406070304" pitchFamily="66" charset="0"/>
              </a:rPr>
              <a:t>L</a:t>
            </a:r>
            <a:r>
              <a:rPr lang="hu-HU" sz="4000" baseline="-25000" dirty="0"/>
              <a:t>3 </a:t>
            </a:r>
            <a:r>
              <a:rPr lang="hu-HU" sz="4000" dirty="0" smtClean="0">
                <a:sym typeface="Symbol" panose="05050102010706020507" pitchFamily="18" charset="2"/>
              </a:rPr>
              <a:t>= </a:t>
            </a:r>
            <a:r>
              <a:rPr lang="hu-HU" sz="4000" dirty="0" smtClean="0">
                <a:latin typeface="Brush Script MT" panose="03060802040406070304" pitchFamily="66" charset="0"/>
              </a:rPr>
              <a:t>L</a:t>
            </a:r>
            <a:r>
              <a:rPr lang="hu-HU" sz="4000" baseline="-25000" dirty="0" smtClean="0"/>
              <a:t>VDA   	</a:t>
            </a:r>
            <a:r>
              <a:rPr lang="hu-HU" sz="3200" dirty="0" smtClean="0"/>
              <a:t>előbb láttuk</a:t>
            </a:r>
            <a:endParaRPr lang="hu-HU" sz="3200" dirty="0"/>
          </a:p>
          <a:p>
            <a:pPr marL="514350" indent="-514350">
              <a:buFont typeface="+mj-lt"/>
              <a:buAutoNum type="arabicPeriod"/>
            </a:pPr>
            <a:r>
              <a:rPr lang="hu-HU" sz="4000" dirty="0" smtClean="0">
                <a:latin typeface="Brush Script MT" panose="03060802040406070304" pitchFamily="66" charset="0"/>
              </a:rPr>
              <a:t>L</a:t>
            </a:r>
            <a:r>
              <a:rPr lang="hu-HU" sz="4000" baseline="-25000" dirty="0" smtClean="0"/>
              <a:t>VDA </a:t>
            </a:r>
            <a:r>
              <a:rPr lang="hu-HU" sz="4000" dirty="0">
                <a:sym typeface="Symbol" panose="05050102010706020507" pitchFamily="18" charset="2"/>
              </a:rPr>
              <a:t> </a:t>
            </a:r>
            <a:r>
              <a:rPr lang="hu-HU" sz="4000" dirty="0" err="1">
                <a:latin typeface="Brush Script MT" panose="03060802040406070304" pitchFamily="66" charset="0"/>
              </a:rPr>
              <a:t>L</a:t>
            </a:r>
            <a:r>
              <a:rPr lang="hu-HU" sz="4000" baseline="-25000" dirty="0" err="1"/>
              <a:t>reg</a:t>
            </a:r>
            <a:endParaRPr lang="hu-HU" sz="4000" dirty="0"/>
          </a:p>
          <a:p>
            <a:pPr marL="0" indent="0">
              <a:buNone/>
            </a:pPr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399844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Kleene</a:t>
            </a:r>
            <a:r>
              <a:rPr lang="hu-HU" dirty="0"/>
              <a:t> </a:t>
            </a:r>
            <a:r>
              <a:rPr lang="hu-HU" dirty="0" smtClean="0"/>
              <a:t>tétele: </a:t>
            </a:r>
            <a:r>
              <a:rPr lang="hu-HU" dirty="0">
                <a:latin typeface="Brush Script MT" panose="03060802040406070304" pitchFamily="66" charset="0"/>
              </a:rPr>
              <a:t>L</a:t>
            </a:r>
            <a:r>
              <a:rPr lang="hu-HU" baseline="-25000" dirty="0"/>
              <a:t>3 </a:t>
            </a:r>
            <a:r>
              <a:rPr lang="hu-HU" dirty="0">
                <a:sym typeface="Symbol" panose="05050102010706020507" pitchFamily="18" charset="2"/>
              </a:rPr>
              <a:t>= </a:t>
            </a:r>
            <a:r>
              <a:rPr lang="hu-HU" dirty="0" err="1">
                <a:latin typeface="Brush Script MT" panose="03060802040406070304" pitchFamily="66" charset="0"/>
              </a:rPr>
              <a:t>L</a:t>
            </a:r>
            <a:r>
              <a:rPr lang="hu-HU" baseline="-25000" dirty="0" err="1"/>
              <a:t>reg</a:t>
            </a:r>
            <a:r>
              <a:rPr lang="hu-HU" dirty="0">
                <a:sym typeface="Symbol" panose="05050102010706020507" pitchFamily="18" charset="2"/>
              </a:rPr>
              <a:t> 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sz="3200" dirty="0" smtClean="0"/>
              <a:t>Bizonyítás vázlat:</a:t>
            </a:r>
          </a:p>
          <a:p>
            <a:pPr marL="742950" indent="-742950">
              <a:buFont typeface="+mj-lt"/>
              <a:buAutoNum type="arabicPeriod" startAt="3"/>
            </a:pPr>
            <a:r>
              <a:rPr lang="hu-HU" sz="4000" dirty="0" smtClean="0">
                <a:latin typeface="Brush Script MT" panose="03060802040406070304" pitchFamily="66" charset="0"/>
              </a:rPr>
              <a:t>L</a:t>
            </a:r>
            <a:r>
              <a:rPr lang="hu-HU" sz="4000" baseline="-25000" dirty="0" smtClean="0"/>
              <a:t>VDA </a:t>
            </a:r>
            <a:r>
              <a:rPr lang="hu-HU" sz="4000" dirty="0">
                <a:sym typeface="Symbol" panose="05050102010706020507" pitchFamily="18" charset="2"/>
              </a:rPr>
              <a:t> </a:t>
            </a:r>
            <a:r>
              <a:rPr lang="hu-HU" sz="4000" dirty="0" err="1" smtClean="0">
                <a:latin typeface="Brush Script MT" panose="03060802040406070304" pitchFamily="66" charset="0"/>
              </a:rPr>
              <a:t>L</a:t>
            </a:r>
            <a:r>
              <a:rPr lang="hu-HU" sz="4000" baseline="-25000" dirty="0" err="1" smtClean="0"/>
              <a:t>reg</a:t>
            </a:r>
            <a:r>
              <a:rPr lang="hu-HU" sz="4000" baseline="-25000" dirty="0" smtClean="0"/>
              <a:t> </a:t>
            </a:r>
            <a:r>
              <a:rPr lang="hu-HU" sz="2400" dirty="0" smtClean="0"/>
              <a:t>kiszámítható egy reguláris kifejezés</a:t>
            </a:r>
            <a:endParaRPr lang="hu-HU" sz="2400" baseline="-25000" dirty="0" smtClean="0"/>
          </a:p>
          <a:p>
            <a:pPr marL="0" indent="0">
              <a:buNone/>
            </a:pPr>
            <a:r>
              <a:rPr lang="hu-HU" sz="4000" dirty="0" smtClean="0"/>
              <a:t>Legyen A egy n állapotú VDA, azaz</a:t>
            </a:r>
          </a:p>
          <a:p>
            <a:pPr marL="0" indent="0">
              <a:buNone/>
            </a:pPr>
            <a:r>
              <a:rPr lang="hu-HU" sz="4000" dirty="0" smtClean="0"/>
              <a:t>Q={q</a:t>
            </a:r>
            <a:r>
              <a:rPr lang="hu-HU" sz="4000" baseline="-25000" dirty="0" smtClean="0"/>
              <a:t>1</a:t>
            </a:r>
            <a:r>
              <a:rPr lang="hu-HU" sz="4000" dirty="0" smtClean="0"/>
              <a:t>,q</a:t>
            </a:r>
            <a:r>
              <a:rPr lang="hu-HU" sz="4000" baseline="-25000" dirty="0" smtClean="0"/>
              <a:t>2</a:t>
            </a:r>
            <a:r>
              <a:rPr lang="hu-HU" sz="4000" dirty="0" smtClean="0"/>
              <a:t>,…, </a:t>
            </a:r>
            <a:r>
              <a:rPr lang="hu-HU" sz="4000" dirty="0" err="1" smtClean="0"/>
              <a:t>q</a:t>
            </a:r>
            <a:r>
              <a:rPr lang="hu-HU" sz="4000" baseline="-25000" dirty="0" err="1" smtClean="0"/>
              <a:t>n</a:t>
            </a:r>
            <a:r>
              <a:rPr lang="hu-HU" sz="4000" dirty="0" smtClean="0"/>
              <a:t>} és </a:t>
            </a:r>
          </a:p>
          <a:p>
            <a:pPr marL="0" indent="0">
              <a:buNone/>
            </a:pPr>
            <a:r>
              <a:rPr lang="hu-HU" sz="4000" dirty="0" smtClean="0"/>
              <a:t>q</a:t>
            </a:r>
            <a:r>
              <a:rPr lang="hu-HU" sz="4000" baseline="-25000" dirty="0" smtClean="0"/>
              <a:t>1 </a:t>
            </a:r>
            <a:r>
              <a:rPr lang="hu-HU" sz="4000" dirty="0" smtClean="0"/>
              <a:t>a kezdőállapot.</a:t>
            </a:r>
            <a:endParaRPr lang="hu-HU" sz="4000" dirty="0"/>
          </a:p>
          <a:p>
            <a:pPr marL="0" indent="0">
              <a:buNone/>
            </a:pPr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2032519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9772952" cy="1320800"/>
          </a:xfrm>
        </p:spPr>
        <p:txBody>
          <a:bodyPr/>
          <a:lstStyle/>
          <a:p>
            <a:r>
              <a:rPr lang="hu-HU" dirty="0" err="1" smtClean="0"/>
              <a:t>Kleene</a:t>
            </a:r>
            <a:r>
              <a:rPr lang="hu-HU" dirty="0" smtClean="0"/>
              <a:t> tétele bizonyítás folytatása:</a:t>
            </a:r>
            <a:r>
              <a:rPr lang="hu-HU" dirty="0">
                <a:latin typeface="Brush Script MT" panose="03060802040406070304" pitchFamily="66" charset="0"/>
              </a:rPr>
              <a:t> </a:t>
            </a:r>
            <a:r>
              <a:rPr lang="hu-HU" dirty="0" smtClean="0">
                <a:latin typeface="Brush Script MT" panose="03060802040406070304" pitchFamily="66" charset="0"/>
              </a:rPr>
              <a:t/>
            </a:r>
            <a:br>
              <a:rPr lang="hu-HU" dirty="0" smtClean="0">
                <a:latin typeface="Brush Script MT" panose="03060802040406070304" pitchFamily="66" charset="0"/>
              </a:rPr>
            </a:br>
            <a:r>
              <a:rPr lang="hu-HU" dirty="0" smtClean="0">
                <a:latin typeface="Brush Script MT" panose="03060802040406070304" pitchFamily="66" charset="0"/>
              </a:rPr>
              <a:t>L</a:t>
            </a:r>
            <a:r>
              <a:rPr lang="hu-HU" baseline="-25000" dirty="0" smtClean="0"/>
              <a:t>VDA </a:t>
            </a:r>
            <a:r>
              <a:rPr lang="hu-HU" dirty="0">
                <a:sym typeface="Symbol" panose="05050102010706020507" pitchFamily="18" charset="2"/>
              </a:rPr>
              <a:t> </a:t>
            </a:r>
            <a:r>
              <a:rPr lang="hu-HU" dirty="0" err="1">
                <a:latin typeface="Brush Script MT" panose="03060802040406070304" pitchFamily="66" charset="0"/>
              </a:rPr>
              <a:t>L</a:t>
            </a:r>
            <a:r>
              <a:rPr lang="hu-HU" baseline="-25000" dirty="0" err="1"/>
              <a:t>reg</a:t>
            </a: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hu-HU" sz="3200" dirty="0"/>
                  <a:t>Azt</a:t>
                </a:r>
                <a:r>
                  <a:rPr lang="hu-HU" sz="3200" dirty="0" smtClean="0"/>
                  <a:t> mondjuk, hogy </a:t>
                </a:r>
                <a:r>
                  <a:rPr lang="hu-HU" sz="3200" dirty="0" err="1" smtClean="0"/>
                  <a:t>q</a:t>
                </a:r>
                <a:r>
                  <a:rPr lang="hu-HU" sz="3200" baseline="-25000" dirty="0" err="1" smtClean="0"/>
                  <a:t>i</a:t>
                </a:r>
                <a:r>
                  <a:rPr lang="hu-HU" sz="3200" dirty="0" err="1" smtClean="0"/>
                  <a:t>u</a:t>
                </a:r>
                <a:r>
                  <a:rPr lang="hu-HU" sz="3200" dirty="0" smtClean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3200" b="1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hu-HU" sz="3200" b="1" i="1" dirty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groupChr>
                  </m:oMath>
                </a14:m>
                <a:r>
                  <a:rPr lang="hu-HU" sz="3200" b="1" dirty="0"/>
                  <a:t>*</a:t>
                </a:r>
                <a:r>
                  <a:rPr lang="hu-HU" sz="3200" b="1" baseline="-25000" dirty="0"/>
                  <a:t> </a:t>
                </a:r>
                <a:r>
                  <a:rPr lang="hu-HU" sz="3200" baseline="-25000" dirty="0" smtClean="0"/>
                  <a:t> </a:t>
                </a:r>
                <a:r>
                  <a:rPr lang="hu-HU" sz="3200" dirty="0" err="1" smtClean="0"/>
                  <a:t>q</a:t>
                </a:r>
                <a:r>
                  <a:rPr lang="hu-HU" sz="3200" baseline="-25000" dirty="0" err="1" smtClean="0"/>
                  <a:t>j</a:t>
                </a:r>
                <a:r>
                  <a:rPr lang="hu-HU" sz="3200" baseline="-25000" dirty="0" smtClean="0"/>
                  <a:t> </a:t>
                </a:r>
                <a:r>
                  <a:rPr lang="hu-HU" sz="3200" dirty="0" smtClean="0"/>
                  <a:t>redukció érinti a q</a:t>
                </a:r>
                <a:r>
                  <a:rPr lang="hu-HU" sz="3200" baseline="-25000" dirty="0" smtClean="0"/>
                  <a:t>m</a:t>
                </a:r>
                <a:r>
                  <a:rPr lang="hu-HU" sz="3200" dirty="0" smtClean="0"/>
                  <a:t> állapotot, ha q</a:t>
                </a:r>
                <a:r>
                  <a:rPr lang="hu-HU" sz="3200" baseline="-25000" dirty="0" smtClean="0"/>
                  <a:t>m</a:t>
                </a:r>
                <a:r>
                  <a:rPr lang="hu-HU" sz="3200" dirty="0"/>
                  <a:t> </a:t>
                </a:r>
                <a:r>
                  <a:rPr lang="hu-HU" sz="3200" dirty="0" smtClean="0"/>
                  <a:t>előfordul a redukciós levezetés valamely közbülső lépésében.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hu-HU" sz="3200" dirty="0" smtClean="0"/>
                  <a:t>Azt mondjuk, hogy a redukció </a:t>
                </a:r>
                <a:r>
                  <a:rPr lang="hu-HU" sz="3200" dirty="0" err="1" smtClean="0"/>
                  <a:t>k-megszorított</a:t>
                </a:r>
                <a:r>
                  <a:rPr lang="hu-HU" sz="3200" dirty="0" smtClean="0"/>
                  <a:t>, ha a redukció csak 1 és k közötti indexű állapotot érint közbülső lépésként.</a:t>
                </a:r>
                <a:endParaRPr lang="hu-HU" sz="3200" dirty="0"/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3" t="-2198" r="-2979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044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9772952" cy="1320800"/>
          </a:xfrm>
        </p:spPr>
        <p:txBody>
          <a:bodyPr/>
          <a:lstStyle/>
          <a:p>
            <a:r>
              <a:rPr lang="hu-HU" dirty="0" err="1" smtClean="0"/>
              <a:t>Kleene</a:t>
            </a:r>
            <a:r>
              <a:rPr lang="hu-HU" dirty="0" smtClean="0"/>
              <a:t> tétele bizonyítás folytatása:</a:t>
            </a:r>
            <a:r>
              <a:rPr lang="hu-HU" dirty="0">
                <a:latin typeface="Brush Script MT" panose="03060802040406070304" pitchFamily="66" charset="0"/>
              </a:rPr>
              <a:t> </a:t>
            </a:r>
            <a:r>
              <a:rPr lang="hu-HU" dirty="0" smtClean="0">
                <a:latin typeface="Brush Script MT" panose="03060802040406070304" pitchFamily="66" charset="0"/>
              </a:rPr>
              <a:t/>
            </a:r>
            <a:br>
              <a:rPr lang="hu-HU" dirty="0" smtClean="0">
                <a:latin typeface="Brush Script MT" panose="03060802040406070304" pitchFamily="66" charset="0"/>
              </a:rPr>
            </a:br>
            <a:r>
              <a:rPr lang="hu-HU" dirty="0" smtClean="0">
                <a:latin typeface="Brush Script MT" panose="03060802040406070304" pitchFamily="66" charset="0"/>
              </a:rPr>
              <a:t>L</a:t>
            </a:r>
            <a:r>
              <a:rPr lang="hu-HU" baseline="-25000" dirty="0" smtClean="0"/>
              <a:t>VDA </a:t>
            </a:r>
            <a:r>
              <a:rPr lang="hu-HU" dirty="0">
                <a:sym typeface="Symbol" panose="05050102010706020507" pitchFamily="18" charset="2"/>
              </a:rPr>
              <a:t> </a:t>
            </a:r>
            <a:r>
              <a:rPr lang="hu-HU" dirty="0" err="1">
                <a:latin typeface="Brush Script MT" panose="03060802040406070304" pitchFamily="66" charset="0"/>
              </a:rPr>
              <a:t>L</a:t>
            </a:r>
            <a:r>
              <a:rPr lang="hu-HU" baseline="-25000" dirty="0" err="1"/>
              <a:t>reg</a:t>
            </a: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hu-HU" sz="280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hu-H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  <m:r>
                          <a:rPr lang="hu-H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a:rPr lang="hu-H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hu-H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hu-HU" sz="28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:= { </a:t>
                </a:r>
                <a:r>
                  <a:rPr lang="hu-HU" sz="2800" dirty="0" smtClean="0">
                    <a:effectLst/>
                    <a:ea typeface="Times New Roman" panose="02020603050405020304" pitchFamily="18" charset="0"/>
                  </a:rPr>
                  <a:t>u </a:t>
                </a:r>
                <a:r>
                  <a:rPr lang="es-ES" sz="2800" dirty="0"/>
                  <a:t>∈</a:t>
                </a:r>
                <a:r>
                  <a:rPr lang="hu-HU" sz="2800" dirty="0"/>
                  <a:t> </a:t>
                </a:r>
                <a:r>
                  <a:rPr lang="hu-HU" sz="2800" dirty="0" smtClean="0"/>
                  <a:t>T* |</a:t>
                </a:r>
                <a:r>
                  <a:rPr lang="hu-HU" sz="2800" dirty="0">
                    <a:sym typeface="Symbol" panose="05050102010706020507" pitchFamily="18" charset="2"/>
                  </a:rPr>
                  <a:t> </a:t>
                </a:r>
                <a:r>
                  <a:rPr lang="hu-HU" sz="2800" dirty="0" smtClean="0">
                    <a:sym typeface="Symbol" panose="05050102010706020507" pitchFamily="18" charset="2"/>
                  </a:rPr>
                  <a:t> </a:t>
                </a:r>
                <a:r>
                  <a:rPr lang="hu-HU" sz="2800" dirty="0" err="1"/>
                  <a:t>q</a:t>
                </a:r>
                <a:r>
                  <a:rPr lang="hu-HU" sz="2800" baseline="-25000" dirty="0" err="1"/>
                  <a:t>i</a:t>
                </a:r>
                <a:r>
                  <a:rPr lang="hu-HU" sz="2800" dirty="0" err="1"/>
                  <a:t>u</a:t>
                </a:r>
                <a:r>
                  <a:rPr lang="hu-HU" sz="28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2800" b="1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hu-HU" sz="2800" b="1" i="1" dirty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groupChr>
                  </m:oMath>
                </a14:m>
                <a:r>
                  <a:rPr lang="hu-HU" sz="2800" b="1" dirty="0"/>
                  <a:t>*</a:t>
                </a:r>
                <a:r>
                  <a:rPr lang="hu-HU" sz="2800" b="1" baseline="-25000" dirty="0"/>
                  <a:t> </a:t>
                </a:r>
                <a:r>
                  <a:rPr lang="hu-HU" sz="2800" baseline="-25000" dirty="0" smtClean="0"/>
                  <a:t> </a:t>
                </a:r>
                <a:r>
                  <a:rPr lang="hu-HU" sz="2800" dirty="0" err="1"/>
                  <a:t>q</a:t>
                </a:r>
                <a:r>
                  <a:rPr lang="hu-HU" sz="2800" baseline="-25000" dirty="0" err="1"/>
                  <a:t>j</a:t>
                </a:r>
                <a:r>
                  <a:rPr lang="hu-HU" sz="2800" baseline="-25000" dirty="0"/>
                  <a:t> </a:t>
                </a:r>
                <a:r>
                  <a:rPr lang="hu-HU" sz="2800" dirty="0" smtClean="0"/>
                  <a:t>k-megszorított redukció}</a:t>
                </a:r>
              </a:p>
              <a:p>
                <a:pPr marL="0" indent="0">
                  <a:buNone/>
                </a:pPr>
                <a:r>
                  <a:rPr lang="hu-HU" sz="2800" dirty="0" smtClean="0"/>
                  <a:t>,ahol 0≤k≤n és 1≤i,j≤n.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hu-HU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hu-HU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  <m:r>
                          <a:rPr lang="hu-HU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a:rPr lang="hu-HU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hu-HU" sz="2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hu-HU" sz="28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:= { </a:t>
                </a:r>
                <a:r>
                  <a:rPr lang="hu-HU" sz="2800" dirty="0" smtClean="0">
                    <a:ea typeface="Times New Roman" panose="02020603050405020304" pitchFamily="18" charset="0"/>
                  </a:rPr>
                  <a:t>a </a:t>
                </a:r>
                <a:r>
                  <a:rPr lang="es-ES" sz="2800" dirty="0"/>
                  <a:t>∈</a:t>
                </a:r>
                <a:r>
                  <a:rPr lang="hu-HU" sz="2800" dirty="0"/>
                  <a:t> </a:t>
                </a:r>
                <a:r>
                  <a:rPr lang="hu-HU" sz="2800" dirty="0" smtClean="0"/>
                  <a:t>T </a:t>
                </a:r>
                <a:r>
                  <a:rPr lang="hu-HU" sz="2800" dirty="0"/>
                  <a:t>|</a:t>
                </a:r>
                <a:r>
                  <a:rPr lang="hu-HU" sz="2800" dirty="0">
                    <a:sym typeface="Symbol" panose="05050102010706020507" pitchFamily="18" charset="2"/>
                  </a:rPr>
                  <a:t>  </a:t>
                </a:r>
                <a:r>
                  <a:rPr lang="hu-HU" sz="2800" dirty="0" err="1" smtClean="0"/>
                  <a:t>q</a:t>
                </a:r>
                <a:r>
                  <a:rPr lang="hu-HU" sz="2800" baseline="-25000" dirty="0" err="1" smtClean="0"/>
                  <a:t>i</a:t>
                </a:r>
                <a:r>
                  <a:rPr lang="hu-HU" sz="2800" dirty="0" err="1"/>
                  <a:t>a</a:t>
                </a:r>
                <a:r>
                  <a:rPr lang="hu-HU" sz="2800" dirty="0" smtClean="0"/>
                  <a:t> </a:t>
                </a:r>
                <a:r>
                  <a:rPr lang="hu-HU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hu-HU" sz="2800" baseline="-25000" dirty="0" smtClean="0"/>
                  <a:t> </a:t>
                </a:r>
                <a:r>
                  <a:rPr lang="hu-HU" sz="2800" dirty="0" err="1"/>
                  <a:t>q</a:t>
                </a:r>
                <a:r>
                  <a:rPr lang="hu-HU" sz="2800" baseline="-25000" dirty="0" err="1"/>
                  <a:t>j</a:t>
                </a:r>
                <a:r>
                  <a:rPr lang="hu-HU" sz="2800" baseline="-25000" dirty="0"/>
                  <a:t> </a:t>
                </a:r>
                <a:r>
                  <a:rPr lang="hu-HU" sz="2800" dirty="0" smtClean="0"/>
                  <a:t>állapotátmenet}, ahol i</a:t>
                </a:r>
                <a:r>
                  <a:rPr lang="hu-HU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≠j.</a:t>
                </a:r>
                <a:endParaRPr lang="hu-HU" sz="2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hu-HU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hu-HU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  <m:r>
                          <a:rPr lang="hu-HU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a:rPr lang="hu-HU" sz="2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hu-HU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hu-HU" sz="28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:= </a:t>
                </a:r>
                <a:r>
                  <a:rPr lang="hu-HU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  <a:r>
                  <a:rPr lang="el-GR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ε</a:t>
                </a:r>
                <a:r>
                  <a:rPr lang="hu-HU" sz="28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r>
                  <a:rPr lang="hu-HU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∪</a:t>
                </a:r>
                <a:r>
                  <a:rPr lang="hu-HU" sz="28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hu-HU" sz="2800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{ </a:t>
                </a:r>
                <a:r>
                  <a:rPr lang="hu-HU" sz="2800" dirty="0">
                    <a:ea typeface="Times New Roman" panose="02020603050405020304" pitchFamily="18" charset="0"/>
                  </a:rPr>
                  <a:t>a </a:t>
                </a:r>
                <a:r>
                  <a:rPr lang="es-ES" sz="2800" dirty="0"/>
                  <a:t>∈</a:t>
                </a:r>
                <a:r>
                  <a:rPr lang="hu-HU" sz="2800" dirty="0"/>
                  <a:t> T |</a:t>
                </a:r>
                <a:r>
                  <a:rPr lang="hu-HU" sz="2800" dirty="0">
                    <a:sym typeface="Symbol" panose="05050102010706020507" pitchFamily="18" charset="2"/>
                  </a:rPr>
                  <a:t>  </a:t>
                </a:r>
                <a:r>
                  <a:rPr lang="hu-HU" sz="2800" dirty="0" err="1"/>
                  <a:t>q</a:t>
                </a:r>
                <a:r>
                  <a:rPr lang="hu-HU" sz="2800" baseline="-25000" dirty="0" err="1"/>
                  <a:t>i</a:t>
                </a:r>
                <a:r>
                  <a:rPr lang="hu-HU" sz="2800" dirty="0" err="1"/>
                  <a:t>a</a:t>
                </a:r>
                <a:r>
                  <a:rPr lang="hu-HU" sz="2800" dirty="0"/>
                  <a:t> </a:t>
                </a:r>
                <a:r>
                  <a:rPr lang="hu-H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hu-HU" sz="2800" baseline="-25000" dirty="0"/>
                  <a:t> </a:t>
                </a:r>
                <a:r>
                  <a:rPr lang="hu-HU" sz="2800" dirty="0" err="1" smtClean="0"/>
                  <a:t>q</a:t>
                </a:r>
                <a:r>
                  <a:rPr lang="hu-HU" sz="2800" baseline="-25000" dirty="0" err="1"/>
                  <a:t>i</a:t>
                </a:r>
                <a:r>
                  <a:rPr lang="hu-HU" sz="2800" baseline="-25000" dirty="0" smtClean="0"/>
                  <a:t> </a:t>
                </a:r>
                <a:r>
                  <a:rPr lang="hu-HU" sz="2800" dirty="0" smtClean="0"/>
                  <a:t>állapotátmenet}</a:t>
                </a:r>
                <a:endParaRPr lang="hu-HU" sz="28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hu-HU" sz="2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hu-HU" sz="3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hu-HU" sz="3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𝑬</m:t>
                        </m:r>
                      </m:e>
                      <m:sub>
                        <m:r>
                          <a:rPr lang="hu-HU" sz="3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𝒊</m:t>
                        </m:r>
                        <m:r>
                          <a:rPr lang="hu-HU" sz="3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a:rPr lang="hu-HU" sz="3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𝒋</m:t>
                        </m:r>
                      </m:sub>
                      <m:sup>
                        <m:r>
                          <a:rPr lang="hu-HU" sz="3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𝒌</m:t>
                        </m:r>
                      </m:sup>
                    </m:sSubSup>
                  </m:oMath>
                </a14:m>
                <a:r>
                  <a:rPr lang="hu-HU" sz="3200" b="1" dirty="0" smtClean="0"/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hu-HU" sz="3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hu-HU" sz="3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𝑬</m:t>
                        </m:r>
                      </m:e>
                      <m:sub>
                        <m:r>
                          <a:rPr lang="hu-HU" sz="3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𝒊</m:t>
                        </m:r>
                        <m:r>
                          <a:rPr lang="hu-HU" sz="3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a:rPr lang="hu-HU" sz="3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𝒋</m:t>
                        </m:r>
                      </m:sub>
                      <m:sup>
                        <m:r>
                          <a:rPr lang="hu-HU" sz="32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𝒌</m:t>
                        </m:r>
                        <m:r>
                          <a:rPr lang="hu-HU" sz="32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r>
                          <a:rPr lang="hu-HU" sz="32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𝟏</m:t>
                        </m:r>
                      </m:sup>
                    </m:sSubSup>
                    <m:sSubSup>
                      <m:sSubSupPr>
                        <m:ctrlPr>
                          <a:rPr lang="hu-HU" sz="3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hu-HU" sz="32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hu-HU" sz="3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𝑬</m:t>
                        </m:r>
                      </m:e>
                      <m:sub>
                        <m:r>
                          <a:rPr lang="hu-HU" sz="3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𝒊</m:t>
                        </m:r>
                        <m:r>
                          <a:rPr lang="hu-HU" sz="3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a:rPr lang="hu-HU" sz="32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𝒌</m:t>
                        </m:r>
                      </m:sub>
                      <m:sup>
                        <m:r>
                          <a:rPr lang="hu-HU" sz="3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𝒌</m:t>
                        </m:r>
                        <m:r>
                          <a:rPr lang="hu-HU" sz="32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r>
                          <a:rPr lang="hu-HU" sz="32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𝟏</m:t>
                        </m:r>
                      </m:sup>
                    </m:sSubSup>
                    <m:d>
                      <m:dPr>
                        <m:ctrlPr>
                          <a:rPr lang="hu-HU" sz="32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hu-HU" sz="32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hu-HU" sz="32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hu-HU" sz="3200" b="1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𝒌</m:t>
                            </m:r>
                            <m:r>
                              <a:rPr lang="hu-HU" sz="32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hu-HU" sz="3200" b="1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𝒌</m:t>
                            </m:r>
                          </m:sub>
                          <m:sup>
                            <m:r>
                              <a:rPr lang="hu-HU" sz="32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𝒌</m:t>
                            </m:r>
                            <m:r>
                              <a:rPr lang="hu-HU" sz="3200" b="1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hu-HU" sz="3200" b="1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𝟏</m:t>
                            </m:r>
                          </m:sup>
                        </m:sSubSup>
                      </m:e>
                    </m:d>
                    <m:r>
                      <a:rPr lang="hu-HU" sz="3200" b="0" i="1" baseline="30000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∗</m:t>
                    </m:r>
                    <m:sSubSup>
                      <m:sSubSupPr>
                        <m:ctrlPr>
                          <a:rPr lang="hu-HU" sz="3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hu-HU" sz="3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𝑬</m:t>
                        </m:r>
                      </m:e>
                      <m:sub>
                        <m:r>
                          <a:rPr lang="hu-HU" sz="32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𝒌</m:t>
                        </m:r>
                        <m:r>
                          <a:rPr lang="hu-HU" sz="3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a:rPr lang="hu-HU" sz="3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𝒋</m:t>
                        </m:r>
                      </m:sub>
                      <m:sup>
                        <m:r>
                          <a:rPr lang="hu-HU" sz="3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𝒌</m:t>
                        </m:r>
                        <m:r>
                          <a:rPr lang="hu-HU" sz="32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r>
                          <a:rPr lang="hu-HU" sz="32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endParaRPr lang="hu-HU" sz="3200" b="1" dirty="0"/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8" t="-1570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006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9772952" cy="1320800"/>
          </a:xfrm>
        </p:spPr>
        <p:txBody>
          <a:bodyPr/>
          <a:lstStyle/>
          <a:p>
            <a:r>
              <a:rPr lang="hu-HU" dirty="0" err="1" smtClean="0"/>
              <a:t>Kleene</a:t>
            </a:r>
            <a:r>
              <a:rPr lang="hu-HU" dirty="0" smtClean="0"/>
              <a:t> tétele bizonyítás folytatása:</a:t>
            </a:r>
            <a:r>
              <a:rPr lang="hu-HU" dirty="0">
                <a:latin typeface="Brush Script MT" panose="03060802040406070304" pitchFamily="66" charset="0"/>
              </a:rPr>
              <a:t> </a:t>
            </a:r>
            <a:r>
              <a:rPr lang="hu-HU" dirty="0" smtClean="0">
                <a:latin typeface="Brush Script MT" panose="03060802040406070304" pitchFamily="66" charset="0"/>
              </a:rPr>
              <a:t/>
            </a:r>
            <a:br>
              <a:rPr lang="hu-HU" dirty="0" smtClean="0">
                <a:latin typeface="Brush Script MT" panose="03060802040406070304" pitchFamily="66" charset="0"/>
              </a:rPr>
            </a:br>
            <a:r>
              <a:rPr lang="hu-HU" dirty="0" smtClean="0">
                <a:latin typeface="Brush Script MT" panose="03060802040406070304" pitchFamily="66" charset="0"/>
              </a:rPr>
              <a:t>L</a:t>
            </a:r>
            <a:r>
              <a:rPr lang="hu-HU" baseline="-25000" dirty="0" smtClean="0"/>
              <a:t>VDA </a:t>
            </a:r>
            <a:r>
              <a:rPr lang="hu-HU" dirty="0">
                <a:sym typeface="Symbol" panose="05050102010706020507" pitchFamily="18" charset="2"/>
              </a:rPr>
              <a:t> </a:t>
            </a:r>
            <a:r>
              <a:rPr lang="hu-HU" dirty="0" err="1">
                <a:latin typeface="Brush Script MT" panose="03060802040406070304" pitchFamily="66" charset="0"/>
              </a:rPr>
              <a:t>L</a:t>
            </a:r>
            <a:r>
              <a:rPr lang="hu-HU" baseline="-25000" dirty="0" err="1"/>
              <a:t>reg</a:t>
            </a: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ln>
                <a:solidFill>
                  <a:schemeClr val="bg1"/>
                </a:solidFill>
              </a:ln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hu-HU" sz="2800" dirty="0" smtClean="0"/>
                  <a:t>Legyen </a:t>
                </a:r>
                <a:r>
                  <a:rPr lang="hu-HU" sz="2800" dirty="0" smtClean="0">
                    <a:latin typeface="Constantia" panose="02030602050306030303" pitchFamily="18" charset="0"/>
                  </a:rPr>
                  <a:t>I</a:t>
                </a:r>
                <a:r>
                  <a:rPr lang="hu-HU" sz="2800" dirty="0" smtClean="0"/>
                  <a:t>:={elfogadó állapotok indexei}.</a:t>
                </a:r>
              </a:p>
              <a:p>
                <a:pPr marL="0" indent="0">
                  <a:buNone/>
                </a:pPr>
                <a:endParaRPr lang="hu-HU" sz="4400" dirty="0" smtClean="0"/>
              </a:p>
              <a:p>
                <a:pPr marL="0" indent="0" algn="ctr">
                  <a:buNone/>
                </a:pPr>
                <a:r>
                  <a:rPr lang="hu-HU" sz="4400" dirty="0" smtClean="0"/>
                  <a:t>L(A) =</a:t>
                </a:r>
                <a14:m>
                  <m:oMath xmlns:m="http://schemas.openxmlformats.org/officeDocument/2006/math">
                    <m:r>
                      <a:rPr lang="hu-HU" sz="48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hu-HU" sz="4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4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</m:e>
                      <m:sub>
                        <m:r>
                          <a:rPr lang="hu-HU" sz="4800" i="1" baseline="-2500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hu-HU" sz="4800" i="1" baseline="-2500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Є</m:t>
                        </m:r>
                        <m:r>
                          <a:rPr lang="hu-HU" sz="4800" i="1" baseline="-2500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sSubSup>
                      <m:sSubSupPr>
                        <m:ctrlPr>
                          <a:rPr lang="hu-HU" sz="4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hu-HU" sz="4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4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  <m:r>
                          <a:rPr lang="hu-HU" sz="4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a:rPr lang="hu-HU" sz="4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hu-HU" sz="4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endParaRPr lang="hu-HU" sz="4800" dirty="0" smtClean="0"/>
              </a:p>
              <a:p>
                <a:pPr marL="0" indent="0" algn="ctr">
                  <a:buNone/>
                </a:pPr>
                <a:endParaRPr lang="hu-HU" sz="4800" dirty="0"/>
              </a:p>
              <a:p>
                <a:pPr marL="0" indent="0">
                  <a:buNone/>
                </a:pPr>
                <a:r>
                  <a:rPr lang="hu-HU" sz="26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Megjegyzés: A kifejezésekben csak reguláris műveletek (unió, </a:t>
                </a:r>
                <a:r>
                  <a:rPr lang="hu-HU" sz="2600" dirty="0" err="1" smtClean="0">
                    <a:solidFill>
                      <a:schemeClr val="accent1">
                        <a:lumMod val="50000"/>
                      </a:schemeClr>
                    </a:solidFill>
                  </a:rPr>
                  <a:t>konkatenáció</a:t>
                </a:r>
                <a:r>
                  <a:rPr lang="hu-HU" sz="26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, lezárás) szerepeltek.</a:t>
                </a:r>
                <a:endParaRPr lang="hu-HU" sz="26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6" t="-266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4882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9114736" cy="648616"/>
          </a:xfrm>
        </p:spPr>
        <p:txBody>
          <a:bodyPr>
            <a:noAutofit/>
          </a:bodyPr>
          <a:lstStyle/>
          <a:p>
            <a:r>
              <a:rPr lang="hu-HU" sz="2800" dirty="0" smtClean="0"/>
              <a:t>Példa: L={a}{</a:t>
            </a:r>
            <a:r>
              <a:rPr lang="hu-HU" sz="2800" dirty="0" err="1" smtClean="0"/>
              <a:t>a,b</a:t>
            </a:r>
            <a:r>
              <a:rPr lang="hu-HU" sz="2800" dirty="0" smtClean="0"/>
              <a:t>}*{b}    /</a:t>
            </a:r>
            <a:r>
              <a:rPr lang="hu-HU" sz="2000" dirty="0" smtClean="0"/>
              <a:t>reguláris kifejezéssel: a(</a:t>
            </a:r>
            <a:r>
              <a:rPr lang="hu-HU" sz="2000" dirty="0" err="1" smtClean="0"/>
              <a:t>a|b</a:t>
            </a:r>
            <a:r>
              <a:rPr lang="hu-HU" sz="2000" dirty="0" smtClean="0"/>
              <a:t>)*b /</a:t>
            </a:r>
            <a:endParaRPr lang="hu-HU" sz="2000" dirty="0"/>
          </a:p>
        </p:txBody>
      </p:sp>
      <p:sp>
        <p:nvSpPr>
          <p:cNvPr id="3" name="Szövegdoboz 2"/>
          <p:cNvSpPr txBox="1"/>
          <p:nvPr/>
        </p:nvSpPr>
        <p:spPr>
          <a:xfrm>
            <a:off x="1016000" y="1427516"/>
            <a:ext cx="6862438" cy="258532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sz="2800" dirty="0" err="1" smtClean="0"/>
              <a:t>S</a:t>
            </a:r>
            <a:r>
              <a:rPr lang="hu-HU" sz="2800" dirty="0" err="1" smtClean="0">
                <a:cs typeface="Times New Roman" panose="02020603050405020304" pitchFamily="18" charset="0"/>
              </a:rPr>
              <a:t>→aA</a:t>
            </a:r>
            <a:endParaRPr lang="hu-HU" sz="2800" dirty="0" smtClean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hu-HU" sz="2800" dirty="0" err="1" smtClean="0"/>
              <a:t>A</a:t>
            </a:r>
            <a:r>
              <a:rPr lang="hu-HU" sz="2800" dirty="0" err="1">
                <a:cs typeface="Times New Roman" panose="02020603050405020304" pitchFamily="18" charset="0"/>
              </a:rPr>
              <a:t>→</a:t>
            </a:r>
            <a:r>
              <a:rPr lang="hu-HU" sz="2800" dirty="0" err="1" smtClean="0">
                <a:cs typeface="Times New Roman" panose="02020603050405020304" pitchFamily="18" charset="0"/>
              </a:rPr>
              <a:t>aA|bA|bB</a:t>
            </a:r>
            <a:endParaRPr lang="hu-HU" sz="28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hu-HU" sz="2800" dirty="0" smtClean="0"/>
              <a:t>B</a:t>
            </a:r>
            <a:r>
              <a:rPr lang="hu-HU" sz="2800" dirty="0" smtClean="0">
                <a:cs typeface="Times New Roman" panose="02020603050405020304" pitchFamily="18" charset="0"/>
              </a:rPr>
              <a:t>→</a:t>
            </a:r>
            <a:r>
              <a:rPr lang="el-GR" sz="2800" dirty="0" smtClean="0">
                <a:cs typeface="Times New Roman" panose="02020603050405020304" pitchFamily="18" charset="0"/>
              </a:rPr>
              <a:t>ε</a:t>
            </a:r>
            <a:endParaRPr lang="hu-HU" sz="2800" dirty="0"/>
          </a:p>
          <a:p>
            <a:endParaRPr lang="hu-HU" dirty="0"/>
          </a:p>
          <a:p>
            <a:endParaRPr lang="hu-HU" dirty="0"/>
          </a:p>
        </p:txBody>
      </p:sp>
      <p:sp>
        <p:nvSpPr>
          <p:cNvPr id="78" name="Ellipszis 77"/>
          <p:cNvSpPr/>
          <p:nvPr/>
        </p:nvSpPr>
        <p:spPr>
          <a:xfrm>
            <a:off x="4111452" y="4278215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9" name="Ellipszis 78"/>
          <p:cNvSpPr/>
          <p:nvPr/>
        </p:nvSpPr>
        <p:spPr>
          <a:xfrm>
            <a:off x="6724304" y="4278038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0" name="Ellipszis 79"/>
          <p:cNvSpPr/>
          <p:nvPr/>
        </p:nvSpPr>
        <p:spPr>
          <a:xfrm>
            <a:off x="1498600" y="4278038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81" name="Egyenes összekötő nyíllal 80"/>
          <p:cNvCxnSpPr/>
          <p:nvPr/>
        </p:nvCxnSpPr>
        <p:spPr>
          <a:xfrm>
            <a:off x="1016000" y="4735238"/>
            <a:ext cx="27031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Szövegdoboz 81"/>
          <p:cNvSpPr txBox="1"/>
          <p:nvPr/>
        </p:nvSpPr>
        <p:spPr>
          <a:xfrm>
            <a:off x="1736372" y="4513912"/>
            <a:ext cx="48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 smtClean="0"/>
              <a:t>S</a:t>
            </a:r>
            <a:endParaRPr lang="hu-HU" sz="2000" dirty="0"/>
          </a:p>
        </p:txBody>
      </p:sp>
      <p:sp>
        <p:nvSpPr>
          <p:cNvPr id="83" name="Szövegdoboz 82"/>
          <p:cNvSpPr txBox="1"/>
          <p:nvPr/>
        </p:nvSpPr>
        <p:spPr>
          <a:xfrm flipH="1">
            <a:off x="4335113" y="4513243"/>
            <a:ext cx="610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 smtClean="0"/>
              <a:t>A</a:t>
            </a:r>
            <a:endParaRPr lang="hu-HU" sz="2000" dirty="0"/>
          </a:p>
        </p:txBody>
      </p:sp>
      <p:sp>
        <p:nvSpPr>
          <p:cNvPr id="84" name="Szövegdoboz 83"/>
          <p:cNvSpPr txBox="1"/>
          <p:nvPr/>
        </p:nvSpPr>
        <p:spPr>
          <a:xfrm>
            <a:off x="6938793" y="4515678"/>
            <a:ext cx="48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 smtClean="0"/>
              <a:t>B</a:t>
            </a:r>
            <a:endParaRPr lang="hu-HU" sz="2000" dirty="0"/>
          </a:p>
        </p:txBody>
      </p:sp>
      <p:sp>
        <p:nvSpPr>
          <p:cNvPr id="85" name="Ellipszis 84"/>
          <p:cNvSpPr/>
          <p:nvPr/>
        </p:nvSpPr>
        <p:spPr>
          <a:xfrm>
            <a:off x="6830184" y="4416609"/>
            <a:ext cx="702640" cy="6660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86" name="Egyenes összekötő nyíllal 85"/>
          <p:cNvCxnSpPr>
            <a:stCxn id="80" idx="6"/>
          </p:cNvCxnSpPr>
          <p:nvPr/>
        </p:nvCxnSpPr>
        <p:spPr>
          <a:xfrm>
            <a:off x="2413000" y="4735238"/>
            <a:ext cx="158326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gyenes összekötő nyíllal 86"/>
          <p:cNvCxnSpPr/>
          <p:nvPr/>
        </p:nvCxnSpPr>
        <p:spPr>
          <a:xfrm>
            <a:off x="5141037" y="4735238"/>
            <a:ext cx="158326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Ív 87"/>
          <p:cNvSpPr/>
          <p:nvPr/>
        </p:nvSpPr>
        <p:spPr>
          <a:xfrm rot="12455027">
            <a:off x="4123077" y="5073825"/>
            <a:ext cx="1127435" cy="514290"/>
          </a:xfrm>
          <a:prstGeom prst="arc">
            <a:avLst>
              <a:gd name="adj1" fmla="val 8058026"/>
              <a:gd name="adj2" fmla="val 0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89" name="Egyenes összekötő nyíllal 88"/>
          <p:cNvCxnSpPr/>
          <p:nvPr/>
        </p:nvCxnSpPr>
        <p:spPr>
          <a:xfrm flipH="1" flipV="1">
            <a:off x="4869108" y="5082653"/>
            <a:ext cx="122441" cy="12300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Szövegdoboz 89"/>
          <p:cNvSpPr txBox="1"/>
          <p:nvPr/>
        </p:nvSpPr>
        <p:spPr>
          <a:xfrm>
            <a:off x="2879552" y="4278038"/>
            <a:ext cx="29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a</a:t>
            </a:r>
            <a:endParaRPr lang="hu-HU" dirty="0"/>
          </a:p>
        </p:txBody>
      </p:sp>
      <p:sp>
        <p:nvSpPr>
          <p:cNvPr id="91" name="Szövegdoboz 90"/>
          <p:cNvSpPr txBox="1"/>
          <p:nvPr/>
        </p:nvSpPr>
        <p:spPr>
          <a:xfrm>
            <a:off x="3908931" y="5318938"/>
            <a:ext cx="659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a, b</a:t>
            </a:r>
            <a:endParaRPr lang="hu-HU" dirty="0"/>
          </a:p>
        </p:txBody>
      </p:sp>
      <p:sp>
        <p:nvSpPr>
          <p:cNvPr id="92" name="Szövegdoboz 91"/>
          <p:cNvSpPr txBox="1"/>
          <p:nvPr/>
        </p:nvSpPr>
        <p:spPr>
          <a:xfrm>
            <a:off x="5696745" y="4278038"/>
            <a:ext cx="29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47784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  <p:bldP spid="80" grpId="0" animBg="1"/>
      <p:bldP spid="82" grpId="0"/>
      <p:bldP spid="83" grpId="0"/>
      <p:bldP spid="84" grpId="0"/>
      <p:bldP spid="85" grpId="0" animBg="1"/>
      <p:bldP spid="88" grpId="0" animBg="1"/>
      <p:bldP spid="90" grpId="0"/>
      <p:bldP spid="91" grpId="0"/>
      <p:bldP spid="9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9114736" cy="648616"/>
          </a:xfrm>
        </p:spPr>
        <p:txBody>
          <a:bodyPr>
            <a:noAutofit/>
          </a:bodyPr>
          <a:lstStyle/>
          <a:p>
            <a:r>
              <a:rPr lang="hu-HU" sz="2000" dirty="0" smtClean="0"/>
              <a:t>Példa: L={a}{</a:t>
            </a:r>
            <a:r>
              <a:rPr lang="hu-HU" sz="2000" dirty="0" err="1" smtClean="0"/>
              <a:t>a,b</a:t>
            </a:r>
            <a:r>
              <a:rPr lang="hu-HU" sz="2000" dirty="0" smtClean="0"/>
              <a:t>}*{b}</a:t>
            </a:r>
            <a:endParaRPr lang="hu-HU" sz="2000" dirty="0"/>
          </a:p>
        </p:txBody>
      </p:sp>
      <p:graphicFrame>
        <p:nvGraphicFramePr>
          <p:cNvPr id="37" name="Táblázat 36"/>
          <p:cNvGraphicFramePr>
            <a:graphicFrameLocks noGrp="1"/>
          </p:cNvGraphicFramePr>
          <p:nvPr>
            <p:extLst/>
          </p:nvPr>
        </p:nvGraphicFramePr>
        <p:xfrm>
          <a:off x="726328" y="1383754"/>
          <a:ext cx="3597096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032">
                  <a:extLst>
                    <a:ext uri="{9D8B030D-6E8A-4147-A177-3AD203B41FA5}">
                      <a16:colId xmlns:a16="http://schemas.microsoft.com/office/drawing/2014/main" val="1622538372"/>
                    </a:ext>
                  </a:extLst>
                </a:gridCol>
                <a:gridCol w="1199032">
                  <a:extLst>
                    <a:ext uri="{9D8B030D-6E8A-4147-A177-3AD203B41FA5}">
                      <a16:colId xmlns:a16="http://schemas.microsoft.com/office/drawing/2014/main" val="1373443020"/>
                    </a:ext>
                  </a:extLst>
                </a:gridCol>
                <a:gridCol w="1199032">
                  <a:extLst>
                    <a:ext uri="{9D8B030D-6E8A-4147-A177-3AD203B41FA5}">
                      <a16:colId xmlns:a16="http://schemas.microsoft.com/office/drawing/2014/main" val="4070272781"/>
                    </a:ext>
                  </a:extLst>
                </a:gridCol>
              </a:tblGrid>
              <a:tr h="4499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800" dirty="0" smtClean="0">
                          <a:solidFill>
                            <a:schemeClr val="tx1"/>
                          </a:solidFill>
                        </a:rPr>
                        <a:t>δ</a:t>
                      </a:r>
                      <a:r>
                        <a:rPr lang="hu-HU" sz="180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hu-HU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840307"/>
                  </a:ext>
                </a:extLst>
              </a:tr>
              <a:tr h="331759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1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2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ym typeface="Symbol" panose="05050102010706020507" pitchFamily="18" charset="2"/>
                        </a:rPr>
                        <a:t>4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405829"/>
                  </a:ext>
                </a:extLst>
              </a:tr>
              <a:tr h="331759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2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2</a:t>
                      </a:r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ym typeface="Symbol" panose="05050102010706020507" pitchFamily="18" charset="2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606982"/>
                  </a:ext>
                </a:extLst>
              </a:tr>
              <a:tr h="331759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>
                          <a:sym typeface="Symbol" panose="05050102010706020507" pitchFamily="18" charset="2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>
                          <a:sym typeface="Symbol" panose="05050102010706020507" pitchFamily="18" charset="2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173973"/>
                  </a:ext>
                </a:extLst>
              </a:tr>
              <a:tr h="331759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>
                          <a:sym typeface="Symbol" panose="05050102010706020507" pitchFamily="18" charset="2"/>
                        </a:rPr>
                        <a:t>4</a:t>
                      </a:r>
                      <a:endParaRPr lang="hu-HU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>
                          <a:sym typeface="Symbol" panose="05050102010706020507" pitchFamily="18" charset="2"/>
                        </a:rPr>
                        <a:t>4</a:t>
                      </a:r>
                      <a:endParaRPr lang="hu-HU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>
                          <a:sym typeface="Symbol" panose="05050102010706020507" pitchFamily="18" charset="2"/>
                        </a:rPr>
                        <a:t>4</a:t>
                      </a:r>
                      <a:endParaRPr lang="hu-HU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451982"/>
                  </a:ext>
                </a:extLst>
              </a:tr>
            </a:tbl>
          </a:graphicData>
        </a:graphic>
      </p:graphicFrame>
      <p:cxnSp>
        <p:nvCxnSpPr>
          <p:cNvPr id="38" name="Egyenes összekötő nyíllal 37"/>
          <p:cNvCxnSpPr/>
          <p:nvPr/>
        </p:nvCxnSpPr>
        <p:spPr>
          <a:xfrm>
            <a:off x="837751" y="2063676"/>
            <a:ext cx="196850" cy="48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gyenes összekötő nyíllal 38"/>
          <p:cNvCxnSpPr/>
          <p:nvPr/>
        </p:nvCxnSpPr>
        <p:spPr>
          <a:xfrm flipH="1" flipV="1">
            <a:off x="837751" y="2792413"/>
            <a:ext cx="196850" cy="86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Szövegdoboz 8"/>
              <p:cNvSpPr txBox="1"/>
              <p:nvPr/>
            </p:nvSpPr>
            <p:spPr>
              <a:xfrm>
                <a:off x="5054926" y="354248"/>
                <a:ext cx="5695932" cy="4109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400" dirty="0" smtClean="0">
                    <a:solidFill>
                      <a:srgbClr val="FF0000"/>
                    </a:solidFill>
                  </a:rPr>
                  <a:t>L(A)=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hu-HU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1,3</m:t>
                        </m:r>
                      </m:sub>
                      <m:sup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endParaRPr lang="hu-HU" sz="2400" dirty="0" smtClean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1,3</m:t>
                        </m:r>
                      </m:sub>
                      <m:sup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lang="hu-HU" sz="2400" dirty="0" smtClean="0">
                    <a:solidFill>
                      <a:srgbClr val="FF0000"/>
                    </a:solidFill>
                  </a:rPr>
                  <a:t>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1,3</m:t>
                        </m:r>
                      </m:sub>
                      <m:sup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hu-HU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hu-HU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lang="hu-HU" sz="2400" dirty="0" smtClean="0">
                    <a:solidFill>
                      <a:srgbClr val="FF0000"/>
                    </a:solidFill>
                  </a:rPr>
                  <a:t>)*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,3</m:t>
                        </m:r>
                      </m:sub>
                      <m:sup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lang="hu-HU" sz="2400" dirty="0" smtClean="0">
                    <a:solidFill>
                      <a:srgbClr val="FF0000"/>
                    </a:solidFill>
                  </a:rPr>
                  <a:t>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hu-HU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4,3</m:t>
                        </m:r>
                      </m:sub>
                      <m:sup>
                        <m:r>
                          <a:rPr lang="hu-H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lang="hu-HU" sz="2400" dirty="0" smtClean="0">
                    <a:solidFill>
                      <a:schemeClr val="tx1"/>
                    </a:solidFill>
                  </a:rPr>
                  <a:t>=</a:t>
                </a:r>
                <a:r>
                  <a:rPr lang="hu-HU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</a:t>
                </a:r>
                <a:endParaRPr lang="hu-HU" sz="240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1,3</m:t>
                        </m:r>
                      </m:sub>
                      <m:sup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lang="hu-HU" sz="2400" dirty="0" smtClean="0">
                    <a:solidFill>
                      <a:srgbClr val="FF0000"/>
                    </a:solidFill>
                  </a:rPr>
                  <a:t>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1,3</m:t>
                        </m:r>
                      </m:sub>
                      <m:sup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hu-HU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hu-HU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hu-HU" sz="2400" dirty="0">
                    <a:solidFill>
                      <a:srgbClr val="FF0000"/>
                    </a:solidFill>
                  </a:rPr>
                  <a:t>)*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hu-HU" sz="2400" dirty="0">
                    <a:solidFill>
                      <a:srgbClr val="FF0000"/>
                    </a:solidFill>
                  </a:rPr>
                  <a:t>; </a:t>
                </a:r>
                <a:endParaRPr lang="hu-HU" sz="2400" dirty="0" smtClean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hu-HU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1,3</m:t>
                        </m:r>
                      </m:sub>
                      <m:sup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hu-HU" sz="2400" dirty="0" smtClean="0">
                    <a:solidFill>
                      <a:srgbClr val="FF0000"/>
                    </a:solidFill>
                  </a:rPr>
                  <a:t>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1,3</m:t>
                        </m:r>
                      </m:sub>
                      <m:sup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hu-HU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hu-HU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hu-HU" sz="2400" dirty="0">
                    <a:solidFill>
                      <a:srgbClr val="FF0000"/>
                    </a:solidFill>
                  </a:rPr>
                  <a:t>)*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,3</m:t>
                        </m:r>
                      </m:sub>
                      <m:sup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hu-HU" sz="2400" dirty="0">
                    <a:solidFill>
                      <a:srgbClr val="FF0000"/>
                    </a:solidFill>
                  </a:rPr>
                  <a:t>; </a:t>
                </a:r>
                <a:endParaRPr lang="hu-HU" sz="2400" dirty="0" smtClean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1,3</m:t>
                        </m:r>
                      </m:sub>
                      <m:sup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hu-HU" sz="2400" dirty="0">
                    <a:solidFill>
                      <a:srgbClr val="FF0000"/>
                    </a:solidFill>
                  </a:rPr>
                  <a:t>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1,3</m:t>
                        </m:r>
                      </m:sub>
                      <m:sup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hu-HU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hu-HU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hu-HU" sz="2400" dirty="0">
                    <a:solidFill>
                      <a:srgbClr val="FF0000"/>
                    </a:solidFill>
                  </a:rPr>
                  <a:t>)*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,3</m:t>
                        </m:r>
                      </m:sub>
                      <m:sup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hu-HU" sz="2400" dirty="0">
                    <a:solidFill>
                      <a:srgbClr val="FF0000"/>
                    </a:solidFill>
                  </a:rPr>
                  <a:t>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hu-HU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hu-HU" sz="2400" i="1">
                            <a:latin typeface="Cambria Math" panose="02040503050406030204" pitchFamily="18" charset="0"/>
                          </a:rPr>
                          <m:t>,3</m:t>
                        </m:r>
                      </m:sub>
                      <m:sup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hu-HU" sz="2400" dirty="0"/>
                  <a:t>=</a:t>
                </a:r>
                <a:r>
                  <a:rPr lang="hu-HU" sz="2400" dirty="0">
                    <a:sym typeface="Symbol" panose="05050102010706020507" pitchFamily="18" charset="2"/>
                  </a:rPr>
                  <a:t></a:t>
                </a:r>
                <a:endParaRPr lang="hu-HU" sz="240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hu-HU" sz="2400" b="1" i="1">
                            <a:ln w="22225">
                              <a:solidFill>
                                <a:schemeClr val="accent2"/>
                              </a:solidFill>
                              <a:prstDash val="solid"/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b="1" i="1">
                            <a:ln w="22225">
                              <a:solidFill>
                                <a:schemeClr val="accent2"/>
                              </a:solidFill>
                              <a:prstDash val="solid"/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b="1" i="1">
                            <a:ln w="22225">
                              <a:solidFill>
                                <a:schemeClr val="accent2"/>
                              </a:solidFill>
                              <a:prstDash val="solid"/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1,3</m:t>
                        </m:r>
                      </m:sub>
                      <m:sup>
                        <m:r>
                          <a:rPr lang="hu-HU" sz="2400" b="1" i="1">
                            <a:ln w="22225">
                              <a:solidFill>
                                <a:schemeClr val="accent2"/>
                              </a:solidFill>
                              <a:prstDash val="solid"/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hu-HU" sz="2400" dirty="0">
                    <a:solidFill>
                      <a:srgbClr val="FF0000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hu-HU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</m:t>
                    </m:r>
                    <m:r>
                      <a:rPr lang="hu-HU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hu-H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hu-H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hu-H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}{</m:t>
                    </m:r>
                    <m:r>
                      <a:rPr lang="hu-H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hu-H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hu-HU" sz="2400" dirty="0">
                    <a:solidFill>
                      <a:srgbClr val="FF0000"/>
                    </a:solidFill>
                  </a:rPr>
                  <a:t>*</a:t>
                </a:r>
                <a14:m>
                  <m:oMath xmlns:m="http://schemas.openxmlformats.org/officeDocument/2006/math">
                    <m:r>
                      <a:rPr lang="hu-HU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hu-H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hu-H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hu-HU" sz="2400" dirty="0">
                    <a:solidFill>
                      <a:srgbClr val="FF0000"/>
                    </a:solidFill>
                  </a:rPr>
                  <a:t>; </a:t>
                </a:r>
                <a:endParaRPr lang="hu-HU" sz="2400" dirty="0" smtClean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,3</m:t>
                        </m:r>
                      </m:sub>
                      <m:sup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hu-HU" sz="2400" dirty="0">
                    <a:solidFill>
                      <a:srgbClr val="FF0000"/>
                    </a:solidFill>
                  </a:rPr>
                  <a:t>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,3</m:t>
                        </m:r>
                      </m:sub>
                      <m:sup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hu-HU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  <m:sup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hu-HU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2,2</m:t>
                        </m:r>
                      </m:sub>
                      <m:sup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hu-HU" sz="2400" dirty="0">
                    <a:solidFill>
                      <a:srgbClr val="FF0000"/>
                    </a:solidFill>
                  </a:rPr>
                  <a:t>)*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2,3</m:t>
                        </m:r>
                      </m:sub>
                      <m:sup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hu-HU" sz="2400" dirty="0">
                    <a:solidFill>
                      <a:srgbClr val="FF0000"/>
                    </a:solidFill>
                  </a:rPr>
                  <a:t>; </a:t>
                </a:r>
                <a:endParaRPr lang="hu-HU" sz="2400" dirty="0" smtClean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hu-HU" sz="2400" b="1" i="1">
                            <a:ln w="22225">
                              <a:solidFill>
                                <a:schemeClr val="accent2"/>
                              </a:solidFill>
                              <a:prstDash val="solid"/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b="1" i="1">
                            <a:ln w="22225">
                              <a:solidFill>
                                <a:schemeClr val="accent2"/>
                              </a:solidFill>
                              <a:prstDash val="solid"/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b="1" i="1">
                            <a:ln w="22225">
                              <a:solidFill>
                                <a:schemeClr val="accent2"/>
                              </a:solidFill>
                              <a:prstDash val="solid"/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3,3</m:t>
                        </m:r>
                      </m:sub>
                      <m:sup>
                        <m:r>
                          <a:rPr lang="hu-HU" sz="2400" b="1" i="1">
                            <a:ln w="22225">
                              <a:solidFill>
                                <a:schemeClr val="accent2"/>
                              </a:solidFill>
                              <a:prstDash val="solid"/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hu-HU" sz="2400" dirty="0" smtClean="0">
                    <a:solidFill>
                      <a:srgbClr val="FF0000"/>
                    </a:solidFill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hu-HU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hu-H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hu-H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hu-H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}{</m:t>
                    </m:r>
                    <m:r>
                      <a:rPr lang="hu-H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hu-H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hu-HU" sz="2400" dirty="0">
                    <a:solidFill>
                      <a:srgbClr val="FF0000"/>
                    </a:solidFill>
                  </a:rPr>
                  <a:t>*</a:t>
                </a:r>
                <a:r>
                  <a:rPr lang="hu-HU" sz="2400" dirty="0" smtClean="0">
                    <a:solidFill>
                      <a:srgbClr val="FF0000"/>
                    </a:solidFill>
                  </a:rPr>
                  <a:t>{</a:t>
                </a:r>
                <a14:m>
                  <m:oMath xmlns:m="http://schemas.openxmlformats.org/officeDocument/2006/math">
                    <m:r>
                      <a:rPr lang="hu-H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hu-HU" sz="2400" dirty="0" smtClean="0">
                    <a:solidFill>
                      <a:srgbClr val="FF0000"/>
                    </a:solidFill>
                  </a:rPr>
                  <a:t>}; </a:t>
                </a:r>
                <a:endParaRPr lang="hu-HU" sz="2400" b="1" i="1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hu-HU" sz="2400" b="1" i="1">
                            <a:ln w="22225">
                              <a:solidFill>
                                <a:schemeClr val="accent2"/>
                              </a:solidFill>
                              <a:prstDash val="solid"/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b="1" i="1" smtClean="0">
                            <a:ln w="22225">
                              <a:solidFill>
                                <a:schemeClr val="accent2"/>
                              </a:solidFill>
                              <a:prstDash val="solid"/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  <m:d>
                          <m:dPr>
                            <m:ctrlPr>
                              <a:rPr lang="hu-HU" sz="2400" b="1" i="1" smtClean="0">
                                <a:ln w="22225">
                                  <a:solidFill>
                                    <a:schemeClr val="accent2"/>
                                  </a:solidFill>
                                  <a:prstDash val="solid"/>
                                </a:ln>
                                <a:solidFill>
                                  <a:schemeClr val="accent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2400" b="1" i="1" smtClean="0">
                                <a:ln w="22225">
                                  <a:solidFill>
                                    <a:schemeClr val="accent2"/>
                                  </a:solidFill>
                                  <a:prstDash val="solid"/>
                                </a:ln>
                                <a:solidFill>
                                  <a:schemeClr val="accent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d>
                        <m:r>
                          <a:rPr lang="hu-HU" sz="2400" b="1" i="1" smtClean="0">
                            <a:ln w="22225">
                              <a:solidFill>
                                <a:schemeClr val="accent2"/>
                              </a:solidFill>
                              <a:prstDash val="solid"/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hu-HU" sz="2400" b="1" i="1">
                            <a:ln w="22225">
                              <a:solidFill>
                                <a:schemeClr val="accent2"/>
                              </a:solidFill>
                              <a:prstDash val="solid"/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b="1" i="1">
                            <a:ln w="22225">
                              <a:solidFill>
                                <a:schemeClr val="accent2"/>
                              </a:solidFill>
                              <a:prstDash val="solid"/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1,3</m:t>
                        </m:r>
                      </m:sub>
                      <m:sup>
                        <m:r>
                          <a:rPr lang="hu-HU" sz="2400" b="1" i="1">
                            <a:ln w="22225">
                              <a:solidFill>
                                <a:schemeClr val="accent2"/>
                              </a:solidFill>
                              <a:prstDash val="solid"/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lang="hu-HU" sz="2400" dirty="0" smtClean="0">
                    <a:solidFill>
                      <a:srgbClr val="FF0000"/>
                    </a:solidFill>
                  </a:rPr>
                  <a:t>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1,3</m:t>
                        </m:r>
                      </m:sub>
                      <m:sup>
                        <m: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lang="hu-HU" sz="2400" dirty="0" smtClean="0">
                    <a:solidFill>
                      <a:srgbClr val="FF0000"/>
                    </a:solidFill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m:rPr>
                        <m:nor/>
                      </m:rPr>
                      <a:rPr lang="hu-HU" sz="2400" dirty="0">
                        <a:solidFill>
                          <a:srgbClr val="FF0000"/>
                        </a:solidFill>
                      </a:rPr>
                      <m:t>∗</m:t>
                    </m:r>
                    <m:d>
                      <m:dPr>
                        <m:begChr m:val="{"/>
                        <m:endChr m:val="}"/>
                        <m:ctrlPr>
                          <a:rPr lang="hu-HU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hu-H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hu-HU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hu-HU" sz="2400" b="0" i="0" dirty="0" smtClean="0">
                            <a:solidFill>
                              <a:srgbClr val="FF0000"/>
                            </a:solidFill>
                          </a:rPr>
                          <m:t>∗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hu-HU" sz="2400" b="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m:rPr>
                        <m:nor/>
                      </m:rPr>
                      <a:rPr lang="hu-HU" sz="2400" dirty="0">
                        <a:solidFill>
                          <a:srgbClr val="FF0000"/>
                        </a:solidFill>
                      </a:rPr>
                      <m:t>∗</m:t>
                    </m:r>
                  </m:oMath>
                </a14:m>
                <a:endParaRPr lang="hu-HU" sz="2400" dirty="0" smtClean="0">
                  <a:solidFill>
                    <a:srgbClr val="FF0000"/>
                  </a:solidFill>
                </a:endParaRPr>
              </a:p>
              <a:p>
                <a:endParaRPr lang="hu-H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Szövegdoboz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4926" y="354248"/>
                <a:ext cx="5695932" cy="4109395"/>
              </a:xfrm>
              <a:prstGeom prst="rect">
                <a:avLst/>
              </a:prstGeom>
              <a:blipFill>
                <a:blip r:embed="rId2"/>
                <a:stretch>
                  <a:fillRect l="-1604" t="-1187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Ellipszis 95"/>
          <p:cNvSpPr/>
          <p:nvPr/>
        </p:nvSpPr>
        <p:spPr>
          <a:xfrm>
            <a:off x="3164170" y="4094747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7" name="Ellipszis 96"/>
          <p:cNvSpPr/>
          <p:nvPr/>
        </p:nvSpPr>
        <p:spPr>
          <a:xfrm>
            <a:off x="5777022" y="4094570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8" name="Ellipszis 97"/>
          <p:cNvSpPr/>
          <p:nvPr/>
        </p:nvSpPr>
        <p:spPr>
          <a:xfrm>
            <a:off x="551318" y="4094570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99" name="Egyenes összekötő nyíllal 98"/>
          <p:cNvCxnSpPr/>
          <p:nvPr/>
        </p:nvCxnSpPr>
        <p:spPr>
          <a:xfrm>
            <a:off x="68718" y="4551770"/>
            <a:ext cx="27031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Szövegdoboz 99"/>
          <p:cNvSpPr txBox="1"/>
          <p:nvPr/>
        </p:nvSpPr>
        <p:spPr>
          <a:xfrm>
            <a:off x="805588" y="4285578"/>
            <a:ext cx="5335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 smtClean="0"/>
              <a:t>1</a:t>
            </a:r>
            <a:endParaRPr lang="hu-HU" sz="2000" dirty="0"/>
          </a:p>
        </p:txBody>
      </p:sp>
      <p:sp>
        <p:nvSpPr>
          <p:cNvPr id="101" name="Szövegdoboz 100"/>
          <p:cNvSpPr txBox="1"/>
          <p:nvPr/>
        </p:nvSpPr>
        <p:spPr>
          <a:xfrm flipH="1">
            <a:off x="3302491" y="4329775"/>
            <a:ext cx="695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 smtClean="0"/>
              <a:t>2</a:t>
            </a:r>
            <a:endParaRPr lang="hu-HU" sz="2000" dirty="0"/>
          </a:p>
        </p:txBody>
      </p:sp>
      <p:sp>
        <p:nvSpPr>
          <p:cNvPr id="102" name="Szövegdoboz 101"/>
          <p:cNvSpPr txBox="1"/>
          <p:nvPr/>
        </p:nvSpPr>
        <p:spPr>
          <a:xfrm>
            <a:off x="5892207" y="4332210"/>
            <a:ext cx="629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 smtClean="0"/>
              <a:t>3</a:t>
            </a:r>
            <a:endParaRPr lang="hu-HU" sz="2000" dirty="0"/>
          </a:p>
        </p:txBody>
      </p:sp>
      <p:sp>
        <p:nvSpPr>
          <p:cNvPr id="103" name="Ellipszis 102"/>
          <p:cNvSpPr/>
          <p:nvPr/>
        </p:nvSpPr>
        <p:spPr>
          <a:xfrm>
            <a:off x="5882902" y="4233141"/>
            <a:ext cx="702640" cy="6660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04" name="Egyenes összekötő nyíllal 103"/>
          <p:cNvCxnSpPr>
            <a:stCxn id="98" idx="6"/>
          </p:cNvCxnSpPr>
          <p:nvPr/>
        </p:nvCxnSpPr>
        <p:spPr>
          <a:xfrm>
            <a:off x="1465718" y="4551770"/>
            <a:ext cx="158326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Egyenes összekötő nyíllal 104"/>
          <p:cNvCxnSpPr/>
          <p:nvPr/>
        </p:nvCxnSpPr>
        <p:spPr>
          <a:xfrm>
            <a:off x="4193755" y="4438075"/>
            <a:ext cx="158326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gyenes összekötő nyíllal 105"/>
          <p:cNvCxnSpPr/>
          <p:nvPr/>
        </p:nvCxnSpPr>
        <p:spPr>
          <a:xfrm flipH="1" flipV="1">
            <a:off x="3952501" y="4918220"/>
            <a:ext cx="122441" cy="12300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Szövegdoboz 106"/>
          <p:cNvSpPr txBox="1"/>
          <p:nvPr/>
        </p:nvSpPr>
        <p:spPr>
          <a:xfrm>
            <a:off x="1932270" y="4094570"/>
            <a:ext cx="29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a</a:t>
            </a:r>
            <a:endParaRPr lang="hu-HU" dirty="0"/>
          </a:p>
        </p:txBody>
      </p:sp>
      <p:sp>
        <p:nvSpPr>
          <p:cNvPr id="108" name="Szövegdoboz 107"/>
          <p:cNvSpPr txBox="1"/>
          <p:nvPr/>
        </p:nvSpPr>
        <p:spPr>
          <a:xfrm>
            <a:off x="4747278" y="4754604"/>
            <a:ext cx="307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a</a:t>
            </a:r>
            <a:endParaRPr lang="hu-HU" dirty="0"/>
          </a:p>
        </p:txBody>
      </p:sp>
      <p:sp>
        <p:nvSpPr>
          <p:cNvPr id="109" name="Szövegdoboz 108"/>
          <p:cNvSpPr txBox="1"/>
          <p:nvPr/>
        </p:nvSpPr>
        <p:spPr>
          <a:xfrm>
            <a:off x="4749463" y="4094570"/>
            <a:ext cx="29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</a:t>
            </a:r>
          </a:p>
        </p:txBody>
      </p:sp>
      <p:cxnSp>
        <p:nvCxnSpPr>
          <p:cNvPr id="110" name="Egyenes összekötő nyíllal 109"/>
          <p:cNvCxnSpPr/>
          <p:nvPr/>
        </p:nvCxnSpPr>
        <p:spPr>
          <a:xfrm flipH="1">
            <a:off x="4193755" y="4729885"/>
            <a:ext cx="1570614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Ív 110"/>
          <p:cNvSpPr/>
          <p:nvPr/>
        </p:nvSpPr>
        <p:spPr>
          <a:xfrm rot="12455027">
            <a:off x="3206510" y="4891633"/>
            <a:ext cx="1127435" cy="514290"/>
          </a:xfrm>
          <a:prstGeom prst="arc">
            <a:avLst>
              <a:gd name="adj1" fmla="val 8058026"/>
              <a:gd name="adj2" fmla="val 0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2" name="Ív 111"/>
          <p:cNvSpPr/>
          <p:nvPr/>
        </p:nvSpPr>
        <p:spPr>
          <a:xfrm rot="12455027">
            <a:off x="5794681" y="4797962"/>
            <a:ext cx="1127435" cy="514290"/>
          </a:xfrm>
          <a:prstGeom prst="arc">
            <a:avLst>
              <a:gd name="adj1" fmla="val 8058026"/>
              <a:gd name="adj2" fmla="val 0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13" name="Egyenes összekötő nyíllal 112"/>
          <p:cNvCxnSpPr/>
          <p:nvPr/>
        </p:nvCxnSpPr>
        <p:spPr>
          <a:xfrm flipH="1" flipV="1">
            <a:off x="6560701" y="4837681"/>
            <a:ext cx="122441" cy="12300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Szövegdoboz 113"/>
          <p:cNvSpPr txBox="1"/>
          <p:nvPr/>
        </p:nvSpPr>
        <p:spPr>
          <a:xfrm>
            <a:off x="3260893" y="5388753"/>
            <a:ext cx="361195" cy="370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a</a:t>
            </a:r>
            <a:endParaRPr lang="hu-HU" dirty="0"/>
          </a:p>
        </p:txBody>
      </p:sp>
      <p:sp>
        <p:nvSpPr>
          <p:cNvPr id="115" name="Szövegdoboz 114"/>
          <p:cNvSpPr txBox="1"/>
          <p:nvPr/>
        </p:nvSpPr>
        <p:spPr>
          <a:xfrm>
            <a:off x="6073736" y="5337601"/>
            <a:ext cx="39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</a:t>
            </a:r>
          </a:p>
        </p:txBody>
      </p:sp>
      <p:sp>
        <p:nvSpPr>
          <p:cNvPr id="116" name="Ellipszis 115"/>
          <p:cNvSpPr/>
          <p:nvPr/>
        </p:nvSpPr>
        <p:spPr>
          <a:xfrm>
            <a:off x="549194" y="5435191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7" name="Szövegdoboz 116"/>
          <p:cNvSpPr txBox="1"/>
          <p:nvPr/>
        </p:nvSpPr>
        <p:spPr>
          <a:xfrm>
            <a:off x="675834" y="5692336"/>
            <a:ext cx="6639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hu-HU" sz="2000" dirty="0" smtClean="0">
                <a:sym typeface="Symbol" panose="05050102010706020507" pitchFamily="18" charset="2"/>
              </a:rPr>
              <a:t>4</a:t>
            </a:r>
            <a:endParaRPr lang="hu-HU" sz="2000" dirty="0"/>
          </a:p>
        </p:txBody>
      </p:sp>
      <p:cxnSp>
        <p:nvCxnSpPr>
          <p:cNvPr id="118" name="Egyenes összekötő nyíllal 117"/>
          <p:cNvCxnSpPr>
            <a:endCxn id="116" idx="0"/>
          </p:cNvCxnSpPr>
          <p:nvPr/>
        </p:nvCxnSpPr>
        <p:spPr>
          <a:xfrm>
            <a:off x="1006394" y="5041227"/>
            <a:ext cx="0" cy="39396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Szövegdoboz 118"/>
          <p:cNvSpPr txBox="1"/>
          <p:nvPr/>
        </p:nvSpPr>
        <p:spPr>
          <a:xfrm>
            <a:off x="1040062" y="5068389"/>
            <a:ext cx="246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</a:t>
            </a:r>
          </a:p>
        </p:txBody>
      </p:sp>
      <p:sp>
        <p:nvSpPr>
          <p:cNvPr id="120" name="Ív 119"/>
          <p:cNvSpPr/>
          <p:nvPr/>
        </p:nvSpPr>
        <p:spPr>
          <a:xfrm rot="12455027">
            <a:off x="599838" y="6200002"/>
            <a:ext cx="1127435" cy="514290"/>
          </a:xfrm>
          <a:prstGeom prst="arc">
            <a:avLst>
              <a:gd name="adj1" fmla="val 8058026"/>
              <a:gd name="adj2" fmla="val 0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1" name="Szövegdoboz 120"/>
          <p:cNvSpPr txBox="1"/>
          <p:nvPr/>
        </p:nvSpPr>
        <p:spPr>
          <a:xfrm>
            <a:off x="101924" y="6189227"/>
            <a:ext cx="643799" cy="370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a</a:t>
            </a:r>
            <a:r>
              <a:rPr lang="hu-HU" dirty="0" err="1" smtClean="0"/>
              <a:t>,b</a:t>
            </a:r>
            <a:endParaRPr lang="hu-HU" dirty="0"/>
          </a:p>
        </p:txBody>
      </p:sp>
      <p:cxnSp>
        <p:nvCxnSpPr>
          <p:cNvPr id="122" name="Egyenes összekötő nyíllal 121"/>
          <p:cNvCxnSpPr/>
          <p:nvPr/>
        </p:nvCxnSpPr>
        <p:spPr>
          <a:xfrm flipH="1" flipV="1">
            <a:off x="1361699" y="6233593"/>
            <a:ext cx="122441" cy="12300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zövegdoboz 35"/>
          <p:cNvSpPr txBox="1"/>
          <p:nvPr/>
        </p:nvSpPr>
        <p:spPr>
          <a:xfrm>
            <a:off x="4941010" y="5925764"/>
            <a:ext cx="3289064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hu-HU" sz="3200" dirty="0" smtClean="0"/>
              <a:t>R=</a:t>
            </a:r>
            <a:r>
              <a:rPr lang="hu-HU" sz="3200" dirty="0" err="1" smtClean="0"/>
              <a:t>aa</a:t>
            </a:r>
            <a:r>
              <a:rPr lang="hu-HU" sz="3200" dirty="0" smtClean="0"/>
              <a:t>*b(a*b)*</a:t>
            </a:r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234878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77334" y="674914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Minimális véges determinisztikus automata</a:t>
            </a:r>
            <a:r>
              <a:rPr lang="hu-HU" dirty="0"/>
              <a:t/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37636" y="1743339"/>
            <a:ext cx="10213823" cy="43733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2800" b="1" dirty="0" smtClean="0"/>
              <a:t>Definíció:</a:t>
            </a:r>
            <a:r>
              <a:rPr lang="hu-HU" sz="2800" dirty="0" smtClean="0"/>
              <a:t> </a:t>
            </a:r>
            <a:br>
              <a:rPr lang="hu-HU" sz="2800" dirty="0" smtClean="0"/>
            </a:br>
            <a:r>
              <a:rPr lang="hu-HU" sz="2800" dirty="0" smtClean="0"/>
              <a:t>Az </a:t>
            </a:r>
            <a:r>
              <a:rPr lang="hu-HU" sz="2800" dirty="0"/>
              <a:t>A </a:t>
            </a:r>
            <a:r>
              <a:rPr lang="hu-HU" sz="2800" dirty="0" smtClean="0"/>
              <a:t>véges determinisztikus automata minimális állapotszámú, </a:t>
            </a:r>
            <a:r>
              <a:rPr lang="hu-HU" sz="2800" dirty="0"/>
              <a:t>ha nincs olyan A′ </a:t>
            </a:r>
            <a:r>
              <a:rPr lang="hu-HU" sz="2800" dirty="0" smtClean="0"/>
              <a:t>véges determinisztikus automata</a:t>
            </a:r>
            <a:r>
              <a:rPr lang="hu-HU" sz="2800" dirty="0"/>
              <a:t>, </a:t>
            </a:r>
            <a:r>
              <a:rPr lang="hu-HU" sz="2800" dirty="0" smtClean="0"/>
              <a:t>amely ugyanazt </a:t>
            </a:r>
            <a:r>
              <a:rPr lang="hu-HU" sz="2800" dirty="0"/>
              <a:t>a nyelvet ismeri fel, mint A, de A′ </a:t>
            </a:r>
            <a:r>
              <a:rPr lang="hu-HU" sz="2800" dirty="0" smtClean="0"/>
              <a:t>állapotainak száma kisebb, mint </a:t>
            </a:r>
            <a:r>
              <a:rPr lang="hu-HU" sz="2800" dirty="0"/>
              <a:t>A á</a:t>
            </a:r>
            <a:r>
              <a:rPr lang="hu-HU" sz="2800" dirty="0" smtClean="0"/>
              <a:t>llapotainak sz</a:t>
            </a:r>
            <a:r>
              <a:rPr lang="hu-HU" sz="2800" dirty="0"/>
              <a:t>á</a:t>
            </a:r>
            <a:r>
              <a:rPr lang="hu-HU" sz="2800" dirty="0" smtClean="0"/>
              <a:t>ma</a:t>
            </a:r>
            <a:r>
              <a:rPr lang="hu-HU" sz="2800" dirty="0"/>
              <a:t>.</a:t>
            </a:r>
          </a:p>
          <a:p>
            <a:pPr marL="0" indent="0">
              <a:buNone/>
            </a:pPr>
            <a:r>
              <a:rPr lang="hu-HU" sz="2800" b="1" dirty="0" smtClean="0"/>
              <a:t>Tétel:</a:t>
            </a:r>
            <a:endParaRPr lang="hu-HU" sz="2800" b="1" dirty="0"/>
          </a:p>
          <a:p>
            <a:pPr marL="0" indent="0">
              <a:buNone/>
            </a:pPr>
            <a:r>
              <a:rPr lang="hu-HU" sz="2800" dirty="0"/>
              <a:t>Az L </a:t>
            </a:r>
            <a:r>
              <a:rPr lang="hu-HU" sz="2800" dirty="0" smtClean="0"/>
              <a:t>reguláris </a:t>
            </a:r>
            <a:r>
              <a:rPr lang="hu-HU" sz="2800" dirty="0"/>
              <a:t>nyelvet </a:t>
            </a:r>
            <a:r>
              <a:rPr lang="hu-HU" sz="2800" dirty="0" smtClean="0"/>
              <a:t>felismer</a:t>
            </a:r>
            <a:r>
              <a:rPr lang="hu-HU" sz="2800" dirty="0"/>
              <a:t>ő</a:t>
            </a:r>
            <a:r>
              <a:rPr lang="hu-HU" sz="2800" dirty="0" smtClean="0"/>
              <a:t> </a:t>
            </a:r>
            <a:r>
              <a:rPr lang="hu-HU" sz="2800" u="sng" dirty="0" smtClean="0"/>
              <a:t>minimális</a:t>
            </a:r>
            <a:r>
              <a:rPr lang="hu-HU" sz="2800" dirty="0" smtClean="0"/>
              <a:t> véges determinisztikus automata </a:t>
            </a:r>
            <a:r>
              <a:rPr lang="hu-HU" sz="2800" dirty="0"/>
              <a:t>az izomorfizmus </a:t>
            </a:r>
            <a:r>
              <a:rPr lang="hu-HU" sz="2800" dirty="0" smtClean="0"/>
              <a:t>erej</a:t>
            </a:r>
            <a:r>
              <a:rPr lang="hu-HU" sz="2800" dirty="0"/>
              <a:t>é</a:t>
            </a:r>
            <a:r>
              <a:rPr lang="hu-HU" sz="2800" dirty="0" smtClean="0"/>
              <a:t>ig </a:t>
            </a:r>
            <a:r>
              <a:rPr lang="hu-HU" sz="2800" u="sng" dirty="0" smtClean="0"/>
              <a:t>egyértelm</a:t>
            </a:r>
            <a:r>
              <a:rPr lang="hu-HU" sz="2800" u="sng" dirty="0"/>
              <a:t>ű</a:t>
            </a:r>
            <a:r>
              <a:rPr lang="hu-HU" sz="2800" dirty="0" smtClean="0"/>
              <a:t>.</a:t>
            </a:r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701622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77334" y="674914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Minimális véges determinisztikus automata</a:t>
            </a:r>
            <a:r>
              <a:rPr lang="hu-HU" dirty="0"/>
              <a:t/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7333" y="2160589"/>
            <a:ext cx="10213823" cy="42135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2800" b="1" dirty="0" smtClean="0"/>
              <a:t>Tétel:</a:t>
            </a:r>
            <a:endParaRPr lang="hu-HU" sz="2800" b="1" dirty="0"/>
          </a:p>
          <a:p>
            <a:pPr marL="0" indent="0">
              <a:buNone/>
            </a:pPr>
            <a:r>
              <a:rPr lang="hu-HU" sz="2800" dirty="0"/>
              <a:t>Az L </a:t>
            </a:r>
            <a:r>
              <a:rPr lang="hu-HU" sz="2800" dirty="0" smtClean="0"/>
              <a:t>reguláris </a:t>
            </a:r>
            <a:r>
              <a:rPr lang="hu-HU" sz="2800" dirty="0"/>
              <a:t>nyelvet </a:t>
            </a:r>
            <a:r>
              <a:rPr lang="hu-HU" sz="2800" dirty="0" smtClean="0"/>
              <a:t>felismer</a:t>
            </a:r>
            <a:r>
              <a:rPr lang="hu-HU" sz="2800" dirty="0"/>
              <a:t>ő</a:t>
            </a:r>
            <a:r>
              <a:rPr lang="hu-HU" sz="2800" dirty="0" smtClean="0"/>
              <a:t> </a:t>
            </a:r>
            <a:r>
              <a:rPr lang="hu-HU" sz="2800" u="sng" dirty="0" smtClean="0"/>
              <a:t>minimális</a:t>
            </a:r>
            <a:r>
              <a:rPr lang="hu-HU" sz="2800" dirty="0" smtClean="0"/>
              <a:t> véges determinisztikus automata (VDA) az </a:t>
            </a:r>
            <a:r>
              <a:rPr lang="hu-HU" sz="2800" dirty="0"/>
              <a:t>izomorfizmus </a:t>
            </a:r>
            <a:r>
              <a:rPr lang="hu-HU" sz="2800" dirty="0" smtClean="0"/>
              <a:t>erej</a:t>
            </a:r>
            <a:r>
              <a:rPr lang="hu-HU" sz="2800" dirty="0"/>
              <a:t>é</a:t>
            </a:r>
            <a:r>
              <a:rPr lang="hu-HU" sz="2800" dirty="0" smtClean="0"/>
              <a:t>ig </a:t>
            </a:r>
            <a:r>
              <a:rPr lang="hu-HU" sz="2800" u="sng" dirty="0" smtClean="0"/>
              <a:t>egyértelmű</a:t>
            </a:r>
            <a:r>
              <a:rPr lang="hu-HU" sz="2800" dirty="0" smtClean="0"/>
              <a:t>.</a:t>
            </a:r>
          </a:p>
          <a:p>
            <a:pPr marL="0" indent="0">
              <a:buNone/>
            </a:pPr>
            <a:r>
              <a:rPr lang="hu-HU" sz="2800" dirty="0" smtClean="0"/>
              <a:t>Bizonyítás lépései:</a:t>
            </a:r>
          </a:p>
          <a:p>
            <a:pPr marL="514350" indent="-514350">
              <a:buAutoNum type="arabicPeriod"/>
            </a:pPr>
            <a:r>
              <a:rPr lang="hu-HU" sz="2800" dirty="0" smtClean="0"/>
              <a:t>Automata összefüggővé tétele</a:t>
            </a:r>
          </a:p>
          <a:p>
            <a:pPr marL="514350" indent="-514350">
              <a:buAutoNum type="arabicPeriod"/>
            </a:pPr>
            <a:r>
              <a:rPr lang="hu-HU" sz="2800" dirty="0" smtClean="0"/>
              <a:t>Ekvivalens állapotok meghatározása</a:t>
            </a:r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3219704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77334" y="674914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Összefüggő véges determinisztikus automata</a:t>
            </a:r>
            <a:r>
              <a:rPr lang="hu-HU" dirty="0"/>
              <a:t/>
            </a:r>
            <a:br>
              <a:rPr lang="hu-HU" dirty="0"/>
            </a:b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615189" y="1690072"/>
                <a:ext cx="10213823" cy="435562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hu-HU" sz="2800" b="1" dirty="0" smtClean="0"/>
                  <a:t>Definíció: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hu-HU" sz="2800" dirty="0" smtClean="0"/>
                  <a:t>Az </a:t>
                </a:r>
                <a:r>
                  <a:rPr lang="hu-HU" sz="2800" dirty="0"/>
                  <a:t>A = (Q, T, </a:t>
                </a:r>
                <a:r>
                  <a:rPr lang="el-GR" sz="2800" dirty="0"/>
                  <a:t>δ</a:t>
                </a:r>
                <a:r>
                  <a:rPr lang="hu-HU" sz="2800" dirty="0" smtClean="0"/>
                  <a:t>,q</a:t>
                </a:r>
                <a:r>
                  <a:rPr lang="hu-HU" sz="2800" baseline="-25000" dirty="0" smtClean="0"/>
                  <a:t>0</a:t>
                </a:r>
                <a:r>
                  <a:rPr lang="hu-HU" sz="2800" dirty="0"/>
                  <a:t>, F) véges </a:t>
                </a:r>
                <a:r>
                  <a:rPr lang="hu-HU" sz="2800" dirty="0" smtClean="0"/>
                  <a:t>determinisztikus automata </a:t>
                </a:r>
                <a:br>
                  <a:rPr lang="hu-HU" sz="2800" dirty="0" smtClean="0"/>
                </a:br>
                <a:r>
                  <a:rPr lang="hu-HU" sz="2800" dirty="0" smtClean="0"/>
                  <a:t>q állapotát </a:t>
                </a:r>
                <a:r>
                  <a:rPr lang="hu-HU" sz="2800" b="1" dirty="0" smtClean="0"/>
                  <a:t>elérhetőnek </a:t>
                </a:r>
                <a:r>
                  <a:rPr lang="hu-HU" sz="2800" dirty="0" smtClean="0"/>
                  <a:t>mondjuk, </a:t>
                </a:r>
                <a:br>
                  <a:rPr lang="hu-HU" sz="2800" dirty="0" smtClean="0"/>
                </a:br>
                <a:r>
                  <a:rPr lang="hu-HU" sz="2800" dirty="0" smtClean="0"/>
                  <a:t>ha </a:t>
                </a:r>
                <a:r>
                  <a:rPr lang="hu-HU" sz="2800" dirty="0">
                    <a:sym typeface="Symbol" panose="05050102010706020507" pitchFamily="18" charset="2"/>
                  </a:rPr>
                  <a:t></a:t>
                </a:r>
                <a:r>
                  <a:rPr lang="hu-HU" sz="2800" dirty="0" smtClean="0"/>
                  <a:t>u</a:t>
                </a:r>
                <a:r>
                  <a:rPr lang="es-ES" sz="2800" dirty="0"/>
                  <a:t>∈</a:t>
                </a:r>
                <a:r>
                  <a:rPr lang="hu-HU" sz="2800" dirty="0"/>
                  <a:t>T</a:t>
                </a:r>
                <a:r>
                  <a:rPr lang="hu-HU" sz="2800" dirty="0" smtClean="0"/>
                  <a:t>* szó, hogy q</a:t>
                </a:r>
                <a:r>
                  <a:rPr lang="hu-HU" sz="2800" baseline="-25000" dirty="0" smtClean="0"/>
                  <a:t>0</a:t>
                </a:r>
                <a:r>
                  <a:rPr lang="hu-HU" sz="2800" dirty="0" smtClean="0"/>
                  <a:t>u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2800" b="1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hu-HU" sz="2800" b="1" i="1" dirty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groupChr>
                  </m:oMath>
                </a14:m>
                <a:r>
                  <a:rPr lang="hu-HU" sz="2800" b="1" dirty="0"/>
                  <a:t>*</a:t>
                </a:r>
                <a:r>
                  <a:rPr lang="hu-HU" sz="2800" b="1" baseline="-25000" dirty="0"/>
                  <a:t> </a:t>
                </a:r>
                <a:r>
                  <a:rPr lang="hu-HU" sz="2800" dirty="0" smtClean="0"/>
                  <a:t>q.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hu-HU" sz="2000" dirty="0" smtClean="0"/>
                  <a:t>(Gráfos ábrázolásban ez azt jelenti, hogy van irányított </a:t>
                </a:r>
                <a:r>
                  <a:rPr lang="hu-HU" sz="2000" dirty="0"/>
                  <a:t>út </a:t>
                </a:r>
                <a:r>
                  <a:rPr lang="hu-HU" sz="2000" dirty="0" smtClean="0"/>
                  <a:t>q</a:t>
                </a:r>
                <a:r>
                  <a:rPr lang="hu-HU" sz="2000" baseline="-25000" dirty="0" smtClean="0"/>
                  <a:t>0</a:t>
                </a:r>
                <a:r>
                  <a:rPr lang="hu-HU" sz="2000" dirty="0" smtClean="0"/>
                  <a:t>-ból q-</a:t>
                </a:r>
                <a:r>
                  <a:rPr lang="hu-HU" sz="2000" dirty="0" err="1" smtClean="0"/>
                  <a:t>ba</a:t>
                </a:r>
                <a:r>
                  <a:rPr lang="hu-HU" sz="2000" dirty="0" smtClean="0"/>
                  <a:t>.)</a:t>
                </a:r>
                <a:endParaRPr lang="hu-HU" sz="2000" dirty="0"/>
              </a:p>
              <a:p>
                <a:pPr marL="0" indent="0">
                  <a:buNone/>
                </a:pPr>
                <a:r>
                  <a:rPr lang="hu-HU" sz="2800" b="1" dirty="0"/>
                  <a:t>Definíció: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hu-HU" sz="2800" dirty="0" smtClean="0"/>
                  <a:t>Az </a:t>
                </a:r>
                <a:r>
                  <a:rPr lang="hu-HU" sz="2800" dirty="0"/>
                  <a:t>A = (Q, T, </a:t>
                </a:r>
                <a:r>
                  <a:rPr lang="el-GR" sz="2800" dirty="0"/>
                  <a:t>δ</a:t>
                </a:r>
                <a:r>
                  <a:rPr lang="hu-HU" sz="2800" dirty="0"/>
                  <a:t>,q</a:t>
                </a:r>
                <a:r>
                  <a:rPr lang="hu-HU" sz="2800" baseline="-25000" dirty="0"/>
                  <a:t>0</a:t>
                </a:r>
                <a:r>
                  <a:rPr lang="hu-HU" sz="2800" dirty="0"/>
                  <a:t>, F) véges determinisztikus </a:t>
                </a:r>
                <a:r>
                  <a:rPr lang="hu-HU" sz="2800" dirty="0" smtClean="0"/>
                  <a:t>automatát </a:t>
                </a:r>
                <a:r>
                  <a:rPr lang="hu-HU" sz="2800" b="1" dirty="0" smtClean="0"/>
                  <a:t>összefüggőnek </a:t>
                </a:r>
                <a:r>
                  <a:rPr lang="hu-HU" sz="2800" dirty="0" smtClean="0"/>
                  <a:t>mondjuk, ha minden állapota elérhető a kezdőállapotból.</a:t>
                </a:r>
                <a:endParaRPr lang="hu-HU" sz="2800" dirty="0"/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5189" y="1690072"/>
                <a:ext cx="10213823" cy="4355621"/>
              </a:xfrm>
              <a:blipFill>
                <a:blip r:embed="rId2"/>
                <a:stretch>
                  <a:fillRect l="-1254" t="-1259" b="-2238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8675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77334" y="674914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Összefüggő véges determinisztikus automata</a:t>
            </a:r>
            <a:r>
              <a:rPr lang="hu-HU" dirty="0"/>
              <a:t/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7535" y="1920891"/>
            <a:ext cx="10213823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2800" dirty="0" smtClean="0"/>
              <a:t>Elérhető állapotok meghatározása:</a:t>
            </a:r>
          </a:p>
          <a:p>
            <a:pPr marL="0" indent="0">
              <a:buNone/>
            </a:pPr>
            <a:r>
              <a:rPr lang="hu-HU" sz="2800" dirty="0" smtClean="0"/>
              <a:t>Legyen H</a:t>
            </a:r>
            <a:r>
              <a:rPr lang="hu-HU" sz="2800" baseline="-25000" dirty="0" smtClean="0"/>
              <a:t>0</a:t>
            </a:r>
            <a:r>
              <a:rPr lang="hu-HU" sz="2800" dirty="0" smtClean="0"/>
              <a:t>={q</a:t>
            </a:r>
            <a:r>
              <a:rPr lang="hu-HU" sz="2800" baseline="-25000" dirty="0" smtClean="0"/>
              <a:t>0</a:t>
            </a:r>
            <a:r>
              <a:rPr lang="hu-HU" sz="2800" dirty="0" smtClean="0"/>
              <a:t>},</a:t>
            </a:r>
          </a:p>
          <a:p>
            <a:pPr marL="0" indent="0">
              <a:buNone/>
            </a:pPr>
            <a:r>
              <a:rPr lang="hu-HU" sz="2800" dirty="0" smtClean="0"/>
              <a:t>H</a:t>
            </a:r>
            <a:r>
              <a:rPr lang="hu-HU" sz="2800" baseline="-25000" dirty="0" smtClean="0"/>
              <a:t>i+1</a:t>
            </a:r>
            <a:r>
              <a:rPr lang="hu-HU" sz="2800" dirty="0" smtClean="0"/>
              <a:t>=</a:t>
            </a:r>
            <a:r>
              <a:rPr lang="hu-HU" sz="2800" dirty="0" err="1" smtClean="0"/>
              <a:t>H</a:t>
            </a:r>
            <a:r>
              <a:rPr lang="hu-HU" sz="2800" baseline="-25000" dirty="0" err="1" smtClean="0"/>
              <a:t>i</a:t>
            </a:r>
            <a:r>
              <a:rPr lang="hu-HU" sz="2800" dirty="0" smtClean="0"/>
              <a:t> </a:t>
            </a:r>
            <a:r>
              <a:rPr lang="hu-H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∪ {r</a:t>
            </a:r>
            <a:r>
              <a:rPr lang="es-ES" sz="2800" dirty="0" smtClean="0"/>
              <a:t>∈</a:t>
            </a:r>
            <a:r>
              <a:rPr lang="hu-HU" sz="2800" dirty="0" smtClean="0"/>
              <a:t>Q </a:t>
            </a:r>
            <a:r>
              <a:rPr lang="hu-H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| </a:t>
            </a:r>
            <a:r>
              <a:rPr lang="el-GR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r>
              <a:rPr lang="hu-H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hu-HU" sz="28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q,a</a:t>
            </a:r>
            <a:r>
              <a:rPr lang="hu-H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)=r, q</a:t>
            </a:r>
            <a:r>
              <a:rPr lang="es-ES" sz="2800" dirty="0" smtClean="0"/>
              <a:t>∈</a:t>
            </a:r>
            <a:r>
              <a:rPr lang="hu-HU" sz="2800" dirty="0" err="1" smtClean="0"/>
              <a:t>H</a:t>
            </a:r>
            <a:r>
              <a:rPr lang="hu-HU" sz="2800" baseline="-25000" dirty="0" err="1" smtClean="0"/>
              <a:t>i</a:t>
            </a:r>
            <a:r>
              <a:rPr lang="hu-H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 a</a:t>
            </a:r>
            <a:r>
              <a:rPr lang="es-ES" sz="2800" dirty="0" smtClean="0"/>
              <a:t>∈</a:t>
            </a:r>
            <a:r>
              <a:rPr lang="hu-H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T} és i≥0.</a:t>
            </a:r>
          </a:p>
          <a:p>
            <a:pPr marL="0" indent="0">
              <a:buNone/>
            </a:pPr>
            <a:r>
              <a:rPr lang="hu-HU" sz="2800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 k≥0 : </a:t>
            </a:r>
            <a:r>
              <a:rPr lang="hu-HU" sz="2800" dirty="0" err="1" smtClean="0"/>
              <a:t>H</a:t>
            </a:r>
            <a:r>
              <a:rPr lang="hu-HU" sz="2800" baseline="-25000" dirty="0" err="1" smtClean="0"/>
              <a:t>k</a:t>
            </a:r>
            <a:r>
              <a:rPr lang="hu-HU" sz="2800" baseline="-25000" dirty="0" smtClean="0"/>
              <a:t> </a:t>
            </a:r>
            <a:r>
              <a:rPr lang="hu-HU" sz="2800" dirty="0" smtClean="0"/>
              <a:t>=H</a:t>
            </a:r>
            <a:r>
              <a:rPr lang="hu-HU" sz="2800" baseline="-25000" dirty="0" smtClean="0"/>
              <a:t>m</a:t>
            </a:r>
            <a:r>
              <a:rPr lang="hu-HU" sz="2800" dirty="0" smtClean="0"/>
              <a:t> , ahol m≥k. Legyen H=</a:t>
            </a:r>
            <a:r>
              <a:rPr lang="hu-HU" sz="2800" dirty="0" err="1" smtClean="0"/>
              <a:t>H</a:t>
            </a:r>
            <a:r>
              <a:rPr lang="hu-HU" sz="2800" baseline="-25000" dirty="0" err="1" smtClean="0"/>
              <a:t>k</a:t>
            </a:r>
            <a:r>
              <a:rPr lang="hu-HU" sz="2800" dirty="0" smtClean="0"/>
              <a:t>.</a:t>
            </a:r>
          </a:p>
          <a:p>
            <a:pPr marL="0" indent="0">
              <a:buNone/>
            </a:pPr>
            <a:r>
              <a:rPr lang="hu-H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H halmaz tartalmazza az elérhető állapotokat.</a:t>
            </a:r>
          </a:p>
          <a:p>
            <a:pPr marL="0" indent="0">
              <a:buNone/>
            </a:pPr>
            <a:r>
              <a:rPr lang="hu-HU" sz="3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A’ legyen az A azon részautomatája, ahol Q’=H.</a:t>
            </a:r>
          </a:p>
          <a:p>
            <a:pPr marL="0" indent="0">
              <a:buNone/>
            </a:pPr>
            <a:r>
              <a:rPr lang="hu-HU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(A Q\H nemelérhető állapotok elhagyhatók.)</a:t>
            </a:r>
            <a:endParaRPr lang="hu-HU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393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Ekvivalens állapotok meghatározása</a:t>
            </a: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2160589"/>
                <a:ext cx="9017082" cy="3880773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hu-HU" sz="3000" b="1" dirty="0" smtClean="0"/>
                  <a:t>Definíció: </a:t>
                </a:r>
                <a:r>
                  <a:rPr lang="hu-HU" sz="3000" dirty="0" smtClean="0"/>
                  <a:t/>
                </a:r>
                <a:br>
                  <a:rPr lang="hu-HU" sz="3000" dirty="0" smtClean="0"/>
                </a:br>
                <a:r>
                  <a:rPr lang="hu-HU" sz="3000" b="1" dirty="0" smtClean="0"/>
                  <a:t>q </a:t>
                </a:r>
                <a14:m>
                  <m:oMath xmlns:m="http://schemas.openxmlformats.org/officeDocument/2006/math">
                    <m:r>
                      <a:rPr lang="hu-HU" sz="3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hu-HU" sz="3000" b="1" dirty="0" smtClean="0"/>
                  <a:t> p </a:t>
                </a:r>
                <a:r>
                  <a:rPr lang="hu-HU" sz="3000" dirty="0" smtClean="0"/>
                  <a:t>(q és r </a:t>
                </a:r>
                <a:r>
                  <a:rPr lang="hu-HU" sz="3000" b="1" dirty="0" smtClean="0"/>
                  <a:t>ekvivalens</a:t>
                </a:r>
                <a:r>
                  <a:rPr lang="hu-HU" sz="3000" dirty="0" smtClean="0"/>
                  <a:t> állapotok), </a:t>
                </a:r>
                <a:br>
                  <a:rPr lang="hu-HU" sz="3000" dirty="0" smtClean="0"/>
                </a:br>
                <a:r>
                  <a:rPr lang="hu-HU" sz="3000" dirty="0" smtClean="0"/>
                  <a:t>ha </a:t>
                </a:r>
                <a:r>
                  <a:rPr lang="hu-HU" sz="3000" dirty="0" smtClean="0">
                    <a:sym typeface="Symbol" panose="05050102010706020507" pitchFamily="18" charset="2"/>
                  </a:rPr>
                  <a:t> u</a:t>
                </a:r>
                <a:r>
                  <a:rPr lang="es-ES" sz="3000" dirty="0" smtClean="0"/>
                  <a:t>∈</a:t>
                </a:r>
                <a:r>
                  <a:rPr lang="hu-HU" sz="3000" dirty="0" smtClean="0"/>
                  <a:t> T* szóra igaz, hogy </a:t>
                </a:r>
                <a:r>
                  <a:rPr lang="hu-HU" sz="3000" dirty="0" err="1" smtClean="0"/>
                  <a:t>qu</a:t>
                </a:r>
                <a:r>
                  <a:rPr lang="hu-HU" sz="3000" dirty="0" smtClean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3000" b="1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hu-HU" sz="3000" b="1" i="1" dirty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groupChr>
                  </m:oMath>
                </a14:m>
                <a:r>
                  <a:rPr lang="hu-HU" sz="3000" b="1" dirty="0"/>
                  <a:t>*</a:t>
                </a:r>
                <a:r>
                  <a:rPr lang="hu-HU" sz="3000" b="1" baseline="-25000" dirty="0"/>
                  <a:t> </a:t>
                </a:r>
                <a:r>
                  <a:rPr lang="hu-HU" sz="3000" baseline="-25000" dirty="0"/>
                  <a:t> </a:t>
                </a:r>
                <a:r>
                  <a:rPr lang="hu-HU" sz="3000" dirty="0" smtClean="0"/>
                  <a:t>r és </a:t>
                </a:r>
                <a:r>
                  <a:rPr lang="hu-HU" sz="3000" dirty="0"/>
                  <a:t>p</a:t>
                </a:r>
                <a:r>
                  <a:rPr lang="hu-HU" sz="3000" dirty="0" err="1"/>
                  <a:t>u</a:t>
                </a:r>
                <a:r>
                  <a:rPr lang="hu-HU" sz="30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3000" b="1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hu-HU" sz="3000" b="1" i="1" dirty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groupChr>
                  </m:oMath>
                </a14:m>
                <a:r>
                  <a:rPr lang="hu-HU" sz="3000" b="1" dirty="0"/>
                  <a:t>*</a:t>
                </a:r>
                <a:r>
                  <a:rPr lang="hu-HU" sz="3000" b="1" baseline="-25000" dirty="0"/>
                  <a:t> </a:t>
                </a:r>
                <a:r>
                  <a:rPr lang="hu-HU" sz="3000" baseline="-25000" dirty="0"/>
                  <a:t> </a:t>
                </a:r>
                <a:r>
                  <a:rPr lang="hu-HU" sz="3000" dirty="0"/>
                  <a:t>r’ </a:t>
                </a:r>
                <a:r>
                  <a:rPr lang="hu-HU" sz="3000" dirty="0" smtClean="0"/>
                  <a:t>esetén </a:t>
                </a:r>
                <a:br>
                  <a:rPr lang="hu-HU" sz="3000" dirty="0" smtClean="0"/>
                </a:br>
                <a:r>
                  <a:rPr lang="hu-HU" sz="3000" dirty="0" smtClean="0"/>
                  <a:t>r</a:t>
                </a:r>
                <a:r>
                  <a:rPr lang="es-ES" sz="3000" dirty="0" smtClean="0"/>
                  <a:t>∈F</a:t>
                </a:r>
                <a:r>
                  <a:rPr lang="hu-HU" sz="3000" dirty="0" smtClean="0"/>
                  <a:t> akkor és csak akkor, ha r’</a:t>
                </a:r>
                <a:r>
                  <a:rPr lang="es-ES" sz="3000" dirty="0" smtClean="0"/>
                  <a:t>∈F</a:t>
                </a:r>
                <a:r>
                  <a:rPr lang="hu-HU" sz="3000" dirty="0" smtClean="0"/>
                  <a:t>.</a:t>
                </a:r>
              </a:p>
              <a:p>
                <a:pPr marL="0" indent="0">
                  <a:buNone/>
                </a:pPr>
                <a:r>
                  <a:rPr lang="hu-HU" sz="2200" dirty="0" smtClean="0"/>
                  <a:t>(Minden szóra igaz, hogy az automatát q-ból indítva vagy p-ből indítva, vagy mind kettő esetben elfogadja a szót, vagy mind kettő esetben elutasítja.)</a:t>
                </a:r>
              </a:p>
              <a:p>
                <a:pPr marL="0" indent="0">
                  <a:buNone/>
                </a:pPr>
                <a:r>
                  <a:rPr lang="hu-HU" sz="3000" dirty="0" smtClean="0"/>
                  <a:t>Állítás: Ha q és p ekvivalens, akkor </a:t>
                </a:r>
                <a:r>
                  <a:rPr lang="hu-HU" sz="3000" dirty="0" err="1" smtClean="0"/>
                  <a:t>qa</a:t>
                </a:r>
                <a:r>
                  <a:rPr lang="hu-HU" sz="3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hu-HU" sz="3000" dirty="0" err="1" smtClean="0">
                    <a:cs typeface="Times New Roman" panose="02020603050405020304" pitchFamily="18" charset="0"/>
                  </a:rPr>
                  <a:t>s</a:t>
                </a:r>
                <a:r>
                  <a:rPr lang="hu-HU" sz="3000" dirty="0" smtClean="0">
                    <a:cs typeface="Times New Roman" panose="02020603050405020304" pitchFamily="18" charset="0"/>
                  </a:rPr>
                  <a:t> és </a:t>
                </a:r>
                <a:r>
                  <a:rPr lang="hu-HU" sz="3000" dirty="0" err="1" smtClean="0">
                    <a:cs typeface="Times New Roman" panose="02020603050405020304" pitchFamily="18" charset="0"/>
                  </a:rPr>
                  <a:t>pa</a:t>
                </a:r>
                <a:r>
                  <a:rPr lang="hu-HU" sz="3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hu-HU" sz="3000" dirty="0" err="1">
                    <a:cs typeface="Times New Roman" panose="02020603050405020304" pitchFamily="18" charset="0"/>
                  </a:rPr>
                  <a:t>t</a:t>
                </a:r>
                <a:r>
                  <a:rPr lang="hu-HU" sz="3000" dirty="0">
                    <a:cs typeface="Times New Roman" panose="02020603050405020304" pitchFamily="18" charset="0"/>
                  </a:rPr>
                  <a:t> </a:t>
                </a:r>
                <a:r>
                  <a:rPr lang="hu-HU" sz="3000" dirty="0" smtClean="0">
                    <a:cs typeface="Times New Roman" panose="02020603050405020304" pitchFamily="18" charset="0"/>
                  </a:rPr>
                  <a:t>esetén s és t is ekvivalens állapotok </a:t>
                </a:r>
                <a:r>
                  <a:rPr lang="hu-HU" sz="3000" dirty="0">
                    <a:sym typeface="Symbol" panose="05050102010706020507" pitchFamily="18" charset="2"/>
                  </a:rPr>
                  <a:t> </a:t>
                </a:r>
                <a:r>
                  <a:rPr lang="hu-HU" sz="3000" dirty="0" smtClean="0">
                    <a:sym typeface="Symbol" panose="05050102010706020507" pitchFamily="18" charset="2"/>
                  </a:rPr>
                  <a:t>a </a:t>
                </a:r>
                <a:r>
                  <a:rPr lang="es-ES" sz="3000" dirty="0"/>
                  <a:t>∈</a:t>
                </a:r>
                <a:r>
                  <a:rPr lang="hu-HU" sz="3000" dirty="0"/>
                  <a:t> </a:t>
                </a:r>
                <a:r>
                  <a:rPr lang="hu-HU" sz="3000" dirty="0" smtClean="0"/>
                  <a:t>T betűre. </a:t>
                </a:r>
                <a:endParaRPr lang="hu-HU" sz="30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hu-HU" sz="2400" dirty="0"/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2160589"/>
                <a:ext cx="9017082" cy="3880773"/>
              </a:xfrm>
              <a:blipFill rotWithShape="1">
                <a:blip r:embed="rId2"/>
                <a:stretch>
                  <a:fillRect l="-1352" t="-1413" r="-1961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052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Ekvivalens állapotok meghatározása</a:t>
            </a: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677333" y="2160589"/>
                <a:ext cx="10171180" cy="388077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hu-HU" sz="2800" b="1" dirty="0" smtClean="0"/>
                  <a:t>Definíció:</a:t>
                </a:r>
                <a:r>
                  <a:rPr lang="hu-HU" sz="2800" dirty="0" smtClean="0"/>
                  <a:t/>
                </a:r>
                <a:br>
                  <a:rPr lang="hu-HU" sz="2800" dirty="0" smtClean="0"/>
                </a:br>
                <a:r>
                  <a:rPr lang="hu-HU" sz="2800" b="1" dirty="0" smtClean="0"/>
                  <a:t>q</a:t>
                </a:r>
                <a14:m>
                  <m:oMath xmlns:m="http://schemas.openxmlformats.org/officeDocument/2006/math">
                    <m:r>
                      <a:rPr lang="hu-HU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hu-H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hu-HU" sz="2800" b="1" i="1" baseline="30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hu-HU" sz="2800" b="1" dirty="0" smtClean="0"/>
                  <a:t> p    </a:t>
                </a:r>
                <a:r>
                  <a:rPr lang="hu-HU" sz="2800" dirty="0" smtClean="0"/>
                  <a:t>(q és r i-</a:t>
                </a:r>
                <a:r>
                  <a:rPr lang="hu-HU" sz="2800" b="1" dirty="0" smtClean="0"/>
                  <a:t>ekvivalens</a:t>
                </a:r>
                <a:r>
                  <a:rPr lang="hu-HU" sz="2800" dirty="0" smtClean="0"/>
                  <a:t> állapotok), </a:t>
                </a:r>
                <a:br>
                  <a:rPr lang="hu-HU" sz="2800" dirty="0" smtClean="0"/>
                </a:br>
                <a:r>
                  <a:rPr lang="hu-HU" sz="2800" dirty="0" smtClean="0"/>
                  <a:t>ha </a:t>
                </a:r>
                <a:r>
                  <a:rPr lang="hu-HU" sz="2800" dirty="0" smtClean="0">
                    <a:sym typeface="Symbol" panose="05050102010706020507" pitchFamily="18" charset="2"/>
                  </a:rPr>
                  <a:t> u</a:t>
                </a:r>
                <a:r>
                  <a:rPr lang="es-ES" sz="2800" dirty="0" smtClean="0"/>
                  <a:t>∈</a:t>
                </a:r>
                <a:r>
                  <a:rPr lang="hu-HU" sz="2800" dirty="0" smtClean="0"/>
                  <a:t>T* szóra,ahol </a:t>
                </a:r>
                <a:r>
                  <a:rPr lang="hu-HU" sz="2800" b="1" dirty="0" smtClean="0">
                    <a:latin typeface="Mistral" panose="03090702030407020403" pitchFamily="66" charset="0"/>
                  </a:rPr>
                  <a:t>l</a:t>
                </a:r>
                <a:r>
                  <a:rPr lang="hu-HU" sz="2800" b="1" dirty="0" smtClean="0"/>
                  <a:t>(u)≤i</a:t>
                </a:r>
                <a:r>
                  <a:rPr lang="hu-HU" sz="2800" dirty="0" smtClean="0"/>
                  <a:t> igaz, hogy </a:t>
                </a:r>
                <a:br>
                  <a:rPr lang="hu-HU" sz="2800" dirty="0" smtClean="0"/>
                </a:br>
                <a:r>
                  <a:rPr lang="hu-HU" sz="2800" dirty="0" err="1" smtClean="0"/>
                  <a:t>qu</a:t>
                </a:r>
                <a:r>
                  <a:rPr lang="hu-HU" sz="2800" dirty="0" smtClean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2800" b="1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hu-HU" sz="2800" b="1" i="1" dirty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groupChr>
                  </m:oMath>
                </a14:m>
                <a:r>
                  <a:rPr lang="hu-HU" sz="2800" b="1" dirty="0"/>
                  <a:t>*</a:t>
                </a:r>
                <a:r>
                  <a:rPr lang="hu-HU" sz="2800" baseline="-25000" dirty="0"/>
                  <a:t> </a:t>
                </a:r>
                <a:r>
                  <a:rPr lang="hu-HU" sz="2800" dirty="0" smtClean="0"/>
                  <a:t>r és </a:t>
                </a:r>
                <a:r>
                  <a:rPr lang="hu-HU" sz="2800" dirty="0"/>
                  <a:t>p</a:t>
                </a:r>
                <a:r>
                  <a:rPr lang="hu-HU" sz="2800" dirty="0" err="1"/>
                  <a:t>u</a:t>
                </a:r>
                <a:r>
                  <a:rPr lang="hu-HU" sz="28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hu-HU" sz="2800" b="1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hu-HU" sz="2800" b="1" i="1" dirty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groupChr>
                  </m:oMath>
                </a14:m>
                <a:r>
                  <a:rPr lang="hu-HU" sz="2800" b="1" dirty="0"/>
                  <a:t>*</a:t>
                </a:r>
                <a:r>
                  <a:rPr lang="hu-HU" sz="2800" baseline="-25000" dirty="0"/>
                  <a:t> </a:t>
                </a:r>
                <a:r>
                  <a:rPr lang="hu-HU" sz="2800" dirty="0" smtClean="0"/>
                  <a:t>r’ esetén r</a:t>
                </a:r>
                <a:r>
                  <a:rPr lang="es-ES" sz="2800" dirty="0" smtClean="0"/>
                  <a:t>∈F</a:t>
                </a:r>
                <a:r>
                  <a:rPr lang="hu-HU" sz="2800" dirty="0" smtClean="0"/>
                  <a:t> akkor és csak akkor, ha r’</a:t>
                </a:r>
                <a:r>
                  <a:rPr lang="es-ES" sz="2800" dirty="0" smtClean="0"/>
                  <a:t>∈F</a:t>
                </a:r>
                <a:r>
                  <a:rPr lang="hu-HU" sz="2800" dirty="0" smtClean="0"/>
                  <a:t>.</a:t>
                </a:r>
              </a:p>
              <a:p>
                <a:pPr marL="0" indent="0">
                  <a:buNone/>
                </a:pPr>
                <a:r>
                  <a:rPr lang="hu-HU" sz="2000" dirty="0" smtClean="0"/>
                  <a:t>(Legfeljebb i hosszú szavak esetén a két állapot nem megkülönböztethető.)</a:t>
                </a:r>
              </a:p>
              <a:p>
                <a:pPr marL="0" indent="0">
                  <a:buNone/>
                </a:pPr>
                <a:r>
                  <a:rPr lang="hu-HU" sz="2400" b="1" dirty="0" smtClean="0"/>
                  <a:t>Lemma:</a:t>
                </a:r>
                <a:r>
                  <a:rPr lang="hu-HU" sz="2400" dirty="0" smtClean="0"/>
                  <a:t> 	q </a:t>
                </a:r>
                <a14:m>
                  <m:oMath xmlns:m="http://schemas.openxmlformats.org/officeDocument/2006/math">
                    <m:r>
                      <a:rPr lang="hu-H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hu-HU" sz="2400" b="1" i="1" baseline="30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hu-HU" sz="2400" b="1" i="1" baseline="30000" dirty="0" smtClean="0"/>
                  <a:t>+1</a:t>
                </a:r>
                <a:r>
                  <a:rPr lang="hu-HU" sz="2400" dirty="0" smtClean="0"/>
                  <a:t> p akkor és csak akkor, ha</a:t>
                </a:r>
              </a:p>
              <a:p>
                <a:pPr marL="0" indent="0">
                  <a:buNone/>
                </a:pPr>
                <a:r>
                  <a:rPr lang="hu-HU" sz="2400" dirty="0" smtClean="0">
                    <a:sym typeface="Symbol" panose="05050102010706020507" pitchFamily="18" charset="2"/>
                  </a:rPr>
                  <a:t>			 a </a:t>
                </a:r>
                <a:r>
                  <a:rPr lang="es-ES" sz="2400" dirty="0"/>
                  <a:t>∈</a:t>
                </a:r>
                <a:r>
                  <a:rPr lang="hu-HU" sz="2400" dirty="0"/>
                  <a:t> </a:t>
                </a:r>
                <a:r>
                  <a:rPr lang="hu-HU" sz="2400" dirty="0" smtClean="0"/>
                  <a:t>T-re </a:t>
                </a:r>
                <a:r>
                  <a:rPr lang="hu-HU" sz="2400" dirty="0" err="1"/>
                  <a:t>qa</a:t>
                </a:r>
                <a:r>
                  <a:rPr lang="hu-HU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hu-HU" sz="2400" dirty="0" err="1" smtClean="0">
                    <a:cs typeface="Times New Roman" panose="02020603050405020304" pitchFamily="18" charset="0"/>
                  </a:rPr>
                  <a:t>r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 </a:t>
                </a:r>
                <a:r>
                  <a:rPr lang="hu-HU" sz="2400" dirty="0">
                    <a:cs typeface="Times New Roman" panose="02020603050405020304" pitchFamily="18" charset="0"/>
                  </a:rPr>
                  <a:t>és </a:t>
                </a:r>
                <a:r>
                  <a:rPr lang="hu-HU" sz="2400" dirty="0" err="1">
                    <a:cs typeface="Times New Roman" panose="02020603050405020304" pitchFamily="18" charset="0"/>
                  </a:rPr>
                  <a:t>pa</a:t>
                </a:r>
                <a:r>
                  <a:rPr lang="hu-HU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hu-HU" sz="2400" dirty="0" err="1">
                    <a:cs typeface="Times New Roman" panose="02020603050405020304" pitchFamily="18" charset="0"/>
                  </a:rPr>
                  <a:t>t</a:t>
                </a:r>
                <a:r>
                  <a:rPr lang="hu-HU" sz="2400" dirty="0">
                    <a:cs typeface="Times New Roman" panose="02020603050405020304" pitchFamily="18" charset="0"/>
                  </a:rPr>
                  <a:t> esetén </a:t>
                </a:r>
                <a:r>
                  <a:rPr lang="hu-HU" sz="2400" dirty="0" smtClean="0">
                    <a:cs typeface="Times New Roman" panose="02020603050405020304" pitchFamily="18" charset="0"/>
                  </a:rPr>
                  <a:t>r</a:t>
                </a:r>
                <a:r>
                  <a:rPr lang="hu-HU" sz="2400" dirty="0" smtClean="0"/>
                  <a:t> </a:t>
                </a:r>
                <a14:m>
                  <m:oMath xmlns:m="http://schemas.openxmlformats.org/officeDocument/2006/math">
                    <m:r>
                      <a:rPr lang="hu-H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hu-HU" sz="2400" b="1" i="1" baseline="30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hu-HU" sz="2400" b="1" dirty="0"/>
                  <a:t> </a:t>
                </a:r>
                <a:r>
                  <a:rPr lang="hu-HU" sz="2400" dirty="0" smtClean="0"/>
                  <a:t>t.</a:t>
                </a:r>
              </a:p>
              <a:p>
                <a:pPr marL="0" indent="0">
                  <a:buNone/>
                </a:pPr>
                <a:endParaRPr lang="hu-HU" sz="2400" dirty="0"/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3" y="2160589"/>
                <a:ext cx="10171180" cy="3880773"/>
              </a:xfrm>
              <a:blipFill>
                <a:blip r:embed="rId2"/>
                <a:stretch>
                  <a:fillRect l="-1198" t="-1413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3949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26237"/>
          </a:xfrm>
        </p:spPr>
        <p:txBody>
          <a:bodyPr/>
          <a:lstStyle/>
          <a:p>
            <a:r>
              <a:rPr lang="hu-HU" dirty="0" smtClean="0"/>
              <a:t>Ekvivalens állapotok meghatározása</a:t>
            </a: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677333" y="1677881"/>
                <a:ext cx="8856631" cy="436348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hu-HU" sz="2400" dirty="0" smtClean="0"/>
                  <a:t>Tegyük fel, hogy az A automata </a:t>
                </a:r>
                <a:r>
                  <a:rPr lang="hu-HU" sz="2400" u="sng" dirty="0" smtClean="0"/>
                  <a:t>összefüggő</a:t>
                </a:r>
                <a:r>
                  <a:rPr lang="hu-HU" sz="2400" dirty="0" smtClean="0"/>
                  <a:t>.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hu-HU" sz="2800" dirty="0"/>
                  <a:t>q </a:t>
                </a:r>
                <a14:m>
                  <m:oMath xmlns:m="http://schemas.openxmlformats.org/officeDocument/2006/math">
                    <m:r>
                      <a:rPr lang="hu-HU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hu-HU" sz="2800" b="1" i="1" baseline="30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hu-HU" sz="2800" dirty="0" smtClean="0"/>
                  <a:t> p akkor és csak akkor, ha </a:t>
                </a:r>
                <a:r>
                  <a:rPr lang="hu-HU" sz="2800" dirty="0" err="1" smtClean="0">
                    <a:sym typeface="Symbol" panose="05050102010706020507" pitchFamily="18" charset="2"/>
                  </a:rPr>
                  <a:t>q,p</a:t>
                </a:r>
                <a:r>
                  <a:rPr lang="es-ES" sz="2800" dirty="0" smtClean="0"/>
                  <a:t>∈</a:t>
                </a:r>
                <a:r>
                  <a:rPr lang="hu-HU" sz="2800" dirty="0" smtClean="0"/>
                  <a:t>F vagy </a:t>
                </a:r>
                <a:r>
                  <a:rPr lang="hu-HU" sz="2800" dirty="0" err="1" smtClean="0">
                    <a:sym typeface="Symbol" panose="05050102010706020507" pitchFamily="18" charset="2"/>
                  </a:rPr>
                  <a:t>q,p</a:t>
                </a:r>
                <a:r>
                  <a:rPr lang="es-ES" sz="2800" dirty="0" smtClean="0"/>
                  <a:t>∈</a:t>
                </a:r>
                <a:r>
                  <a:rPr lang="hu-HU" sz="2800" dirty="0" smtClean="0"/>
                  <a:t>Q\F,</a:t>
                </a:r>
              </a:p>
              <a:p>
                <a:pPr marL="0" indent="0">
                  <a:buNone/>
                </a:pPr>
                <a:r>
                  <a:rPr lang="hu-HU" sz="2400" dirty="0" smtClean="0"/>
                  <a:t>Azaz első lépésben két partícióra osztjuk az állapotokat, az elfogadó és a nem elfogadó állapotokra.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hu-HU" sz="2800" dirty="0" smtClean="0"/>
                  <a:t>Q = B</a:t>
                </a:r>
                <a:r>
                  <a:rPr lang="hu-HU" sz="2800" baseline="-25000" dirty="0" smtClean="0"/>
                  <a:t>1</a:t>
                </a:r>
                <a:r>
                  <a:rPr lang="hu-HU" sz="2800" dirty="0" smtClean="0">
                    <a:ea typeface="Cambria Math" panose="02040503050406030204" pitchFamily="18" charset="0"/>
                  </a:rPr>
                  <a:t>∪B</a:t>
                </a:r>
                <a:r>
                  <a:rPr lang="hu-HU" sz="2800" baseline="-25000" dirty="0" smtClean="0">
                    <a:ea typeface="Cambria Math" panose="02040503050406030204" pitchFamily="18" charset="0"/>
                  </a:rPr>
                  <a:t>2</a:t>
                </a:r>
                <a:r>
                  <a:rPr lang="hu-HU" sz="2800" dirty="0" smtClean="0">
                    <a:ea typeface="Cambria Math" panose="02040503050406030204" pitchFamily="18" charset="0"/>
                  </a:rPr>
                  <a:t>, ahol </a:t>
                </a:r>
                <a:r>
                  <a:rPr lang="hu-HU" sz="2800" dirty="0" smtClean="0"/>
                  <a:t>B</a:t>
                </a:r>
                <a:r>
                  <a:rPr lang="hu-HU" sz="2800" baseline="-25000" dirty="0" smtClean="0"/>
                  <a:t>1</a:t>
                </a:r>
                <a:r>
                  <a:rPr lang="hu-HU" sz="2800" dirty="0" smtClean="0">
                    <a:ea typeface="Cambria Math" panose="02040503050406030204" pitchFamily="18" charset="0"/>
                  </a:rPr>
                  <a:t>:=F és </a:t>
                </a:r>
                <a:r>
                  <a:rPr lang="hu-HU" sz="2800" dirty="0" smtClean="0"/>
                  <a:t>B</a:t>
                </a:r>
                <a:r>
                  <a:rPr lang="hu-HU" sz="2800" baseline="-25000" dirty="0" smtClean="0"/>
                  <a:t>2</a:t>
                </a:r>
                <a:r>
                  <a:rPr lang="hu-HU" sz="2800" dirty="0" smtClean="0">
                    <a:ea typeface="Cambria Math" panose="02040503050406030204" pitchFamily="18" charset="0"/>
                  </a:rPr>
                  <a:t>:=Q\F.</a:t>
                </a:r>
              </a:p>
              <a:p>
                <a:pPr marL="0" indent="0">
                  <a:buNone/>
                </a:pPr>
                <a:r>
                  <a:rPr lang="hu-HU" sz="2400" dirty="0" smtClean="0">
                    <a:ea typeface="Cambria Math" panose="02040503050406030204" pitchFamily="18" charset="0"/>
                  </a:rPr>
                  <a:t>Csak az </a:t>
                </a:r>
                <a:r>
                  <a:rPr lang="el-GR" sz="2400" dirty="0" smtClean="0">
                    <a:ea typeface="Cambria Math" panose="02040503050406030204" pitchFamily="18" charset="0"/>
                  </a:rPr>
                  <a:t>ε</a:t>
                </a:r>
                <a:r>
                  <a:rPr lang="hu-HU" sz="2400" dirty="0" smtClean="0">
                    <a:ea typeface="Cambria Math" panose="02040503050406030204" pitchFamily="18" charset="0"/>
                  </a:rPr>
                  <a:t> szó hossza nulla. A </a:t>
                </a:r>
                <a:r>
                  <a:rPr lang="hu-HU" sz="2400" dirty="0" smtClean="0"/>
                  <a:t>B</a:t>
                </a:r>
                <a:r>
                  <a:rPr lang="hu-HU" sz="2400" baseline="-25000" dirty="0" smtClean="0"/>
                  <a:t>1</a:t>
                </a:r>
                <a:r>
                  <a:rPr lang="hu-HU" sz="2400" dirty="0" smtClean="0"/>
                  <a:t>-ben szereplő állapotok elfogadják az üres szót, B</a:t>
                </a:r>
                <a:r>
                  <a:rPr lang="hu-HU" sz="2400" baseline="-25000" dirty="0" smtClean="0"/>
                  <a:t>2</a:t>
                </a:r>
                <a:r>
                  <a:rPr lang="hu-HU" sz="2400" dirty="0" smtClean="0"/>
                  <a:t>-ben szereplők pedig elutasítják.</a:t>
                </a:r>
                <a:endParaRPr lang="hu-HU" sz="2400" dirty="0"/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3" y="1677881"/>
                <a:ext cx="8856631" cy="4363482"/>
              </a:xfrm>
              <a:blipFill>
                <a:blip r:embed="rId2"/>
                <a:stretch>
                  <a:fillRect l="-1376" t="-1117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5544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26237"/>
          </a:xfrm>
        </p:spPr>
        <p:txBody>
          <a:bodyPr/>
          <a:lstStyle/>
          <a:p>
            <a:r>
              <a:rPr lang="hu-HU" dirty="0" smtClean="0"/>
              <a:t>Ekvivalens állapotok meghatározása</a:t>
            </a: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677333" y="1677881"/>
                <a:ext cx="9114737" cy="4363482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hu-HU" sz="2400" dirty="0" smtClean="0"/>
                  <a:t>Finomítsuk a szavak hossza szerint a partíciókat:</a:t>
                </a:r>
              </a:p>
              <a:p>
                <a:pPr marL="0" indent="0">
                  <a:buNone/>
                </a:pPr>
                <a:r>
                  <a:rPr lang="hu-HU" sz="2800" dirty="0"/>
                  <a:t>h</a:t>
                </a:r>
                <a:r>
                  <a:rPr lang="hu-HU" sz="2800" dirty="0" smtClean="0"/>
                  <a:t>a </a:t>
                </a:r>
                <a:r>
                  <a:rPr lang="hu-HU" sz="2800" dirty="0"/>
                  <a:t>q </a:t>
                </a:r>
                <a14:m>
                  <m:oMath xmlns:m="http://schemas.openxmlformats.org/officeDocument/2006/math">
                    <m:r>
                      <a:rPr lang="hu-HU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hu-HU" sz="2800" b="1" i="1" baseline="30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hu-HU" sz="2800" dirty="0" smtClean="0"/>
                  <a:t> </a:t>
                </a:r>
                <a:r>
                  <a:rPr lang="hu-HU" sz="2800" dirty="0"/>
                  <a:t>p </a:t>
                </a:r>
                <a:r>
                  <a:rPr lang="hu-HU" sz="2800" dirty="0" smtClean="0"/>
                  <a:t>és az állapotok k≥2 partícióra vannak osztva, </a:t>
                </a:r>
                <a:br>
                  <a:rPr lang="hu-HU" sz="2800" dirty="0" smtClean="0"/>
                </a:br>
                <a:r>
                  <a:rPr lang="hu-HU" sz="2800" dirty="0" smtClean="0"/>
                  <a:t>Q = B</a:t>
                </a:r>
                <a:r>
                  <a:rPr lang="hu-HU" sz="2800" baseline="-25000" dirty="0" smtClean="0"/>
                  <a:t>1</a:t>
                </a:r>
                <a:r>
                  <a:rPr lang="hu-HU" sz="28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∪ … ∪ </a:t>
                </a:r>
                <a:r>
                  <a:rPr lang="hu-HU" sz="2800" dirty="0" err="1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hu-HU" sz="2800" baseline="-25000" dirty="0" err="1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</a:t>
                </a:r>
                <a:r>
                  <a:rPr lang="hu-HU" sz="28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hu-HU" sz="2800" dirty="0" smtClean="0">
                    <a:ea typeface="Cambria Math" panose="02040503050406030204" pitchFamily="18" charset="0"/>
                  </a:rPr>
                  <a:t>akkor p és q pontosan akkor maradnak együtt, ha </a:t>
                </a:r>
                <a:r>
                  <a:rPr lang="hu-HU" sz="2800" dirty="0" smtClean="0">
                    <a:sym typeface="Symbol" panose="05050102010706020507" pitchFamily="18" charset="2"/>
                  </a:rPr>
                  <a:t>a</a:t>
                </a:r>
                <a:r>
                  <a:rPr lang="es-ES" sz="2800" dirty="0" smtClean="0"/>
                  <a:t>∈</a:t>
                </a:r>
                <a:r>
                  <a:rPr lang="hu-HU" sz="2800" dirty="0" smtClean="0"/>
                  <a:t>T-re </a:t>
                </a:r>
                <a:r>
                  <a:rPr lang="hu-HU" sz="2800" dirty="0" err="1"/>
                  <a:t>qa</a:t>
                </a:r>
                <a:r>
                  <a:rPr lang="hu-HU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hu-HU" sz="2800" dirty="0" err="1" smtClean="0">
                    <a:cs typeface="Times New Roman" panose="02020603050405020304" pitchFamily="18" charset="0"/>
                  </a:rPr>
                  <a:t>r</a:t>
                </a:r>
                <a:r>
                  <a:rPr lang="hu-HU" sz="2800" dirty="0" smtClean="0">
                    <a:cs typeface="Times New Roman" panose="02020603050405020304" pitchFamily="18" charset="0"/>
                  </a:rPr>
                  <a:t> </a:t>
                </a:r>
                <a:r>
                  <a:rPr lang="hu-HU" sz="2800" dirty="0">
                    <a:cs typeface="Times New Roman" panose="02020603050405020304" pitchFamily="18" charset="0"/>
                  </a:rPr>
                  <a:t>és </a:t>
                </a:r>
                <a:r>
                  <a:rPr lang="hu-HU" sz="2800" dirty="0" err="1">
                    <a:cs typeface="Times New Roman" panose="02020603050405020304" pitchFamily="18" charset="0"/>
                  </a:rPr>
                  <a:t>pa</a:t>
                </a:r>
                <a:r>
                  <a:rPr lang="hu-HU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hu-HU" sz="2800" dirty="0" err="1">
                    <a:cs typeface="Times New Roman" panose="02020603050405020304" pitchFamily="18" charset="0"/>
                  </a:rPr>
                  <a:t>t</a:t>
                </a:r>
                <a:r>
                  <a:rPr lang="hu-HU" sz="2800" dirty="0">
                    <a:cs typeface="Times New Roman" panose="02020603050405020304" pitchFamily="18" charset="0"/>
                  </a:rPr>
                  <a:t> esetén </a:t>
                </a:r>
                <a:r>
                  <a:rPr lang="hu-HU" sz="2800" dirty="0" smtClean="0">
                    <a:cs typeface="Times New Roman" panose="02020603050405020304" pitchFamily="18" charset="0"/>
                  </a:rPr>
                  <a:t>r és t ugyanabba a </a:t>
                </a:r>
                <a:r>
                  <a:rPr lang="hu-HU" sz="2800" dirty="0" err="1" smtClean="0">
                    <a:cs typeface="Times New Roman" panose="02020603050405020304" pitchFamily="18" charset="0"/>
                  </a:rPr>
                  <a:t>B</a:t>
                </a:r>
                <a:r>
                  <a:rPr lang="hu-HU" sz="2800" baseline="-25000" dirty="0" err="1" smtClean="0">
                    <a:cs typeface="Times New Roman" panose="02020603050405020304" pitchFamily="18" charset="0"/>
                  </a:rPr>
                  <a:t>i</a:t>
                </a:r>
                <a:r>
                  <a:rPr lang="hu-HU" sz="2800" dirty="0" smtClean="0">
                    <a:cs typeface="Times New Roman" panose="02020603050405020304" pitchFamily="18" charset="0"/>
                  </a:rPr>
                  <a:t> partícióba tartoznak, egyébként </a:t>
                </a:r>
                <a:r>
                  <a:rPr lang="hu-HU" sz="2800" dirty="0" err="1" smtClean="0">
                    <a:cs typeface="Times New Roman" panose="02020603050405020304" pitchFamily="18" charset="0"/>
                  </a:rPr>
                  <a:t>B</a:t>
                </a:r>
                <a:r>
                  <a:rPr lang="hu-HU" sz="2800" baseline="-25000" dirty="0" err="1" smtClean="0">
                    <a:cs typeface="Times New Roman" panose="02020603050405020304" pitchFamily="18" charset="0"/>
                  </a:rPr>
                  <a:t>i</a:t>
                </a:r>
                <a:r>
                  <a:rPr lang="hu-HU" sz="2800" dirty="0" smtClean="0">
                    <a:cs typeface="Times New Roman" panose="02020603050405020304" pitchFamily="18" charset="0"/>
                  </a:rPr>
                  <a:t>-t szétbontjuk.</a:t>
                </a:r>
              </a:p>
              <a:p>
                <a:pPr marL="0" indent="0">
                  <a:buNone/>
                </a:pPr>
                <a:r>
                  <a:rPr lang="hu-HU" sz="2800" dirty="0" smtClean="0">
                    <a:cs typeface="Times New Roman" panose="02020603050405020304" pitchFamily="18" charset="0"/>
                  </a:rPr>
                  <a:t>Ha p és q </a:t>
                </a:r>
                <a:r>
                  <a:rPr lang="hu-HU" sz="2800" dirty="0">
                    <a:sym typeface="Symbol" panose="05050102010706020507" pitchFamily="18" charset="2"/>
                  </a:rPr>
                  <a:t>a</a:t>
                </a:r>
                <a:r>
                  <a:rPr lang="es-ES" sz="2800" dirty="0"/>
                  <a:t>∈</a:t>
                </a:r>
                <a:r>
                  <a:rPr lang="hu-HU" sz="2800" dirty="0"/>
                  <a:t>T-re </a:t>
                </a:r>
                <a:r>
                  <a:rPr lang="hu-HU" sz="2800" dirty="0" smtClean="0"/>
                  <a:t>az előző lépés partíciói szerint mindig ugyanoda képeznek, akkor q </a:t>
                </a:r>
                <a14:m>
                  <m:oMath xmlns:m="http://schemas.openxmlformats.org/officeDocument/2006/math">
                    <m:r>
                      <a:rPr lang="hu-HU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hu-HU" sz="2800" b="1" i="1" baseline="30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hu-HU" sz="2800" b="1" i="1" baseline="30000" dirty="0"/>
                  <a:t>+1</a:t>
                </a:r>
                <a:r>
                  <a:rPr lang="hu-HU" sz="2800" dirty="0"/>
                  <a:t> </a:t>
                </a:r>
                <a:r>
                  <a:rPr lang="hu-HU" sz="2800" dirty="0" smtClean="0"/>
                  <a:t>p.</a:t>
                </a:r>
                <a:endParaRPr lang="hu-HU" sz="2800" dirty="0" smtClean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hu-HU" sz="2400" dirty="0" smtClean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hu-HU" sz="2800" dirty="0" smtClean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Ezt az eljárást addig ismételjük, amíg változás van.</a:t>
                </a:r>
                <a:r>
                  <a:rPr lang="hu-HU" sz="2800" dirty="0" smtClean="0">
                    <a:ea typeface="Cambria Math" panose="02040503050406030204" pitchFamily="18" charset="0"/>
                  </a:rPr>
                  <a:t> </a:t>
                </a:r>
                <a:endParaRPr lang="hu-HU" sz="2800" dirty="0"/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3" y="1677881"/>
                <a:ext cx="9114737" cy="4363482"/>
              </a:xfrm>
              <a:blipFill>
                <a:blip r:embed="rId2"/>
                <a:stretch>
                  <a:fillRect l="-1338" t="-1955" r="-334" b="-321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8623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Minimális automata megadása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sz="3200" dirty="0" smtClean="0"/>
              <a:t>A’ </a:t>
            </a:r>
            <a:r>
              <a:rPr lang="hu-HU" sz="3200" dirty="0"/>
              <a:t>= (</a:t>
            </a:r>
            <a:r>
              <a:rPr lang="hu-HU" sz="3200" dirty="0" smtClean="0"/>
              <a:t>Q’, </a:t>
            </a:r>
            <a:r>
              <a:rPr lang="hu-HU" sz="3200" dirty="0"/>
              <a:t>T, </a:t>
            </a:r>
            <a:r>
              <a:rPr lang="el-GR" sz="3200" dirty="0" smtClean="0"/>
              <a:t>δ</a:t>
            </a:r>
            <a:r>
              <a:rPr lang="hu-HU" sz="3200" dirty="0" smtClean="0"/>
              <a:t>’, q</a:t>
            </a:r>
            <a:r>
              <a:rPr lang="hu-HU" sz="3200" baseline="-25000" dirty="0" smtClean="0"/>
              <a:t>0</a:t>
            </a:r>
            <a:r>
              <a:rPr lang="hu-HU" sz="3200" dirty="0" smtClean="0"/>
              <a:t>’, F’)</a:t>
            </a:r>
          </a:p>
          <a:p>
            <a:pPr marL="0" indent="0">
              <a:buNone/>
            </a:pPr>
            <a:r>
              <a:rPr lang="hu-HU" sz="3200" dirty="0" smtClean="0"/>
              <a:t>Q’= {az előző eljárással nyert </a:t>
            </a:r>
            <a:r>
              <a:rPr lang="hu-HU" sz="3200" dirty="0" err="1" smtClean="0"/>
              <a:t>B</a:t>
            </a:r>
            <a:r>
              <a:rPr lang="hu-HU" sz="3200" baseline="-25000" dirty="0" err="1" smtClean="0"/>
              <a:t>i</a:t>
            </a:r>
            <a:r>
              <a:rPr lang="hu-HU" sz="3200" dirty="0" smtClean="0"/>
              <a:t> partíciók}</a:t>
            </a:r>
          </a:p>
          <a:p>
            <a:pPr marL="0" indent="0">
              <a:buNone/>
            </a:pPr>
            <a:r>
              <a:rPr lang="hu-HU" sz="3200" dirty="0"/>
              <a:t>q</a:t>
            </a:r>
            <a:r>
              <a:rPr lang="hu-HU" sz="3200" baseline="-25000" dirty="0"/>
              <a:t>0</a:t>
            </a:r>
            <a:r>
              <a:rPr lang="hu-HU" sz="3200" dirty="0" smtClean="0"/>
              <a:t>’= a q</a:t>
            </a:r>
            <a:r>
              <a:rPr lang="hu-HU" sz="3200" baseline="-25000" dirty="0" smtClean="0"/>
              <a:t>0</a:t>
            </a:r>
            <a:r>
              <a:rPr lang="hu-HU" sz="3200" dirty="0" smtClean="0"/>
              <a:t>-t tartalmazó partíció.</a:t>
            </a:r>
          </a:p>
          <a:p>
            <a:pPr marL="0" indent="0">
              <a:buNone/>
            </a:pPr>
            <a:r>
              <a:rPr lang="hu-HU" sz="3200" dirty="0" smtClean="0"/>
              <a:t>F’ =az F-ből keletkezett partíciók.</a:t>
            </a:r>
          </a:p>
          <a:p>
            <a:pPr marL="0" indent="0">
              <a:buNone/>
            </a:pPr>
            <a:r>
              <a:rPr lang="el-GR" sz="3200" dirty="0"/>
              <a:t>δ</a:t>
            </a:r>
            <a:r>
              <a:rPr lang="hu-HU" sz="3200" dirty="0" smtClean="0"/>
              <a:t>’(</a:t>
            </a:r>
            <a:r>
              <a:rPr lang="hu-HU" sz="3200" dirty="0" err="1" smtClean="0"/>
              <a:t>B</a:t>
            </a:r>
            <a:r>
              <a:rPr lang="hu-HU" sz="3200" baseline="-25000" dirty="0" err="1" smtClean="0"/>
              <a:t>i</a:t>
            </a:r>
            <a:r>
              <a:rPr lang="hu-HU" sz="3200" dirty="0" smtClean="0"/>
              <a:t>,a)=</a:t>
            </a:r>
            <a:r>
              <a:rPr lang="hu-HU" sz="3200" dirty="0"/>
              <a:t> </a:t>
            </a:r>
            <a:r>
              <a:rPr lang="hu-HU" sz="3200" dirty="0" err="1" smtClean="0"/>
              <a:t>B</a:t>
            </a:r>
            <a:r>
              <a:rPr lang="hu-HU" sz="3200" baseline="-25000" dirty="0" err="1" smtClean="0"/>
              <a:t>j</a:t>
            </a:r>
            <a:r>
              <a:rPr lang="hu-HU" sz="3200" dirty="0" smtClean="0"/>
              <a:t>, ha </a:t>
            </a:r>
            <a:r>
              <a:rPr lang="el-GR" sz="3200" dirty="0" smtClean="0"/>
              <a:t>δ</a:t>
            </a:r>
            <a:r>
              <a:rPr lang="hu-HU" sz="3200" dirty="0" smtClean="0"/>
              <a:t>(q,a)=p és q</a:t>
            </a:r>
            <a:r>
              <a:rPr lang="es-ES" sz="3200" dirty="0" smtClean="0"/>
              <a:t> ∈</a:t>
            </a:r>
            <a:r>
              <a:rPr lang="hu-HU" sz="3200" dirty="0" smtClean="0"/>
              <a:t> </a:t>
            </a:r>
            <a:r>
              <a:rPr lang="hu-HU" sz="3200" dirty="0" err="1" smtClean="0"/>
              <a:t>B</a:t>
            </a:r>
            <a:r>
              <a:rPr lang="hu-HU" sz="3200" baseline="-25000" dirty="0" err="1" smtClean="0"/>
              <a:t>i</a:t>
            </a:r>
            <a:r>
              <a:rPr lang="hu-HU" sz="3200" baseline="-25000" dirty="0" smtClean="0"/>
              <a:t> </a:t>
            </a:r>
            <a:r>
              <a:rPr lang="hu-HU" sz="3200" dirty="0" smtClean="0"/>
              <a:t>és p</a:t>
            </a:r>
            <a:r>
              <a:rPr lang="es-ES" sz="3200" dirty="0" smtClean="0"/>
              <a:t> ∈</a:t>
            </a:r>
            <a:r>
              <a:rPr lang="hu-HU" sz="3200" dirty="0" err="1" smtClean="0"/>
              <a:t>B</a:t>
            </a:r>
            <a:r>
              <a:rPr lang="hu-HU" sz="3200" baseline="-25000" dirty="0" err="1" smtClean="0"/>
              <a:t>j</a:t>
            </a:r>
            <a:r>
              <a:rPr lang="hu-HU" sz="3200" dirty="0"/>
              <a:t> </a:t>
            </a:r>
            <a:r>
              <a:rPr lang="hu-HU" sz="3200" dirty="0" smtClean="0"/>
              <a:t>.</a:t>
            </a:r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2004505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Példa VDA minimalizálására</a:t>
            </a:r>
            <a:endParaRPr lang="hu-HU" dirty="0"/>
          </a:p>
        </p:txBody>
      </p:sp>
      <p:sp>
        <p:nvSpPr>
          <p:cNvPr id="6" name="Tartalom helye 5"/>
          <p:cNvSpPr>
            <a:spLocks noGrp="1"/>
          </p:cNvSpPr>
          <p:nvPr>
            <p:ph idx="1"/>
          </p:nvPr>
        </p:nvSpPr>
        <p:spPr>
          <a:xfrm>
            <a:off x="587687" y="1443412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hu-HU" dirty="0"/>
              <a:t>A =&lt;{1,2,3,4,5,6,7,8,9}, {a,b} , δ, 1 , {2,4,9} &gt; </a:t>
            </a:r>
            <a:endParaRPr lang="hu-HU" b="1" u="sng" dirty="0"/>
          </a:p>
          <a:p>
            <a:pPr marL="0" indent="0">
              <a:buNone/>
            </a:pPr>
            <a:endParaRPr lang="hu-HU" dirty="0"/>
          </a:p>
        </p:txBody>
      </p:sp>
      <p:graphicFrame>
        <p:nvGraphicFramePr>
          <p:cNvPr id="8" name="Táblázat 7"/>
          <p:cNvGraphicFramePr>
            <a:graphicFrameLocks noGrp="1"/>
          </p:cNvGraphicFramePr>
          <p:nvPr>
            <p:extLst/>
          </p:nvPr>
        </p:nvGraphicFramePr>
        <p:xfrm>
          <a:off x="2258824" y="2073469"/>
          <a:ext cx="2900363" cy="375533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952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3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558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endParaRPr lang="hu-HU" sz="1800" b="1" u="sng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656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→1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24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843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←2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hu-HU" sz="24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287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493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←4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hu-HU" sz="24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287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hu-HU" sz="24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287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hu-HU" sz="24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287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hu-HU" sz="24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287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3496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←9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hu-HU" sz="24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785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Példa VDA minimalizálására</a:t>
            </a:r>
            <a:endParaRPr lang="hu-HU" dirty="0"/>
          </a:p>
        </p:txBody>
      </p:sp>
      <p:sp>
        <p:nvSpPr>
          <p:cNvPr id="6" name="Tartalom helye 5"/>
          <p:cNvSpPr>
            <a:spLocks noGrp="1"/>
          </p:cNvSpPr>
          <p:nvPr>
            <p:ph idx="1"/>
          </p:nvPr>
        </p:nvSpPr>
        <p:spPr>
          <a:xfrm>
            <a:off x="587687" y="1443412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800" dirty="0" smtClean="0"/>
              <a:t>Elérhető állapotok:</a:t>
            </a:r>
          </a:p>
          <a:p>
            <a:pPr marL="0" indent="0">
              <a:buNone/>
            </a:pPr>
            <a:r>
              <a:rPr lang="hu-HU" sz="2800" dirty="0" smtClean="0"/>
              <a:t>H</a:t>
            </a:r>
            <a:r>
              <a:rPr lang="hu-HU" sz="2800" baseline="-25000" dirty="0" smtClean="0"/>
              <a:t>0</a:t>
            </a:r>
            <a:r>
              <a:rPr lang="hu-HU" sz="2800" dirty="0" smtClean="0"/>
              <a:t> = {1}</a:t>
            </a:r>
          </a:p>
          <a:p>
            <a:pPr marL="0" indent="0">
              <a:buNone/>
            </a:pPr>
            <a:r>
              <a:rPr lang="hu-HU" sz="2800" dirty="0" smtClean="0"/>
              <a:t>H</a:t>
            </a:r>
            <a:r>
              <a:rPr lang="hu-HU" sz="2800" baseline="-25000" dirty="0" smtClean="0"/>
              <a:t>1</a:t>
            </a:r>
            <a:r>
              <a:rPr lang="hu-HU" sz="2800" dirty="0" smtClean="0"/>
              <a:t> = {</a:t>
            </a:r>
            <a:r>
              <a:rPr lang="hu-HU" sz="2800" dirty="0"/>
              <a:t>1</a:t>
            </a:r>
            <a:r>
              <a:rPr lang="hu-HU" sz="2800" dirty="0" smtClean="0"/>
              <a:t>} </a:t>
            </a:r>
            <a:r>
              <a:rPr lang="hu-HU" sz="2800" dirty="0" smtClean="0">
                <a:ea typeface="Cambria Math" panose="02040503050406030204" pitchFamily="18" charset="0"/>
              </a:rPr>
              <a:t>∪ {3,6} = {1,3,6}</a:t>
            </a:r>
            <a:endParaRPr lang="hu-HU" sz="2800" dirty="0"/>
          </a:p>
          <a:p>
            <a:pPr marL="0" indent="0">
              <a:buNone/>
            </a:pPr>
            <a:r>
              <a:rPr lang="hu-HU" sz="2800" dirty="0" smtClean="0"/>
              <a:t>H</a:t>
            </a:r>
            <a:r>
              <a:rPr lang="hu-HU" sz="2800" baseline="-25000" dirty="0" smtClean="0"/>
              <a:t>2</a:t>
            </a:r>
            <a:r>
              <a:rPr lang="hu-HU" sz="2800" dirty="0" smtClean="0"/>
              <a:t> = {</a:t>
            </a:r>
            <a:r>
              <a:rPr lang="hu-HU" sz="2800" dirty="0" smtClean="0">
                <a:ea typeface="Cambria Math" panose="02040503050406030204" pitchFamily="18" charset="0"/>
              </a:rPr>
              <a:t>1,3,6} </a:t>
            </a:r>
            <a:r>
              <a:rPr lang="hu-HU" sz="2800" dirty="0">
                <a:ea typeface="Cambria Math" panose="02040503050406030204" pitchFamily="18" charset="0"/>
              </a:rPr>
              <a:t>∪ {</a:t>
            </a:r>
            <a:r>
              <a:rPr lang="hu-HU" sz="2800" dirty="0" smtClean="0">
                <a:ea typeface="Cambria Math" panose="02040503050406030204" pitchFamily="18" charset="0"/>
              </a:rPr>
              <a:t>3,6} </a:t>
            </a:r>
            <a:r>
              <a:rPr lang="hu-HU" sz="2800" dirty="0">
                <a:ea typeface="Cambria Math" panose="02040503050406030204" pitchFamily="18" charset="0"/>
              </a:rPr>
              <a:t>∪ </a:t>
            </a:r>
            <a:r>
              <a:rPr lang="hu-HU" sz="2800" dirty="0" smtClean="0">
                <a:ea typeface="Cambria Math" panose="02040503050406030204" pitchFamily="18" charset="0"/>
              </a:rPr>
              <a:t>{3,5} ∪ {8,7} = {1,3,5,6,7,8}</a:t>
            </a:r>
            <a:endParaRPr lang="hu-HU" sz="2800" dirty="0"/>
          </a:p>
          <a:p>
            <a:pPr marL="0" indent="0">
              <a:buNone/>
            </a:pPr>
            <a:r>
              <a:rPr lang="hu-HU" sz="2800" dirty="0" smtClean="0"/>
              <a:t>H</a:t>
            </a:r>
            <a:r>
              <a:rPr lang="hu-HU" sz="2800" baseline="-25000" dirty="0" smtClean="0"/>
              <a:t>3</a:t>
            </a:r>
            <a:r>
              <a:rPr lang="hu-HU" sz="2800" dirty="0" smtClean="0"/>
              <a:t> = </a:t>
            </a:r>
            <a:r>
              <a:rPr lang="hu-HU" sz="2800" dirty="0">
                <a:ea typeface="Cambria Math" panose="02040503050406030204" pitchFamily="18" charset="0"/>
              </a:rPr>
              <a:t>{1,3,5,6,7,8</a:t>
            </a:r>
            <a:r>
              <a:rPr lang="hu-HU" sz="2800" dirty="0" smtClean="0">
                <a:ea typeface="Cambria Math" panose="02040503050406030204" pitchFamily="18" charset="0"/>
              </a:rPr>
              <a:t>} ∪ {2,9} = {1,2,3,5,6,7,8,9} </a:t>
            </a:r>
            <a:endParaRPr lang="hu-HU" sz="2800" dirty="0"/>
          </a:p>
          <a:p>
            <a:pPr marL="0" indent="0">
              <a:buNone/>
            </a:pPr>
            <a:r>
              <a:rPr lang="hu-HU" sz="2800" dirty="0" smtClean="0"/>
              <a:t>H</a:t>
            </a:r>
            <a:r>
              <a:rPr lang="hu-HU" sz="2800" baseline="-25000" dirty="0" smtClean="0"/>
              <a:t>4 </a:t>
            </a:r>
            <a:r>
              <a:rPr lang="hu-HU" sz="2800" dirty="0" smtClean="0"/>
              <a:t>= H</a:t>
            </a:r>
            <a:r>
              <a:rPr lang="hu-HU" sz="2800" baseline="-25000" dirty="0" smtClean="0"/>
              <a:t>3</a:t>
            </a:r>
          </a:p>
          <a:p>
            <a:pPr marL="0" indent="0">
              <a:buNone/>
            </a:pPr>
            <a:r>
              <a:rPr lang="hu-HU" sz="2800" dirty="0" smtClean="0"/>
              <a:t>Nem elérhető állapot: 4. (Elhagyható.)</a:t>
            </a:r>
            <a:endParaRPr lang="hu-HU" sz="2800" dirty="0"/>
          </a:p>
        </p:txBody>
      </p:sp>
      <p:graphicFrame>
        <p:nvGraphicFramePr>
          <p:cNvPr id="8" name="Táblázat 7"/>
          <p:cNvGraphicFramePr>
            <a:graphicFrameLocks noGrp="1"/>
          </p:cNvGraphicFramePr>
          <p:nvPr>
            <p:extLst/>
          </p:nvPr>
        </p:nvGraphicFramePr>
        <p:xfrm>
          <a:off x="7563844" y="177872"/>
          <a:ext cx="2900363" cy="2940318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952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3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96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endParaRPr lang="hu-HU" sz="1800" b="1" u="sng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192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→1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976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←2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549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←4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6861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←9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068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Példa VDA minimalizálására</a:t>
            </a:r>
            <a:endParaRPr lang="hu-HU" dirty="0"/>
          </a:p>
        </p:txBody>
      </p:sp>
      <p:sp>
        <p:nvSpPr>
          <p:cNvPr id="6" name="Tartalom helye 5"/>
          <p:cNvSpPr>
            <a:spLocks noGrp="1"/>
          </p:cNvSpPr>
          <p:nvPr>
            <p:ph idx="1"/>
          </p:nvPr>
        </p:nvSpPr>
        <p:spPr>
          <a:xfrm>
            <a:off x="587687" y="1443412"/>
            <a:ext cx="8596668" cy="11294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800" dirty="0" err="1" smtClean="0"/>
              <a:t>Partíciónálás</a:t>
            </a:r>
            <a:r>
              <a:rPr lang="hu-HU" sz="2800" dirty="0" smtClean="0"/>
              <a:t>:</a:t>
            </a:r>
          </a:p>
          <a:p>
            <a:pPr marL="0" indent="0">
              <a:buNone/>
            </a:pPr>
            <a:r>
              <a:rPr lang="hu-HU" sz="2800" dirty="0" smtClean="0"/>
              <a:t>A = {1,3,5,6,7,8}, B={2,9}</a:t>
            </a:r>
          </a:p>
          <a:p>
            <a:pPr marL="0" indent="0">
              <a:buNone/>
            </a:pPr>
            <a:endParaRPr lang="hu-HU" sz="2800" dirty="0"/>
          </a:p>
          <a:p>
            <a:pPr marL="0" indent="0">
              <a:buNone/>
            </a:pPr>
            <a:endParaRPr lang="hu-HU" sz="2800" dirty="0" smtClean="0"/>
          </a:p>
          <a:p>
            <a:pPr marL="0" indent="0">
              <a:buNone/>
            </a:pPr>
            <a:endParaRPr lang="hu-HU" sz="2800" dirty="0"/>
          </a:p>
          <a:p>
            <a:pPr marL="0" indent="0">
              <a:buNone/>
            </a:pPr>
            <a:endParaRPr lang="hu-HU" sz="2800" dirty="0" smtClean="0"/>
          </a:p>
          <a:p>
            <a:pPr marL="0" indent="0">
              <a:buNone/>
            </a:pPr>
            <a:endParaRPr lang="hu-HU" sz="2800" dirty="0"/>
          </a:p>
          <a:p>
            <a:pPr marL="0" indent="0">
              <a:buNone/>
            </a:pPr>
            <a:endParaRPr lang="hu-HU" sz="2800" dirty="0" smtClean="0"/>
          </a:p>
          <a:p>
            <a:pPr marL="0" indent="0">
              <a:buNone/>
            </a:pPr>
            <a:endParaRPr lang="hu-HU" sz="2800" dirty="0" smtClean="0"/>
          </a:p>
        </p:txBody>
      </p:sp>
      <p:graphicFrame>
        <p:nvGraphicFramePr>
          <p:cNvPr id="8" name="Táblázat 7"/>
          <p:cNvGraphicFramePr>
            <a:graphicFrameLocks noGrp="1"/>
          </p:cNvGraphicFramePr>
          <p:nvPr>
            <p:extLst/>
          </p:nvPr>
        </p:nvGraphicFramePr>
        <p:xfrm>
          <a:off x="7563844" y="177872"/>
          <a:ext cx="2900363" cy="2940318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952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3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96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endParaRPr lang="hu-HU" sz="1800" b="1" u="sng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192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→1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976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←2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549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←4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6861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←9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" name="Táblázat 3"/>
          <p:cNvGraphicFramePr>
            <a:graphicFrameLocks noGrp="1"/>
          </p:cNvGraphicFramePr>
          <p:nvPr>
            <p:extLst/>
          </p:nvPr>
        </p:nvGraphicFramePr>
        <p:xfrm>
          <a:off x="498040" y="2764212"/>
          <a:ext cx="312370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234">
                  <a:extLst>
                    <a:ext uri="{9D8B030D-6E8A-4147-A177-3AD203B41FA5}">
                      <a16:colId xmlns:a16="http://schemas.microsoft.com/office/drawing/2014/main" val="2589466149"/>
                    </a:ext>
                  </a:extLst>
                </a:gridCol>
                <a:gridCol w="1041234">
                  <a:extLst>
                    <a:ext uri="{9D8B030D-6E8A-4147-A177-3AD203B41FA5}">
                      <a16:colId xmlns:a16="http://schemas.microsoft.com/office/drawing/2014/main" val="2624576051"/>
                    </a:ext>
                  </a:extLst>
                </a:gridCol>
                <a:gridCol w="1041234">
                  <a:extLst>
                    <a:ext uri="{9D8B030D-6E8A-4147-A177-3AD203B41FA5}">
                      <a16:colId xmlns:a16="http://schemas.microsoft.com/office/drawing/2014/main" val="1609306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408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88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3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814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023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7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08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242168"/>
                  </a:ext>
                </a:extLst>
              </a:tr>
            </a:tbl>
          </a:graphicData>
        </a:graphic>
      </p:graphicFrame>
      <p:graphicFrame>
        <p:nvGraphicFramePr>
          <p:cNvPr id="9" name="Táblázat 8"/>
          <p:cNvGraphicFramePr>
            <a:graphicFrameLocks noGrp="1"/>
          </p:cNvGraphicFramePr>
          <p:nvPr>
            <p:extLst/>
          </p:nvPr>
        </p:nvGraphicFramePr>
        <p:xfrm>
          <a:off x="4155640" y="2764212"/>
          <a:ext cx="312370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234">
                  <a:extLst>
                    <a:ext uri="{9D8B030D-6E8A-4147-A177-3AD203B41FA5}">
                      <a16:colId xmlns:a16="http://schemas.microsoft.com/office/drawing/2014/main" val="2589466149"/>
                    </a:ext>
                  </a:extLst>
                </a:gridCol>
                <a:gridCol w="1041234">
                  <a:extLst>
                    <a:ext uri="{9D8B030D-6E8A-4147-A177-3AD203B41FA5}">
                      <a16:colId xmlns:a16="http://schemas.microsoft.com/office/drawing/2014/main" val="2624576051"/>
                    </a:ext>
                  </a:extLst>
                </a:gridCol>
                <a:gridCol w="1041234">
                  <a:extLst>
                    <a:ext uri="{9D8B030D-6E8A-4147-A177-3AD203B41FA5}">
                      <a16:colId xmlns:a16="http://schemas.microsoft.com/office/drawing/2014/main" val="1609306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408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88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30202"/>
                  </a:ext>
                </a:extLst>
              </a:tr>
            </a:tbl>
          </a:graphicData>
        </a:graphic>
      </p:graphicFrame>
      <p:sp>
        <p:nvSpPr>
          <p:cNvPr id="7" name="Szövegdoboz 6"/>
          <p:cNvSpPr txBox="1"/>
          <p:nvPr/>
        </p:nvSpPr>
        <p:spPr>
          <a:xfrm>
            <a:off x="677334" y="5710518"/>
            <a:ext cx="4835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C={1,3,6,7}, D={5,8}</a:t>
            </a:r>
            <a:endParaRPr lang="hu-HU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03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Példa VDA minimalizálására</a:t>
            </a:r>
            <a:endParaRPr lang="hu-HU" dirty="0"/>
          </a:p>
        </p:txBody>
      </p:sp>
      <p:sp>
        <p:nvSpPr>
          <p:cNvPr id="6" name="Tartalom helye 5"/>
          <p:cNvSpPr>
            <a:spLocks noGrp="1"/>
          </p:cNvSpPr>
          <p:nvPr>
            <p:ph idx="1"/>
          </p:nvPr>
        </p:nvSpPr>
        <p:spPr>
          <a:xfrm>
            <a:off x="587687" y="1443412"/>
            <a:ext cx="8596668" cy="11294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800" dirty="0" err="1" smtClean="0"/>
              <a:t>Partíciónálás</a:t>
            </a:r>
            <a:r>
              <a:rPr lang="hu-HU" sz="2800" dirty="0" smtClean="0"/>
              <a:t>:</a:t>
            </a:r>
          </a:p>
          <a:p>
            <a:pPr marL="0" indent="0">
              <a:buNone/>
            </a:pPr>
            <a:r>
              <a:rPr lang="hu-HU" sz="2800" dirty="0" smtClean="0"/>
              <a:t>B={2,9}, </a:t>
            </a: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C={1,3,6,7}, D={5,8}</a:t>
            </a:r>
          </a:p>
          <a:p>
            <a:pPr marL="0" indent="0">
              <a:buNone/>
            </a:pPr>
            <a:endParaRPr lang="hu-HU" sz="2800" dirty="0" smtClean="0"/>
          </a:p>
          <a:p>
            <a:pPr marL="0" indent="0">
              <a:buNone/>
            </a:pPr>
            <a:endParaRPr lang="hu-HU" sz="2800" dirty="0"/>
          </a:p>
          <a:p>
            <a:pPr marL="0" indent="0">
              <a:buNone/>
            </a:pPr>
            <a:endParaRPr lang="hu-HU" sz="2800" dirty="0" smtClean="0"/>
          </a:p>
          <a:p>
            <a:pPr marL="0" indent="0">
              <a:buNone/>
            </a:pPr>
            <a:endParaRPr lang="hu-HU" sz="2800" dirty="0" smtClean="0"/>
          </a:p>
          <a:p>
            <a:pPr marL="0" indent="0">
              <a:buNone/>
            </a:pPr>
            <a:endParaRPr lang="hu-HU" sz="2800" dirty="0" smtClean="0"/>
          </a:p>
          <a:p>
            <a:pPr marL="0" indent="0">
              <a:buNone/>
            </a:pPr>
            <a:endParaRPr lang="hu-HU" sz="2800" dirty="0"/>
          </a:p>
          <a:p>
            <a:pPr marL="0" indent="0">
              <a:buNone/>
            </a:pPr>
            <a:endParaRPr lang="hu-HU" sz="2800" dirty="0" smtClean="0"/>
          </a:p>
          <a:p>
            <a:pPr marL="0" indent="0">
              <a:buNone/>
            </a:pPr>
            <a:endParaRPr lang="hu-HU" sz="2800" dirty="0" smtClean="0"/>
          </a:p>
        </p:txBody>
      </p:sp>
      <p:graphicFrame>
        <p:nvGraphicFramePr>
          <p:cNvPr id="8" name="Táblázat 7"/>
          <p:cNvGraphicFramePr>
            <a:graphicFrameLocks noGrp="1"/>
          </p:cNvGraphicFramePr>
          <p:nvPr>
            <p:extLst/>
          </p:nvPr>
        </p:nvGraphicFramePr>
        <p:xfrm>
          <a:off x="7563844" y="177872"/>
          <a:ext cx="2900363" cy="2940318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952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3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96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endParaRPr lang="hu-HU" sz="1800" b="1" u="sng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192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→1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976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←2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549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←4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6861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←9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" name="Táblázat 3"/>
          <p:cNvGraphicFramePr>
            <a:graphicFrameLocks noGrp="1"/>
          </p:cNvGraphicFramePr>
          <p:nvPr>
            <p:extLst/>
          </p:nvPr>
        </p:nvGraphicFramePr>
        <p:xfrm>
          <a:off x="498040" y="2764212"/>
          <a:ext cx="31237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234">
                  <a:extLst>
                    <a:ext uri="{9D8B030D-6E8A-4147-A177-3AD203B41FA5}">
                      <a16:colId xmlns:a16="http://schemas.microsoft.com/office/drawing/2014/main" val="2589466149"/>
                    </a:ext>
                  </a:extLst>
                </a:gridCol>
                <a:gridCol w="1041234">
                  <a:extLst>
                    <a:ext uri="{9D8B030D-6E8A-4147-A177-3AD203B41FA5}">
                      <a16:colId xmlns:a16="http://schemas.microsoft.com/office/drawing/2014/main" val="2624576051"/>
                    </a:ext>
                  </a:extLst>
                </a:gridCol>
                <a:gridCol w="1041234">
                  <a:extLst>
                    <a:ext uri="{9D8B030D-6E8A-4147-A177-3AD203B41FA5}">
                      <a16:colId xmlns:a16="http://schemas.microsoft.com/office/drawing/2014/main" val="1609306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408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88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3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023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7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08349"/>
                  </a:ext>
                </a:extLst>
              </a:tr>
            </a:tbl>
          </a:graphicData>
        </a:graphic>
      </p:graphicFrame>
      <p:graphicFrame>
        <p:nvGraphicFramePr>
          <p:cNvPr id="9" name="Táblázat 8"/>
          <p:cNvGraphicFramePr>
            <a:graphicFrameLocks noGrp="1"/>
          </p:cNvGraphicFramePr>
          <p:nvPr>
            <p:extLst/>
          </p:nvPr>
        </p:nvGraphicFramePr>
        <p:xfrm>
          <a:off x="4155640" y="2764212"/>
          <a:ext cx="312370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234">
                  <a:extLst>
                    <a:ext uri="{9D8B030D-6E8A-4147-A177-3AD203B41FA5}">
                      <a16:colId xmlns:a16="http://schemas.microsoft.com/office/drawing/2014/main" val="2589466149"/>
                    </a:ext>
                  </a:extLst>
                </a:gridCol>
                <a:gridCol w="1041234">
                  <a:extLst>
                    <a:ext uri="{9D8B030D-6E8A-4147-A177-3AD203B41FA5}">
                      <a16:colId xmlns:a16="http://schemas.microsoft.com/office/drawing/2014/main" val="2624576051"/>
                    </a:ext>
                  </a:extLst>
                </a:gridCol>
                <a:gridCol w="1041234">
                  <a:extLst>
                    <a:ext uri="{9D8B030D-6E8A-4147-A177-3AD203B41FA5}">
                      <a16:colId xmlns:a16="http://schemas.microsoft.com/office/drawing/2014/main" val="1609306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408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88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30202"/>
                  </a:ext>
                </a:extLst>
              </a:tr>
            </a:tbl>
          </a:graphicData>
        </a:graphic>
      </p:graphicFrame>
      <p:sp>
        <p:nvSpPr>
          <p:cNvPr id="7" name="Szövegdoboz 6"/>
          <p:cNvSpPr txBox="1"/>
          <p:nvPr/>
        </p:nvSpPr>
        <p:spPr>
          <a:xfrm>
            <a:off x="677333" y="5710518"/>
            <a:ext cx="6270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E={1}, F={3}, G={6,7} H={5}, I={8}</a:t>
            </a:r>
            <a:endParaRPr lang="hu-HU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10" name="Táblázat 9"/>
          <p:cNvGraphicFramePr>
            <a:graphicFrameLocks noGrp="1"/>
          </p:cNvGraphicFramePr>
          <p:nvPr>
            <p:extLst/>
          </p:nvPr>
        </p:nvGraphicFramePr>
        <p:xfrm>
          <a:off x="4155640" y="4068073"/>
          <a:ext cx="312370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234">
                  <a:extLst>
                    <a:ext uri="{9D8B030D-6E8A-4147-A177-3AD203B41FA5}">
                      <a16:colId xmlns:a16="http://schemas.microsoft.com/office/drawing/2014/main" val="2589466149"/>
                    </a:ext>
                  </a:extLst>
                </a:gridCol>
                <a:gridCol w="1041234">
                  <a:extLst>
                    <a:ext uri="{9D8B030D-6E8A-4147-A177-3AD203B41FA5}">
                      <a16:colId xmlns:a16="http://schemas.microsoft.com/office/drawing/2014/main" val="2624576051"/>
                    </a:ext>
                  </a:extLst>
                </a:gridCol>
                <a:gridCol w="1041234">
                  <a:extLst>
                    <a:ext uri="{9D8B030D-6E8A-4147-A177-3AD203B41FA5}">
                      <a16:colId xmlns:a16="http://schemas.microsoft.com/office/drawing/2014/main" val="1609306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408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88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30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409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Példa VDA minimalizálására</a:t>
            </a:r>
            <a:endParaRPr lang="hu-HU" dirty="0"/>
          </a:p>
        </p:txBody>
      </p:sp>
      <p:sp>
        <p:nvSpPr>
          <p:cNvPr id="6" name="Tartalom helye 5"/>
          <p:cNvSpPr>
            <a:spLocks noGrp="1"/>
          </p:cNvSpPr>
          <p:nvPr>
            <p:ph idx="1"/>
          </p:nvPr>
        </p:nvSpPr>
        <p:spPr>
          <a:xfrm>
            <a:off x="587687" y="1443412"/>
            <a:ext cx="8596668" cy="11294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800" dirty="0" err="1" smtClean="0"/>
              <a:t>Partíciónálás</a:t>
            </a:r>
            <a:r>
              <a:rPr lang="hu-HU" sz="2800" dirty="0" smtClean="0"/>
              <a:t>:</a:t>
            </a:r>
          </a:p>
          <a:p>
            <a:pPr marL="0" indent="0">
              <a:buNone/>
            </a:pPr>
            <a:r>
              <a:rPr lang="hu-HU" sz="2800" dirty="0" smtClean="0"/>
              <a:t>B={2,9}, </a:t>
            </a: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E={1}, F={3}, G={6,7</a:t>
            </a:r>
            <a:r>
              <a:rPr lang="hu-HU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}, </a:t>
            </a: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H={5}, I={8}</a:t>
            </a:r>
          </a:p>
          <a:p>
            <a:pPr marL="0" indent="0">
              <a:buNone/>
            </a:pPr>
            <a:endParaRPr lang="hu-HU" sz="2800" dirty="0" smtClean="0"/>
          </a:p>
          <a:p>
            <a:pPr marL="0" indent="0">
              <a:buNone/>
            </a:pPr>
            <a:endParaRPr lang="hu-HU" sz="2800" dirty="0"/>
          </a:p>
          <a:p>
            <a:pPr marL="0" indent="0">
              <a:buNone/>
            </a:pPr>
            <a:endParaRPr lang="hu-HU" sz="2800" dirty="0" smtClean="0"/>
          </a:p>
          <a:p>
            <a:pPr marL="0" indent="0">
              <a:buNone/>
            </a:pPr>
            <a:endParaRPr lang="hu-HU" sz="2800" dirty="0" smtClean="0"/>
          </a:p>
          <a:p>
            <a:pPr marL="0" indent="0">
              <a:buNone/>
            </a:pPr>
            <a:endParaRPr lang="hu-HU" sz="2800" dirty="0" smtClean="0"/>
          </a:p>
          <a:p>
            <a:pPr marL="0" indent="0">
              <a:buNone/>
            </a:pPr>
            <a:endParaRPr lang="hu-HU" sz="2800" dirty="0"/>
          </a:p>
          <a:p>
            <a:pPr marL="0" indent="0">
              <a:buNone/>
            </a:pPr>
            <a:endParaRPr lang="hu-HU" sz="2800" dirty="0" smtClean="0"/>
          </a:p>
          <a:p>
            <a:pPr marL="0" indent="0">
              <a:buNone/>
            </a:pPr>
            <a:endParaRPr lang="hu-HU" sz="2800" dirty="0" smtClean="0"/>
          </a:p>
        </p:txBody>
      </p:sp>
      <p:graphicFrame>
        <p:nvGraphicFramePr>
          <p:cNvPr id="8" name="Táblázat 7"/>
          <p:cNvGraphicFramePr>
            <a:graphicFrameLocks noGrp="1"/>
          </p:cNvGraphicFramePr>
          <p:nvPr>
            <p:extLst/>
          </p:nvPr>
        </p:nvGraphicFramePr>
        <p:xfrm>
          <a:off x="7563844" y="177872"/>
          <a:ext cx="2900363" cy="2940318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952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3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96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endParaRPr lang="hu-HU" sz="1800" b="1" u="sng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192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→1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976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←2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549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←4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6861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←9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" name="Táblázat 3"/>
          <p:cNvGraphicFramePr>
            <a:graphicFrameLocks noGrp="1"/>
          </p:cNvGraphicFramePr>
          <p:nvPr>
            <p:extLst/>
          </p:nvPr>
        </p:nvGraphicFramePr>
        <p:xfrm>
          <a:off x="498040" y="2764212"/>
          <a:ext cx="312370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234">
                  <a:extLst>
                    <a:ext uri="{9D8B030D-6E8A-4147-A177-3AD203B41FA5}">
                      <a16:colId xmlns:a16="http://schemas.microsoft.com/office/drawing/2014/main" val="2589466149"/>
                    </a:ext>
                  </a:extLst>
                </a:gridCol>
                <a:gridCol w="1041234">
                  <a:extLst>
                    <a:ext uri="{9D8B030D-6E8A-4147-A177-3AD203B41FA5}">
                      <a16:colId xmlns:a16="http://schemas.microsoft.com/office/drawing/2014/main" val="2624576051"/>
                    </a:ext>
                  </a:extLst>
                </a:gridCol>
                <a:gridCol w="1041234">
                  <a:extLst>
                    <a:ext uri="{9D8B030D-6E8A-4147-A177-3AD203B41FA5}">
                      <a16:colId xmlns:a16="http://schemas.microsoft.com/office/drawing/2014/main" val="1609306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408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G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023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7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08349"/>
                  </a:ext>
                </a:extLst>
              </a:tr>
            </a:tbl>
          </a:graphicData>
        </a:graphic>
      </p:graphicFrame>
      <p:graphicFrame>
        <p:nvGraphicFramePr>
          <p:cNvPr id="9" name="Táblázat 8"/>
          <p:cNvGraphicFramePr>
            <a:graphicFrameLocks noGrp="1"/>
          </p:cNvGraphicFramePr>
          <p:nvPr>
            <p:extLst/>
          </p:nvPr>
        </p:nvGraphicFramePr>
        <p:xfrm>
          <a:off x="4155640" y="2764212"/>
          <a:ext cx="312370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234">
                  <a:extLst>
                    <a:ext uri="{9D8B030D-6E8A-4147-A177-3AD203B41FA5}">
                      <a16:colId xmlns:a16="http://schemas.microsoft.com/office/drawing/2014/main" val="2589466149"/>
                    </a:ext>
                  </a:extLst>
                </a:gridCol>
                <a:gridCol w="1041234">
                  <a:extLst>
                    <a:ext uri="{9D8B030D-6E8A-4147-A177-3AD203B41FA5}">
                      <a16:colId xmlns:a16="http://schemas.microsoft.com/office/drawing/2014/main" val="2624576051"/>
                    </a:ext>
                  </a:extLst>
                </a:gridCol>
                <a:gridCol w="1041234">
                  <a:extLst>
                    <a:ext uri="{9D8B030D-6E8A-4147-A177-3AD203B41FA5}">
                      <a16:colId xmlns:a16="http://schemas.microsoft.com/office/drawing/2014/main" val="1609306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408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88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30202"/>
                  </a:ext>
                </a:extLst>
              </a:tr>
            </a:tbl>
          </a:graphicData>
        </a:graphic>
      </p:graphicFrame>
      <p:sp>
        <p:nvSpPr>
          <p:cNvPr id="7" name="Szövegdoboz 6"/>
          <p:cNvSpPr txBox="1"/>
          <p:nvPr/>
        </p:nvSpPr>
        <p:spPr>
          <a:xfrm>
            <a:off x="587687" y="4445665"/>
            <a:ext cx="6270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J={6}, K={7}</a:t>
            </a:r>
            <a:endParaRPr lang="hu-HU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908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Példa VDA minimalizálására</a:t>
            </a:r>
            <a:endParaRPr lang="hu-HU" dirty="0"/>
          </a:p>
        </p:txBody>
      </p:sp>
      <p:sp>
        <p:nvSpPr>
          <p:cNvPr id="6" name="Tartalom helye 5"/>
          <p:cNvSpPr>
            <a:spLocks noGrp="1"/>
          </p:cNvSpPr>
          <p:nvPr>
            <p:ph idx="1"/>
          </p:nvPr>
        </p:nvSpPr>
        <p:spPr>
          <a:xfrm>
            <a:off x="587687" y="1443412"/>
            <a:ext cx="8596668" cy="16747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800" dirty="0" err="1" smtClean="0"/>
              <a:t>Partíciónálás</a:t>
            </a:r>
            <a:r>
              <a:rPr lang="hu-HU" sz="2800" dirty="0" smtClean="0"/>
              <a:t>:</a:t>
            </a:r>
          </a:p>
          <a:p>
            <a:pPr marL="0" indent="0">
              <a:buNone/>
            </a:pPr>
            <a:r>
              <a:rPr lang="hu-HU" sz="2800" dirty="0" smtClean="0"/>
              <a:t>B={2,9}, </a:t>
            </a: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E={1}, F={3}, </a:t>
            </a:r>
            <a:r>
              <a:rPr lang="hu-HU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H</a:t>
            </a: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={5}, I={8}</a:t>
            </a:r>
          </a:p>
          <a:p>
            <a:pPr marL="0" indent="0">
              <a:buNone/>
            </a:pP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J={6}, K={7}</a:t>
            </a:r>
          </a:p>
          <a:p>
            <a:pPr marL="0" indent="0">
              <a:buNone/>
            </a:pPr>
            <a:endParaRPr lang="hu-HU" sz="2800" dirty="0" smtClean="0"/>
          </a:p>
          <a:p>
            <a:pPr marL="0" indent="0">
              <a:buNone/>
            </a:pPr>
            <a:endParaRPr lang="hu-HU" sz="2800" dirty="0"/>
          </a:p>
          <a:p>
            <a:pPr marL="0" indent="0">
              <a:buNone/>
            </a:pPr>
            <a:endParaRPr lang="hu-HU" sz="2800" dirty="0" smtClean="0"/>
          </a:p>
          <a:p>
            <a:pPr marL="0" indent="0">
              <a:buNone/>
            </a:pPr>
            <a:endParaRPr lang="hu-HU" sz="2800" dirty="0" smtClean="0"/>
          </a:p>
          <a:p>
            <a:pPr marL="0" indent="0">
              <a:buNone/>
            </a:pPr>
            <a:endParaRPr lang="hu-HU" sz="2800" dirty="0" smtClean="0"/>
          </a:p>
          <a:p>
            <a:pPr marL="0" indent="0">
              <a:buNone/>
            </a:pPr>
            <a:endParaRPr lang="hu-HU" sz="2800" dirty="0"/>
          </a:p>
          <a:p>
            <a:pPr marL="0" indent="0">
              <a:buNone/>
            </a:pPr>
            <a:endParaRPr lang="hu-HU" sz="2800" dirty="0" smtClean="0"/>
          </a:p>
          <a:p>
            <a:pPr marL="0" indent="0">
              <a:buNone/>
            </a:pPr>
            <a:endParaRPr lang="hu-HU" sz="2800" dirty="0" smtClean="0"/>
          </a:p>
        </p:txBody>
      </p:sp>
      <p:graphicFrame>
        <p:nvGraphicFramePr>
          <p:cNvPr id="8" name="Táblázat 7"/>
          <p:cNvGraphicFramePr>
            <a:graphicFrameLocks noGrp="1"/>
          </p:cNvGraphicFramePr>
          <p:nvPr>
            <p:extLst/>
          </p:nvPr>
        </p:nvGraphicFramePr>
        <p:xfrm>
          <a:off x="7563844" y="177872"/>
          <a:ext cx="2900363" cy="2940318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952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3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96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endParaRPr lang="hu-HU" sz="1800" b="1" u="sng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192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→1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976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←2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549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←4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958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6861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←9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hu-HU" sz="18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18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9" name="Táblázat 8"/>
          <p:cNvGraphicFramePr>
            <a:graphicFrameLocks noGrp="1"/>
          </p:cNvGraphicFramePr>
          <p:nvPr>
            <p:extLst/>
          </p:nvPr>
        </p:nvGraphicFramePr>
        <p:xfrm>
          <a:off x="599141" y="3211076"/>
          <a:ext cx="312370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234">
                  <a:extLst>
                    <a:ext uri="{9D8B030D-6E8A-4147-A177-3AD203B41FA5}">
                      <a16:colId xmlns:a16="http://schemas.microsoft.com/office/drawing/2014/main" val="2589466149"/>
                    </a:ext>
                  </a:extLst>
                </a:gridCol>
                <a:gridCol w="1041234">
                  <a:extLst>
                    <a:ext uri="{9D8B030D-6E8A-4147-A177-3AD203B41FA5}">
                      <a16:colId xmlns:a16="http://schemas.microsoft.com/office/drawing/2014/main" val="2624576051"/>
                    </a:ext>
                  </a:extLst>
                </a:gridCol>
                <a:gridCol w="1041234">
                  <a:extLst>
                    <a:ext uri="{9D8B030D-6E8A-4147-A177-3AD203B41FA5}">
                      <a16:colId xmlns:a16="http://schemas.microsoft.com/office/drawing/2014/main" val="1609306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408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88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</a:t>
                      </a:r>
                      <a:endParaRPr lang="hu-H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30202"/>
                  </a:ext>
                </a:extLst>
              </a:tr>
            </a:tbl>
          </a:graphicData>
        </a:graphic>
      </p:graphicFrame>
      <p:sp>
        <p:nvSpPr>
          <p:cNvPr id="7" name="Szövegdoboz 6"/>
          <p:cNvSpPr txBox="1"/>
          <p:nvPr/>
        </p:nvSpPr>
        <p:spPr>
          <a:xfrm>
            <a:off x="587687" y="4445665"/>
            <a:ext cx="62703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Nincs változás.</a:t>
            </a:r>
          </a:p>
          <a:p>
            <a:r>
              <a:rPr lang="hu-HU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 2,9 állapotok összevonhatók.</a:t>
            </a:r>
            <a:endParaRPr lang="hu-HU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432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Példa VDA minimalizálására</a:t>
            </a:r>
            <a:endParaRPr lang="hu-HU" dirty="0"/>
          </a:p>
        </p:txBody>
      </p:sp>
      <p:sp>
        <p:nvSpPr>
          <p:cNvPr id="6" name="Tartalom helye 5"/>
          <p:cNvSpPr>
            <a:spLocks noGrp="1"/>
          </p:cNvSpPr>
          <p:nvPr>
            <p:ph idx="1"/>
          </p:nvPr>
        </p:nvSpPr>
        <p:spPr>
          <a:xfrm>
            <a:off x="587687" y="1443412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hu-HU" sz="2800" dirty="0" smtClean="0"/>
              <a:t>A’ </a:t>
            </a:r>
            <a:r>
              <a:rPr lang="hu-HU" sz="2800" dirty="0"/>
              <a:t>=&lt;{</a:t>
            </a:r>
            <a:r>
              <a:rPr lang="hu-HU" sz="2800" dirty="0" smtClean="0"/>
              <a:t>1,29,3,5,6,7,8}, </a:t>
            </a:r>
            <a:r>
              <a:rPr lang="hu-HU" sz="2800" dirty="0"/>
              <a:t>{a,b} , </a:t>
            </a:r>
            <a:r>
              <a:rPr lang="hu-HU" sz="2800" dirty="0" smtClean="0"/>
              <a:t>δ’, </a:t>
            </a:r>
            <a:r>
              <a:rPr lang="hu-HU" sz="2800" dirty="0"/>
              <a:t>1 , </a:t>
            </a:r>
            <a:r>
              <a:rPr lang="hu-HU" sz="2800" dirty="0" smtClean="0"/>
              <a:t>{29} </a:t>
            </a:r>
            <a:r>
              <a:rPr lang="hu-HU" sz="2800" dirty="0"/>
              <a:t>&gt; </a:t>
            </a:r>
            <a:r>
              <a:rPr lang="hu-HU" sz="2800" dirty="0" smtClean="0"/>
              <a:t> </a:t>
            </a:r>
            <a:br>
              <a:rPr lang="hu-HU" sz="2800" dirty="0" smtClean="0"/>
            </a:br>
            <a:r>
              <a:rPr lang="hu-HU" sz="2800" dirty="0" smtClean="0"/>
              <a:t>a minimális automata.</a:t>
            </a:r>
            <a:endParaRPr lang="hu-HU" sz="2800" b="1" u="sng" dirty="0"/>
          </a:p>
          <a:p>
            <a:pPr marL="0" indent="0">
              <a:buNone/>
            </a:pPr>
            <a:endParaRPr lang="hu-HU" dirty="0"/>
          </a:p>
        </p:txBody>
      </p:sp>
      <p:graphicFrame>
        <p:nvGraphicFramePr>
          <p:cNvPr id="8" name="Táblázat 7"/>
          <p:cNvGraphicFramePr>
            <a:graphicFrameLocks noGrp="1"/>
          </p:cNvGraphicFramePr>
          <p:nvPr>
            <p:extLst/>
          </p:nvPr>
        </p:nvGraphicFramePr>
        <p:xfrm>
          <a:off x="2267788" y="2602387"/>
          <a:ext cx="2900363" cy="292608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952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3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558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1800" b="0" u="none" strike="noStrike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δ'</a:t>
                      </a:r>
                      <a:endParaRPr lang="hu-HU" sz="1800" b="1" u="sng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656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→1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24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843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hu-HU" sz="2400" b="0" u="none" strike="noStrike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287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287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287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hu-HU" sz="24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287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hu-HU" sz="2400" b="1" u="sng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287"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hu-HU" sz="2400" b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2400" b="1" u="sng" dirty="0">
                        <a:effectLst/>
                        <a:latin typeface="Helv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6017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/>
          <p:cNvSpPr>
            <a:spLocks noGrp="1"/>
          </p:cNvSpPr>
          <p:nvPr>
            <p:ph type="title"/>
          </p:nvPr>
        </p:nvSpPr>
        <p:spPr>
          <a:xfrm>
            <a:off x="677335" y="1812592"/>
            <a:ext cx="8596668" cy="1826581"/>
          </a:xfrm>
        </p:spPr>
        <p:txBody>
          <a:bodyPr/>
          <a:lstStyle/>
          <a:p>
            <a:pPr algn="ctr"/>
            <a:r>
              <a:rPr lang="hu-HU" b="1" i="1" dirty="0" smtClean="0">
                <a:solidFill>
                  <a:schemeClr val="accent2">
                    <a:lumMod val="75000"/>
                  </a:schemeClr>
                </a:solidFill>
              </a:rPr>
              <a:t>Köszönöm a figyelmet!</a:t>
            </a:r>
            <a:endParaRPr lang="hu-HU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505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zet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1080</TotalTime>
  <Words>4251</Words>
  <Application>Microsoft Office PowerPoint</Application>
  <PresentationFormat>Szélesvásznú</PresentationFormat>
  <Paragraphs>771</Paragraphs>
  <Slides>55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11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55</vt:i4>
      </vt:variant>
    </vt:vector>
  </HeadingPairs>
  <TitlesOfParts>
    <vt:vector size="67" baseType="lpstr">
      <vt:lpstr>Arial</vt:lpstr>
      <vt:lpstr>Brush Script MT</vt:lpstr>
      <vt:lpstr>Cambria Math</vt:lpstr>
      <vt:lpstr>Constantia</vt:lpstr>
      <vt:lpstr>Helv</vt:lpstr>
      <vt:lpstr>Mistral</vt:lpstr>
      <vt:lpstr>Symbol</vt:lpstr>
      <vt:lpstr>Times New Roman</vt:lpstr>
      <vt:lpstr>Trebuchet MS</vt:lpstr>
      <vt:lpstr>Wingdings</vt:lpstr>
      <vt:lpstr>Wingdings 3</vt:lpstr>
      <vt:lpstr>Fazetta</vt:lpstr>
      <vt:lpstr>Formális nyelvek és  a fordítóprogramok alapjai</vt:lpstr>
      <vt:lpstr>Véges determinisztikus automata (VDA)</vt:lpstr>
      <vt:lpstr>Véges determinisztikus automata (VDA)</vt:lpstr>
      <vt:lpstr>Alternatív jelölés az állapot-átmenetre</vt:lpstr>
      <vt:lpstr>Közvetlen redukció</vt:lpstr>
      <vt:lpstr>Redukció</vt:lpstr>
      <vt:lpstr>Automata által elfogadott nyelv</vt:lpstr>
      <vt:lpstr>Véges nemdeterminisztikus automata (VNDA)</vt:lpstr>
      <vt:lpstr>Példa</vt:lpstr>
      <vt:lpstr>Példa – nemdeterminisztikus automata megadása táblázattal és gráffal</vt:lpstr>
      <vt:lpstr>Közvetlen redukció</vt:lpstr>
      <vt:lpstr>Redukció</vt:lpstr>
      <vt:lpstr>Automata által elfogadott nyelv</vt:lpstr>
      <vt:lpstr>Példa</vt:lpstr>
      <vt:lpstr>Emlékeztető:  3-típusú grammatikák normálformája </vt:lpstr>
      <vt:lpstr>3-as típusú nyelvek kapcsolata a véges automatákkal</vt:lpstr>
      <vt:lpstr>3-as típusú nyelvek kapcsolata a véges automatákkal</vt:lpstr>
      <vt:lpstr>3-as típusú nyelvek kapcsolata a véges automatákkal</vt:lpstr>
      <vt:lpstr>3-as típusú nyelvek kapcsolata a véges automatákkal</vt:lpstr>
      <vt:lpstr>3-as típusú nyelvek kapcsolata a véges automatákkal</vt:lpstr>
      <vt:lpstr>3-as típusú nyelvek kapcsolata a véges automatákkal</vt:lpstr>
      <vt:lpstr>Példa</vt:lpstr>
      <vt:lpstr>Nemdeterminisztikus automaták determinisztikussá tétele</vt:lpstr>
      <vt:lpstr>3-as típusú nyelvek és automaták kapcsolata</vt:lpstr>
      <vt:lpstr>Példa</vt:lpstr>
      <vt:lpstr>Determinisztikus automata megkonstruálása:</vt:lpstr>
      <vt:lpstr>Konstrukció helyességének bizonyítása ( L(A)L(A’) )</vt:lpstr>
      <vt:lpstr>Konstrukció helyességének bizonyítása ( L(A’)L(A) )</vt:lpstr>
      <vt:lpstr>Példa:  L:={u ∈ {a,b}* | az u szó ’a’ betűvel kezdődik és ’b’ betűre végződik}</vt:lpstr>
      <vt:lpstr>Példa: L:={u ∈ {a,b}* | az u szó ’a’ betűvel kezdődik és ’b’ betűre végződik}</vt:lpstr>
      <vt:lpstr>Kleene tétele </vt:lpstr>
      <vt:lpstr>Kleene tétele: L3 = Lreg </vt:lpstr>
      <vt:lpstr>Kleene tétele: L3 = Lreg </vt:lpstr>
      <vt:lpstr>Kleene tétele bizonyítás folytatása:  LVDA  Lreg</vt:lpstr>
      <vt:lpstr>Kleene tétele bizonyítás folytatása:  LVDA  Lreg</vt:lpstr>
      <vt:lpstr>Kleene tétele bizonyítás folytatása:  LVDA  Lreg</vt:lpstr>
      <vt:lpstr>Példa: L={a}{a,b}*{b}    /reguláris kifejezéssel: a(a|b)*b /</vt:lpstr>
      <vt:lpstr>Példa: L={a}{a,b}*{b}</vt:lpstr>
      <vt:lpstr>Minimális véges determinisztikus automata </vt:lpstr>
      <vt:lpstr>Minimális véges determinisztikus automata </vt:lpstr>
      <vt:lpstr>Összefüggő véges determinisztikus automata </vt:lpstr>
      <vt:lpstr>Összefüggő véges determinisztikus automata </vt:lpstr>
      <vt:lpstr>Ekvivalens állapotok meghatározása</vt:lpstr>
      <vt:lpstr>Ekvivalens állapotok meghatározása</vt:lpstr>
      <vt:lpstr>Ekvivalens állapotok meghatározása</vt:lpstr>
      <vt:lpstr>Ekvivalens állapotok meghatározása</vt:lpstr>
      <vt:lpstr>Minimális automata megadása</vt:lpstr>
      <vt:lpstr>Példa VDA minimalizálására</vt:lpstr>
      <vt:lpstr>Példa VDA minimalizálására</vt:lpstr>
      <vt:lpstr>Példa VDA minimalizálására</vt:lpstr>
      <vt:lpstr>Példa VDA minimalizálására</vt:lpstr>
      <vt:lpstr>Példa VDA minimalizálására</vt:lpstr>
      <vt:lpstr>Példa VDA minimalizálására</vt:lpstr>
      <vt:lpstr>Példa VDA minimalizálására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Formális nyelvek és automaták</dc:title>
  <dc:creator>User</dc:creator>
  <cp:lastModifiedBy>Nagy Sára</cp:lastModifiedBy>
  <cp:revision>126</cp:revision>
  <dcterms:created xsi:type="dcterms:W3CDTF">2017-09-14T03:51:53Z</dcterms:created>
  <dcterms:modified xsi:type="dcterms:W3CDTF">2024-03-07T05:58:42Z</dcterms:modified>
</cp:coreProperties>
</file>